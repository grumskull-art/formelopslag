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3"/>
    <p:sldMasterId id="2147483800" r:id="rId4"/>
  </p:sldMasterIdLst>
  <p:notesMasterIdLst>
    <p:notesMasterId r:id="rId16"/>
  </p:notesMasterIdLst>
  <p:sldIdLst>
    <p:sldId id="282" r:id="rId5"/>
    <p:sldId id="283" r:id="rId6"/>
    <p:sldId id="257" r:id="rId7"/>
    <p:sldId id="258" r:id="rId8"/>
    <p:sldId id="277" r:id="rId9"/>
    <p:sldId id="279" r:id="rId10"/>
    <p:sldId id="276" r:id="rId11"/>
    <p:sldId id="281" r:id="rId12"/>
    <p:sldId id="280" r:id="rId13"/>
    <p:sldId id="278" r:id="rId14"/>
    <p:sldId id="275" r:id="rId15"/>
  </p:sldIdLst>
  <p:sldSz cx="12192000" cy="6858000"/>
  <p:notesSz cx="9874250" cy="6724650"/>
  <p:embeddedFontLst>
    <p:embeddedFont>
      <p:font typeface="Cambria Math" panose="02040503050406030204" pitchFamily="18" charset="0"/>
      <p:regular r:id="rId17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9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84" autoAdjust="0"/>
  </p:normalViewPr>
  <p:slideViewPr>
    <p:cSldViewPr snapToGrid="0">
      <p:cViewPr varScale="1">
        <p:scale>
          <a:sx n="150" d="100"/>
          <a:sy n="150" d="100"/>
        </p:scale>
        <p:origin x="318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19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ran Agerholm" userId="dd55e2d3-906e-4a4a-90ea-dda6205f875e" providerId="ADAL" clId="{5EFFF862-C165-4C4A-8B20-E280CAF10480}"/>
    <pc:docChg chg="addSld delSld modSld sldOrd">
      <pc:chgData name="Simon Tran Agerholm" userId="dd55e2d3-906e-4a4a-90ea-dda6205f875e" providerId="ADAL" clId="{5EFFF862-C165-4C4A-8B20-E280CAF10480}" dt="2026-09-21T10:24:49.195" v="50" actId="1076"/>
      <pc:docMkLst>
        <pc:docMk/>
      </pc:docMkLst>
      <pc:sldChg chg="modSp mod">
        <pc:chgData name="Simon Tran Agerholm" userId="dd55e2d3-906e-4a4a-90ea-dda6205f875e" providerId="ADAL" clId="{5EFFF862-C165-4C4A-8B20-E280CAF10480}" dt="2026-09-21T10:24:49.195" v="50" actId="1076"/>
        <pc:sldMkLst>
          <pc:docMk/>
          <pc:sldMk cId="1106580628" sldId="280"/>
        </pc:sldMkLst>
        <pc:picChg chg="mod">
          <ac:chgData name="Simon Tran Agerholm" userId="dd55e2d3-906e-4a4a-90ea-dda6205f875e" providerId="ADAL" clId="{5EFFF862-C165-4C4A-8B20-E280CAF10480}" dt="2026-09-21T10:24:49.195" v="50" actId="1076"/>
          <ac:picMkLst>
            <pc:docMk/>
            <pc:sldMk cId="1106580628" sldId="280"/>
            <ac:picMk id="8" creationId="{183278C9-0F39-ADA5-35FD-2A911427C1B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2E7CFC-B152-4AC0-9AA1-812584C87EF6}" type="datetimeFigureOut">
              <a:rPr lang="da-DK" smtClean="0"/>
              <a:t>21-09-2026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921000" y="841375"/>
            <a:ext cx="4032250" cy="2268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87425" y="3236913"/>
            <a:ext cx="7899400" cy="26479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38810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5592763" y="638810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732B0-97A6-47BA-94C9-B2CAF546C1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9051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732B0-97A6-47BA-94C9-B2CAF546C195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2125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732B0-97A6-47BA-94C9-B2CAF546C195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53254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12192000" cy="5145207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0" y="5145206"/>
            <a:ext cx="12192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10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089" y="5739932"/>
            <a:ext cx="189221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336062" y="5499100"/>
            <a:ext cx="8862646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335486" y="6129338"/>
            <a:ext cx="6979138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5202" y="2828921"/>
            <a:ext cx="115216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335204" y="1388729"/>
            <a:ext cx="11522364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334433" y="3789051"/>
            <a:ext cx="11523134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0736446A-A537-4CFA-A519-70D27EE6DBD8}" type="datetime1">
              <a:rPr lang="da-DK" smtClean="0"/>
              <a:t>21-09-2026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841" y="258166"/>
            <a:ext cx="189221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0" y="6312002"/>
            <a:ext cx="142464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9A3ACFE3-3C2E-4B90-A998-4ED67E408A5E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2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0BF9617-95FB-459B-9BF2-F8D8EDB02936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451F8D8-C316-47C4-8C0F-2C40DD108B23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95770D9-C4A7-45BF-8457-29EDB1A32E7E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441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B0BC0-825D-4C95-930D-301F97F6D096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4034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4AA3C-1D61-4EB6-8038-DD6FB0E9860D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3486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C1891-1673-4D4B-A549-6F29B4B1689D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5546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F2943-E2C4-4A2D-A5E8-F918C11BB6E7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37275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43E76-EE48-45E1-B635-AE0132265F73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72177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8B6D6-3A75-494E-88F2-E4A10CFB275D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0560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BA27F-6025-4E00-8B39-989C940FF2BC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6005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A4F7-9ED4-4660-B22F-29BD66A9A523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75667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31B3C-3C6F-475B-9957-C59199564C7C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08271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37DA9-07E3-40BD-B53C-8F459C46E54B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25265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74C8-F34A-4138-BA74-6B23728196EB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1559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5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575266" y="275167"/>
            <a:ext cx="11041472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456467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0E0DE43-BFF1-4469-BA15-599AE5F8822A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8616339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575266" y="1600203"/>
            <a:ext cx="11041472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0709E-2D0A-49AC-964F-A638CD1D2DF9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88186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youtube.com/watch?v=jiAhiu6UqXQ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watch?v=qJbkUwwEcUA&amp;t=125s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youtube.com/watch?v=otu-KV3iH_I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27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BAE018FC-59E8-DAC3-6A8D-5EF38AF5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D1D8D0F-3127-8A7D-27F6-5A42DD82F8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a-DK"/>
              <a:t>5.9 + 5.10 + 5.11 + 5.12 + 5.13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13438C6-6106-175B-83D0-B0A6B4BC3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 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E056B04-1DFB-DA56-2C9B-775C3FCEA3C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451F8D8-C316-47C4-8C0F-2C40DD108B23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B15F2D2-F8FC-31E5-A7FA-9435853A5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/>
              <a:t>Simon Tran Agerholm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44169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1610710" y="1451929"/>
            <a:ext cx="8970890" cy="4737441"/>
          </a:xfrm>
        </p:spPr>
        <p:txBody>
          <a:bodyPr/>
          <a:lstStyle/>
          <a:p>
            <a:r>
              <a:rPr lang="da-DK" kern="15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Når en spole udsættes for varierende magnetfelt, vil der i  hver vinding induceres en elektromotorisk kraft. Kraften har en retning, så den vil prøve at modvirke det stigende magnetfelt.</a:t>
            </a:r>
          </a:p>
          <a:p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a-DK" kern="15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Magneten nærmes spole =&gt;</a:t>
            </a:r>
            <a:br>
              <a:rPr lang="da-DK" kern="15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kern="15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der induceres en modelektromotorisk kraft.</a:t>
            </a:r>
          </a:p>
          <a:p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a-DK" kern="15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Magneten fjernes =&gt;</a:t>
            </a:r>
            <a:br>
              <a:rPr lang="da-DK" kern="15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kern="15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Den inducerede spænding prøve at</a:t>
            </a:r>
            <a:br>
              <a:rPr lang="da-DK" kern="15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kern="15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opretholde magnetfeltet.</a:t>
            </a:r>
          </a:p>
          <a:p>
            <a:endParaRPr lang="da-DK" b="0" i="1" kern="150" dirty="0">
              <a:solidFill>
                <a:schemeClr val="tx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da-DK" b="0" i="1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</a:rPr>
              <a:t>Eksempel på generator, som er bygget på </a:t>
            </a:r>
            <a:r>
              <a:rPr lang="da-DK" b="0" i="1" kern="150" dirty="0" err="1">
                <a:solidFill>
                  <a:schemeClr val="tx1"/>
                </a:solidFill>
                <a:latin typeface="+mn-lt"/>
                <a:ea typeface="Calibri" panose="020F0502020204030204" pitchFamily="34" charset="0"/>
              </a:rPr>
              <a:t>Faraday’s</a:t>
            </a:r>
            <a:r>
              <a:rPr lang="da-DK" b="0" i="1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</a:rPr>
              <a:t> forsøg: </a:t>
            </a:r>
            <a:r>
              <a:rPr lang="da-DK" b="0" i="1" kern="150" dirty="0" err="1">
                <a:solidFill>
                  <a:schemeClr val="tx1"/>
                </a:solidFill>
                <a:latin typeface="+mn-lt"/>
                <a:ea typeface="Calibri" panose="020F0502020204030204" pitchFamily="34" charset="0"/>
                <a:hlinkClick r:id="rId2"/>
              </a:rPr>
              <a:t>htt</a:t>
            </a:r>
            <a:r>
              <a:rPr lang="en-US" b="0" dirty="0">
                <a:solidFill>
                  <a:schemeClr val="tx1"/>
                </a:solidFill>
                <a:latin typeface="+mn-lt"/>
                <a:hlinkClick r:id="rId2"/>
              </a:rPr>
              <a:t>ps://www.youtube.com/watch?v=jiAhiu6UqXQ</a:t>
            </a:r>
            <a:endParaRPr lang="en-US" b="0" dirty="0">
              <a:solidFill>
                <a:schemeClr val="tx1"/>
              </a:solidFill>
              <a:latin typeface="+mn-lt"/>
            </a:endParaRPr>
          </a:p>
          <a:p>
            <a:endParaRPr lang="da-DK" b="0" i="1" kern="150" dirty="0">
              <a:solidFill>
                <a:schemeClr val="tx1"/>
              </a:solidFill>
              <a:latin typeface="+mn-lt"/>
              <a:ea typeface="Calibri" panose="020F0502020204030204" pitchFamily="34" charset="0"/>
            </a:endParaRPr>
          </a:p>
          <a:p>
            <a:r>
              <a:rPr lang="da-DK" b="0" i="1" kern="15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Prøv selv at læse om Faraday.</a:t>
            </a:r>
            <a:endParaRPr lang="da-DK" i="1" kern="150" dirty="0"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kern="15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sz="1500" dirty="0">
              <a:solidFill>
                <a:schemeClr val="tx1"/>
              </a:solidFill>
            </a:endParaRPr>
          </a:p>
          <a:p>
            <a:endParaRPr lang="da-DK" dirty="0"/>
          </a:p>
          <a:p>
            <a:r>
              <a:rPr lang="da-DK" sz="2100" dirty="0"/>
              <a:t>	</a:t>
            </a:r>
          </a:p>
          <a:p>
            <a:endParaRPr lang="da-DK" sz="2100" dirty="0"/>
          </a:p>
          <a:p>
            <a:endParaRPr lang="da-DK" sz="2100" dirty="0"/>
          </a:p>
          <a:p>
            <a:endParaRPr lang="da-DK" sz="2100" dirty="0"/>
          </a:p>
          <a:p>
            <a:endParaRPr lang="da-DK" sz="2100" dirty="0"/>
          </a:p>
          <a:p>
            <a:endParaRPr lang="da-DK" sz="2100" dirty="0"/>
          </a:p>
          <a:p>
            <a:endParaRPr lang="da-DK" sz="2100" dirty="0"/>
          </a:p>
          <a:p>
            <a:r>
              <a:rPr lang="da-DK" sz="2100" dirty="0"/>
              <a:t>	</a:t>
            </a:r>
            <a:endParaRPr lang="da-DK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780073" y="571576"/>
            <a:ext cx="9090889" cy="480067"/>
          </a:xfrm>
        </p:spPr>
        <p:txBody>
          <a:bodyPr/>
          <a:lstStyle/>
          <a:p>
            <a:r>
              <a:rPr lang="da-DK" dirty="0"/>
              <a:t>Faradays forsøg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ABF005D-4564-43CC-AEC1-1B5B773E7BCD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13B261C5-2131-1783-F78E-7064B5ED8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888" y="2252500"/>
            <a:ext cx="2210908" cy="238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8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80478" y="1242489"/>
                <a:ext cx="9060967" cy="5066897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Ø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𝐣𝐞𝐛𝐥𝐢𝐤𝐬𝐯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æ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𝐫𝐝𝐢𝐞𝐧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𝐟𝐨𝐫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𝐝𝐞𝐧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𝐢𝐧𝐝𝐮𝐜𝐞𝐫𝐞𝐭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𝐬𝐩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æ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𝐧𝐝𝐢𝐧𝐠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</m:oMath>
                  </m:oMathPara>
                </a14:m>
                <a:endParaRPr lang="da-DK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da-DK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e</m:t>
                      </m:r>
                      <m:r>
                        <a:rPr lang="da-DK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a-DK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dφ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a-DK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dt</m:t>
                          </m:r>
                        </m:den>
                      </m:f>
                      <m:r>
                        <a:rPr lang="da-DK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da-DK" kern="15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N</m:t>
                      </m:r>
                    </m:oMath>
                  </m:oMathPara>
                </a14:m>
                <a:endParaRPr lang="da-DK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</a:endParaRPr>
              </a:p>
              <a:p>
                <a: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</a:rPr>
                  <a:t>Der induceres kun en spænding, når magnetfeltet ændres.</a:t>
                </a:r>
                <a:b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</a:rPr>
                </a:br>
                <a: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</a:rPr>
                  <a:t>Spændingen har en retning, så den forsøger at modvirke feltændringen.</a:t>
                </a:r>
              </a:p>
              <a:p>
                <a:endParaRPr lang="da-DK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</a:endParaRPr>
              </a:p>
              <a:p>
                <a:r>
                  <a:rPr lang="da-DK" kern="150" dirty="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</a:rPr>
                  <a:t>Den inducerede elektromotoriske kraft frembringer kun en strøm, hvis der er elektrisk ledende materiale i nærheden.</a:t>
                </a:r>
              </a:p>
              <a:p>
                <a:endParaRPr lang="da-DK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80478" y="1242489"/>
                <a:ext cx="9060967" cy="5066897"/>
              </a:xfrm>
              <a:blipFill>
                <a:blip r:embed="rId2"/>
                <a:stretch>
                  <a:fillRect l="-40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780073" y="548614"/>
            <a:ext cx="9090889" cy="480067"/>
          </a:xfrm>
        </p:spPr>
        <p:txBody>
          <a:bodyPr/>
          <a:lstStyle/>
          <a:p>
            <a:r>
              <a:rPr lang="da-DK" dirty="0"/>
              <a:t>Lenz’ lov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18128C7-4947-4E7E-94B6-204300A909E6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3877E283-3211-BE19-2D2A-0E090E347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37" y="3606981"/>
            <a:ext cx="869632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08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65516" y="1086859"/>
                <a:ext cx="9060967" cy="5066897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𝐋𝐞𝐧</m:t>
                      </m:r>
                      <m:sSup>
                        <m:sSupPr>
                          <m:ctrlPr>
                            <a:rPr lang="da-DK" sz="2400" kern="15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da-DK" sz="2400" kern="15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𝐳</m:t>
                          </m:r>
                        </m:e>
                        <m:sup>
                          <m:r>
                            <a:rPr lang="da-DK" sz="2400" kern="15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𝐥𝐨𝐯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𝐯𝐢𝐬𝐭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𝐩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å 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𝐞𝐧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𝐚𝐧𝐝𝐞𝐧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𝐦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å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𝐝𝐞</m:t>
                      </m:r>
                      <m:r>
                        <a:rPr lang="da-DK" sz="2400" kern="15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:</m:t>
                      </m:r>
                    </m:oMath>
                  </m:oMathPara>
                </a14:m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da-DK" kern="150" dirty="0">
                    <a:solidFill>
                      <a:srgbClr val="00B05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hlinkClick r:id="rId2"/>
                  </a:rPr>
                  <a:t>https://www.youtube.com/watch?v=qJbkUwwEcUA&amp;t=125s</a:t>
                </a:r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rgbClr val="00B05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65516" y="1086859"/>
                <a:ext cx="9060967" cy="5066897"/>
              </a:xfrm>
              <a:blipFill>
                <a:blip r:embed="rId3"/>
                <a:stretch>
                  <a:fillRect l="-404" b="-216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780073" y="493299"/>
            <a:ext cx="9090889" cy="480067"/>
          </a:xfrm>
        </p:spPr>
        <p:txBody>
          <a:bodyPr/>
          <a:lstStyle/>
          <a:p>
            <a:r>
              <a:rPr lang="da-DK" dirty="0"/>
              <a:t>Lenz’ lov fortsat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ACA7391-C85B-4708-8CBA-A68848A0D580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6EE86421-6462-773D-DA8B-9D1D82448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051" y="1722556"/>
            <a:ext cx="5767387" cy="404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31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12BDD209-3695-5C98-6F32-8A3013784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692" y="1752024"/>
            <a:ext cx="4467294" cy="4012993"/>
          </a:xfrm>
          <a:prstGeom prst="rect">
            <a:avLst/>
          </a:prstGeom>
        </p:spPr>
      </p:pic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quarter" idx="13"/>
          </p:nvPr>
        </p:nvSpPr>
        <p:spPr>
          <a:xfrm>
            <a:off x="780073" y="1092983"/>
            <a:ext cx="9060967" cy="5066897"/>
          </a:xfrm>
        </p:spPr>
        <p:txBody>
          <a:bodyPr/>
          <a:lstStyle/>
          <a:p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</a:rPr>
              <a:t>Hvirvelstrømme kan være fordel eller ulempe.</a:t>
            </a:r>
          </a:p>
          <a:p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</a:endParaRPr>
          </a:p>
          <a:p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</a:rPr>
              <a:t>Fordel:</a:t>
            </a:r>
          </a:p>
          <a:p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</a:rPr>
              <a:t>Anvendes til at dæmpe spolens (pilens) bevægelse i et </a:t>
            </a:r>
          </a:p>
          <a:p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</a:rPr>
              <a:t>drejespoleinstrument og skivens rotation i kWh måler.</a:t>
            </a:r>
          </a:p>
          <a:p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</a:rPr>
              <a:t>Anvendes i induktionskomfurer,</a:t>
            </a:r>
          </a:p>
          <a:p>
            <a:r>
              <a:rPr lang="da-DK" b="1" kern="150" dirty="0" err="1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rutchebaner</a:t>
            </a:r>
            <a:r>
              <a:rPr lang="da-DK" b="1" kern="15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 og højhastighedstog.</a:t>
            </a:r>
          </a:p>
          <a:p>
            <a:endParaRPr lang="da-DK" kern="150" dirty="0">
              <a:solidFill>
                <a:schemeClr val="tx1"/>
              </a:solidFill>
              <a:latin typeface="+mn-lt"/>
              <a:ea typeface="Calibri" panose="020F0502020204030204" pitchFamily="34" charset="0"/>
            </a:endParaRPr>
          </a:p>
          <a:p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</a:rPr>
              <a:t>Ulempe:</a:t>
            </a:r>
          </a:p>
          <a:p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</a:rPr>
              <a:t>Tab i transformere, generatorer og</a:t>
            </a:r>
            <a:b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</a:rPr>
            </a:br>
            <a:r>
              <a:rPr lang="da-DK" kern="150" dirty="0">
                <a:solidFill>
                  <a:schemeClr val="tx1"/>
                </a:solidFill>
                <a:latin typeface="+mn-lt"/>
                <a:ea typeface="Calibri" panose="020F0502020204030204" pitchFamily="34" charset="0"/>
              </a:rPr>
              <a:t>motorer.</a:t>
            </a:r>
          </a:p>
          <a:p>
            <a:endParaRPr lang="da-DK" b="0" kern="150" dirty="0">
              <a:solidFill>
                <a:srgbClr val="00B050"/>
              </a:solidFill>
              <a:ea typeface="Calibri" panose="020F0502020204030204" pitchFamily="34" charset="0"/>
            </a:endParaRPr>
          </a:p>
          <a:p>
            <a:r>
              <a:rPr lang="da-DK" b="0" kern="150" dirty="0">
                <a:solidFill>
                  <a:srgbClr val="00B050"/>
                </a:solidFill>
                <a:ea typeface="Calibri" panose="020F0502020204030204" pitchFamily="34" charset="0"/>
              </a:rPr>
              <a:t>Se video, hvor hvirvelstrømme er</a:t>
            </a:r>
            <a:br>
              <a:rPr lang="da-DK" b="0" kern="150" dirty="0">
                <a:solidFill>
                  <a:srgbClr val="00B050"/>
                </a:solidFill>
                <a:ea typeface="Calibri" panose="020F0502020204030204" pitchFamily="34" charset="0"/>
              </a:rPr>
            </a:br>
            <a:r>
              <a:rPr lang="da-DK" b="0" kern="150" dirty="0">
                <a:solidFill>
                  <a:srgbClr val="00B050"/>
                </a:solidFill>
                <a:ea typeface="Calibri" panose="020F0502020204030204" pitchFamily="34" charset="0"/>
              </a:rPr>
              <a:t>demonstreret:</a:t>
            </a:r>
            <a:br>
              <a:rPr lang="da-DK" b="0" kern="150" dirty="0">
                <a:solidFill>
                  <a:srgbClr val="00B050"/>
                </a:solidFill>
                <a:ea typeface="Calibri" panose="020F0502020204030204" pitchFamily="34" charset="0"/>
              </a:rPr>
            </a:br>
            <a:r>
              <a:rPr lang="da-DK" b="0" kern="150" dirty="0" err="1">
                <a:solidFill>
                  <a:srgbClr val="00B050"/>
                </a:solidFill>
                <a:ea typeface="Calibri" panose="020F0502020204030204" pitchFamily="34" charset="0"/>
                <a:hlinkClick r:id="rId4"/>
              </a:rPr>
              <a:t>htt</a:t>
            </a:r>
            <a:r>
              <a:rPr lang="en-US" b="0" dirty="0">
                <a:solidFill>
                  <a:srgbClr val="00B050"/>
                </a:solidFill>
                <a:hlinkClick r:id="rId4"/>
              </a:rPr>
              <a:t>ps://www.youtube.com/watch?v=otu-KV3iH</a:t>
            </a:r>
            <a:r>
              <a:rPr lang="en-US" b="0">
                <a:solidFill>
                  <a:srgbClr val="00B050"/>
                </a:solidFill>
                <a:hlinkClick r:id="rId4"/>
              </a:rPr>
              <a:t>_I</a:t>
            </a:r>
            <a:endParaRPr lang="da-DK" b="0" kern="150" dirty="0">
              <a:solidFill>
                <a:srgbClr val="00B050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780073" y="466026"/>
            <a:ext cx="9090889" cy="480067"/>
          </a:xfrm>
        </p:spPr>
        <p:txBody>
          <a:bodyPr/>
          <a:lstStyle/>
          <a:p>
            <a:r>
              <a:rPr lang="da-DK" dirty="0"/>
              <a:t>Hvirvelstrømme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452A1C7-EBBF-4763-9498-4940ABFA6D37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835714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60718" y="1242489"/>
                <a:ext cx="9971442" cy="5066897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𝑯𝒗𝒂𝒅</m:t>
                      </m:r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𝒆𝒓</m:t>
                      </m:r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𝒔𝒆𝒍𝒗𝒊𝒏𝒅𝒖𝒌𝒕𝒊𝒐𝒏</m:t>
                      </m:r>
                      <m:r>
                        <a:rPr lang="da-DK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?</m:t>
                      </m:r>
                    </m:oMath>
                  </m:oMathPara>
                </a14:m>
                <a:endParaRPr lang="da-DK" kern="150" dirty="0">
                  <a:solidFill>
                    <a:schemeClr val="tx1"/>
                  </a:solidFill>
                  <a:latin typeface="+mn-lt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da-DK" dirty="0">
                    <a:solidFill>
                      <a:schemeClr val="tx1"/>
                    </a:solidFill>
                    <a:latin typeface="+mn-lt"/>
                  </a:rPr>
                  <a:t>Strøm i spole vokser =&gt;</a:t>
                </a:r>
              </a:p>
              <a:p>
                <a:r>
                  <a:rPr lang="da-DK" dirty="0">
                    <a:solidFill>
                      <a:schemeClr val="tx1"/>
                    </a:solidFill>
                    <a:latin typeface="+mn-lt"/>
                  </a:rPr>
                  <a:t>Magnetfelt om spole vokser ( </a:t>
                </a:r>
                <a:r>
                  <a:rPr lang="da-DK" dirty="0" err="1">
                    <a:solidFill>
                      <a:schemeClr val="tx1"/>
                    </a:solidFill>
                    <a:latin typeface="+mn-lt"/>
                  </a:rPr>
                  <a:t>Faraday´s</a:t>
                </a:r>
                <a:r>
                  <a:rPr lang="da-DK" dirty="0">
                    <a:solidFill>
                      <a:schemeClr val="tx1"/>
                    </a:solidFill>
                    <a:latin typeface="+mn-lt"/>
                  </a:rPr>
                  <a:t> forsøg) =&gt;</a:t>
                </a:r>
              </a:p>
              <a:p>
                <a:r>
                  <a:rPr lang="da-DK" dirty="0">
                    <a:solidFill>
                      <a:schemeClr val="tx1"/>
                    </a:solidFill>
                    <a:latin typeface="+mn-lt"/>
                  </a:rPr>
                  <a:t>Strøm i spole i modsat retning (Lenz’ lov)</a:t>
                </a:r>
              </a:p>
              <a:p>
                <a:endParaRPr lang="da-DK" dirty="0">
                  <a:solidFill>
                    <a:schemeClr val="tx1"/>
                  </a:solidFill>
                  <a:latin typeface="+mn-lt"/>
                </a:endParaRPr>
              </a:p>
              <a:p>
                <a:r>
                  <a:rPr lang="da-DK" dirty="0">
                    <a:solidFill>
                      <a:schemeClr val="tx1"/>
                    </a:solidFill>
                    <a:latin typeface="+mn-lt"/>
                  </a:rPr>
                  <a:t>Spolen påvirkes altså</a:t>
                </a:r>
                <a:br>
                  <a:rPr lang="da-DK" dirty="0">
                    <a:solidFill>
                      <a:schemeClr val="tx1"/>
                    </a:solidFill>
                    <a:latin typeface="+mn-lt"/>
                  </a:rPr>
                </a:br>
                <a:r>
                  <a:rPr lang="da-DK" dirty="0">
                    <a:solidFill>
                      <a:schemeClr val="tx1"/>
                    </a:solidFill>
                    <a:latin typeface="+mn-lt"/>
                  </a:rPr>
                  <a:t>af eget magnetfelt!</a:t>
                </a:r>
              </a:p>
              <a:p>
                <a:endParaRPr lang="da-DK" sz="1500" u="sng" dirty="0">
                  <a:solidFill>
                    <a:schemeClr val="tx1"/>
                  </a:solidFill>
                  <a:latin typeface="+mn-lt"/>
                </a:endParaRPr>
              </a:p>
              <a:p>
                <a:endParaRPr lang="da-DK" sz="1500" kern="150" dirty="0">
                  <a:ea typeface="Calibri" panose="020F0502020204030204" pitchFamily="34" charset="0"/>
                </a:endParaRPr>
              </a:p>
              <a:p>
                <a:endParaRPr lang="da-DK" dirty="0"/>
              </a:p>
              <a:p>
                <a:endParaRPr lang="da-DK" dirty="0"/>
              </a:p>
              <a:p>
                <a:endParaRPr lang="da-DK" kern="15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u="sng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60718" y="1242489"/>
                <a:ext cx="9971442" cy="5066897"/>
              </a:xfrm>
              <a:blipFill>
                <a:blip r:embed="rId2"/>
                <a:stretch>
                  <a:fillRect l="-3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780073" y="548614"/>
            <a:ext cx="9090889" cy="480067"/>
          </a:xfrm>
        </p:spPr>
        <p:txBody>
          <a:bodyPr/>
          <a:lstStyle/>
          <a:p>
            <a:r>
              <a:rPr lang="da-DK" dirty="0"/>
              <a:t>Selvinduktion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CE5D92-BC38-47EA-9CB8-1B130EDBBCC0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88260B8D-026C-3CAF-E19C-A252DD165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945" y="1787892"/>
            <a:ext cx="5367337" cy="358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62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8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809995" y="1242489"/>
                <a:ext cx="9060967" cy="5066897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𝐒𝐞𝐥𝐯𝐢𝐧𝐝𝐮𝐤𝐭𝐢𝐨𝐧𝐬𝐤𝐨𝐞𝐟𝐟𝐢𝐜𝐢𝐞𝐧𝐭𝐞𝐧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𝐞𝐫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𝐝𝐞𝐭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𝐬𝐚𝐦𝐦𝐞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𝐬𝐨𝐦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𝐢𝐧𝐝𝐮𝐤𝐭𝐚𝐧𝐬𝐞𝐧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u="sng" dirty="0">
                    <a:solidFill>
                      <a:schemeClr val="tx1"/>
                    </a:solidFill>
                  </a:rPr>
                  <a:t>Udledning af induktansen</a:t>
                </a:r>
              </a:p>
              <a:p>
                <a:r>
                  <a:rPr lang="da-DK" sz="1500" i="1" dirty="0">
                    <a:solidFill>
                      <a:schemeClr val="tx1"/>
                    </a:solidFill>
                  </a:rPr>
                  <a:t>Følgende formler anvendes:</a:t>
                </a:r>
              </a:p>
              <a:p>
                <a14:m>
                  <m:oMath xmlns:m="http://schemas.openxmlformats.org/officeDocument/2006/math"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𝐼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15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da-DK" sz="15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num>
                      <m:den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=&gt; 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Udgangspunkt	</a:t>
                </a:r>
                <a14:m>
                  <m:oMath xmlns:m="http://schemas.openxmlformats.org/officeDocument/2006/math"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da-DK" sz="1500" i="1" kern="150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B indsat		</a:t>
                </a:r>
                <a14:m>
                  <m:oMath xmlns:m="http://schemas.openxmlformats.org/officeDocument/2006/math"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da-DK" sz="1500" kern="150" dirty="0">
                  <a:solidFill>
                    <a:schemeClr val="tx1"/>
                  </a:solidFill>
                  <a:ea typeface="Calibri" panose="020F0502020204030204" pitchFamily="34" charset="0"/>
                </a:endParaRPr>
              </a:p>
              <a:p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H indsat		</a:t>
                </a:r>
                <a14:m>
                  <m:oMath xmlns:m="http://schemas.openxmlformats.org/officeDocument/2006/math"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𝐼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</m:t>
                        </m:r>
                      </m:den>
                    </m:f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da-DK" sz="1500" kern="150" dirty="0">
                  <a:solidFill>
                    <a:schemeClr val="tx1"/>
                  </a:solidFill>
                  <a:ea typeface="Calibri" panose="020F0502020204030204" pitchFamily="34" charset="0"/>
                </a:endParaRPr>
              </a:p>
              <a:p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Lille strømændring	</a:t>
                </a:r>
                <a14:m>
                  <m:oMath xmlns:m="http://schemas.openxmlformats.org/officeDocument/2006/math"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𝑑𝑖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</m:t>
                        </m:r>
                      </m:den>
                    </m:f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da-DK" sz="1500" kern="150" dirty="0">
                  <a:solidFill>
                    <a:schemeClr val="tx1"/>
                  </a:solidFill>
                  <a:ea typeface="Calibri" panose="020F0502020204030204" pitchFamily="34" charset="0"/>
                </a:endParaRPr>
              </a:p>
              <a:p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Lenz’ lov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da-DK" sz="1500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φ</m:t>
                        </m:r>
                      </m:num>
                      <m:den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endParaRPr lang="da-DK" sz="1500" kern="150" dirty="0">
                  <a:solidFill>
                    <a:schemeClr val="tx1"/>
                  </a:solidFill>
                  <a:ea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da-DK" sz="1500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φ</m:t>
                    </m:r>
                  </m:oMath>
                </a14:m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indsættes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·</m:t>
                            </m:r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den>
                        </m:f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num>
                      <m:den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endParaRPr lang="da-DK" sz="1500" kern="150" dirty="0">
                  <a:solidFill>
                    <a:schemeClr val="tx1"/>
                  </a:solidFill>
                  <a:ea typeface="Calibri" panose="020F0502020204030204" pitchFamily="34" charset="0"/>
                </a:endParaRPr>
              </a:p>
              <a:p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Induktansen indsættes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𝑑𝑖</m:t>
                        </m:r>
                      </m:num>
                      <m:den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f>
                      <m:f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da-DK" sz="1500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num>
                      <m:den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</a:rPr>
                  <a:t>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𝑑𝑖</m:t>
                        </m:r>
                      </m:num>
                      <m:den>
                        <m:r>
                          <a:rPr lang="da-DK" sz="15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500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da-DK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da-DK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da-DK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a-D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da-D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da-D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da-D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da-D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endParaRPr lang="da-DK" dirty="0">
                  <a:solidFill>
                    <a:schemeClr val="tx1"/>
                  </a:solidFill>
                </a:endParaRPr>
              </a:p>
              <a:p>
                <a:endParaRPr lang="da-DK" sz="1500" kern="150" dirty="0">
                  <a:solidFill>
                    <a:schemeClr val="tx1"/>
                  </a:solidFill>
                  <a:ea typeface="Calibri" panose="020F0502020204030204" pitchFamily="34" charset="0"/>
                </a:endParaRPr>
              </a:p>
              <a:p>
                <a:endParaRPr lang="da-DK" dirty="0">
                  <a:solidFill>
                    <a:schemeClr val="tx1"/>
                  </a:solidFill>
                </a:endParaRPr>
              </a:p>
              <a:p>
                <a:endParaRPr lang="da-DK" dirty="0">
                  <a:solidFill>
                    <a:schemeClr val="tx1"/>
                  </a:solidFill>
                </a:endParaRPr>
              </a:p>
              <a:p>
                <a:endParaRPr lang="da-DK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809995" y="1242489"/>
                <a:ext cx="9060967" cy="5066897"/>
              </a:xfrm>
              <a:blipFill>
                <a:blip r:embed="rId3"/>
                <a:stretch>
                  <a:fillRect l="-13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780073" y="548614"/>
            <a:ext cx="9090889" cy="480067"/>
          </a:xfrm>
        </p:spPr>
        <p:txBody>
          <a:bodyPr/>
          <a:lstStyle/>
          <a:p>
            <a:r>
              <a:rPr lang="da-DK" dirty="0"/>
              <a:t>Induktans – selvinduktion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F5E572D-FFA3-4ABF-9966-43D760C01E2B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</p:spTree>
    <p:extLst>
      <p:ext uri="{BB962C8B-B14F-4D97-AF65-F5344CB8AC3E}">
        <p14:creationId xmlns:p14="http://schemas.microsoft.com/office/powerpoint/2010/main" val="4025638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9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809995" y="1245457"/>
                <a:ext cx="9060967" cy="5066897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𝐒𝐞𝐥𝐯𝐢𝐧𝐝𝐮𝐤𝐭𝐢𝐨𝐧𝐬𝐤𝐨𝐞𝐟𝐟𝐢𝐜𝐢𝐞𝐧𝐭𝐞𝐧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𝐞𝐫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𝐝𝐞𝐭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𝐬𝐚𝐦𝐦𝐞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𝐬𝐨𝐦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𝐢𝐧𝐝𝐮𝐤𝐭𝐚𝐧𝐬𝐞𝐧</m:t>
                      </m:r>
                      <m:r>
                        <a:rPr lang="da-DK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kern="150" dirty="0">
                    <a:solidFill>
                      <a:schemeClr val="tx1"/>
                    </a:solidFill>
                    <a:ea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da-DK" sz="1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a-DK" sz="1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da-DK" sz="1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da-DK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	[H]</a:t>
                </a:r>
              </a:p>
              <a:p>
                <a:endParaRPr lang="da-DK" sz="1500" kern="150" dirty="0">
                  <a:solidFill>
                    <a:schemeClr val="tx1"/>
                  </a:solidFill>
                  <a:ea typeface="Calibri" panose="020F0502020204030204" pitchFamily="34" charset="0"/>
                </a:endParaRPr>
              </a:p>
              <a:p>
                <a:r>
                  <a:rPr lang="da-DK" dirty="0">
                    <a:solidFill>
                      <a:schemeClr val="tx1"/>
                    </a:solidFill>
                  </a:rPr>
                  <a:t>Induktansen skal du bruge ved vekselstrømsberegninger, og enheden er Henry.</a:t>
                </a:r>
              </a:p>
              <a:p>
                <a:endParaRPr lang="da-DK" dirty="0">
                  <a:solidFill>
                    <a:schemeClr val="tx1"/>
                  </a:solidFill>
                </a:endParaRPr>
              </a:p>
              <a:p>
                <a:r>
                  <a:rPr lang="da-DK" dirty="0">
                    <a:solidFill>
                      <a:schemeClr val="tx1"/>
                    </a:solidFill>
                  </a:rPr>
                  <a:t>Bemærk, induktansen afhænger af:</a:t>
                </a:r>
              </a:p>
              <a:p>
                <a:pPr marL="285750" indent="-285750">
                  <a:buFontTx/>
                  <a:buChar char="-"/>
                </a:pPr>
                <a:r>
                  <a:rPr lang="da-DK" dirty="0">
                    <a:solidFill>
                      <a:schemeClr val="tx1"/>
                    </a:solidFill>
                  </a:rPr>
                  <a:t>Antallet af viklinger </a:t>
                </a:r>
              </a:p>
              <a:p>
                <a:pPr marL="285750" indent="-285750">
                  <a:buFontTx/>
                  <a:buChar char="-"/>
                </a:pPr>
                <a:r>
                  <a:rPr lang="da-DK" dirty="0">
                    <a:solidFill>
                      <a:schemeClr val="tx1"/>
                    </a:solidFill>
                  </a:rPr>
                  <a:t>Permeabiliteten</a:t>
                </a:r>
              </a:p>
              <a:p>
                <a:pPr marL="285750" indent="-285750">
                  <a:buFontTx/>
                  <a:buChar char="-"/>
                </a:pPr>
                <a:r>
                  <a:rPr lang="da-DK" dirty="0">
                    <a:solidFill>
                      <a:schemeClr val="tx1"/>
                    </a:solidFill>
                  </a:rPr>
                  <a:t>Tværsnitsarealet</a:t>
                </a:r>
              </a:p>
              <a:p>
                <a:pPr marL="285750" indent="-285750">
                  <a:buFontTx/>
                  <a:buChar char="-"/>
                </a:pPr>
                <a:r>
                  <a:rPr lang="da-DK" dirty="0">
                    <a:solidFill>
                      <a:schemeClr val="tx1"/>
                    </a:solidFill>
                  </a:rPr>
                  <a:t>Spolens længde</a:t>
                </a:r>
              </a:p>
              <a:p>
                <a:pPr marL="285750" indent="-285750">
                  <a:buFontTx/>
                  <a:buChar char="-"/>
                </a:pPr>
                <a:endParaRPr lang="da-DK" dirty="0">
                  <a:solidFill>
                    <a:schemeClr val="tx1"/>
                  </a:solidFill>
                </a:endParaRPr>
              </a:p>
              <a:p>
                <a:r>
                  <a:rPr lang="da-DK" dirty="0">
                    <a:solidFill>
                      <a:schemeClr val="tx1"/>
                    </a:solidFill>
                  </a:rPr>
                  <a:t>Alle er faste værdier.</a:t>
                </a:r>
              </a:p>
              <a:p>
                <a:endParaRPr lang="da-DK" dirty="0">
                  <a:solidFill>
                    <a:schemeClr val="tx1"/>
                  </a:solidFill>
                </a:endParaRPr>
              </a:p>
              <a:p>
                <a:r>
                  <a:rPr lang="da-DK" dirty="0">
                    <a:solidFill>
                      <a:schemeClr val="tx1"/>
                    </a:solidFill>
                  </a:rPr>
                  <a:t>Ved vekselspænding virker spolen som en modstand, da strømmen ”bremses”.</a:t>
                </a:r>
              </a:p>
              <a:p>
                <a:endParaRPr lang="da-DK" dirty="0">
                  <a:solidFill>
                    <a:schemeClr val="tx1"/>
                  </a:solidFill>
                </a:endParaRPr>
              </a:p>
              <a:p>
                <a:endParaRPr lang="da-DK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809995" y="1245457"/>
                <a:ext cx="9060967" cy="5066897"/>
              </a:xfrm>
              <a:blipFill>
                <a:blip r:embed="rId2"/>
                <a:stretch>
                  <a:fillRect l="-40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780073" y="548614"/>
            <a:ext cx="9090889" cy="480067"/>
          </a:xfrm>
        </p:spPr>
        <p:txBody>
          <a:bodyPr/>
          <a:lstStyle/>
          <a:p>
            <a:r>
              <a:rPr lang="da-DK" dirty="0"/>
              <a:t>Induktans – selvinduktion fortsat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A449CC1-0981-472B-9502-CB99B2614FAB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183278C9-0F39-ADA5-35FD-2A911427C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735993"/>
            <a:ext cx="287655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580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10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80478" y="1242489"/>
                <a:ext cx="9060967" cy="506689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da-DK" sz="2400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𝐓𝐫</m:t>
                    </m:r>
                    <m:r>
                      <a:rPr lang="da-DK" sz="2400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å</m:t>
                    </m:r>
                    <m:r>
                      <a:rPr lang="da-DK" sz="2400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𝐝𝐯𝐢𝐤𝐥𝐞𝐭</m:t>
                    </m:r>
                    <m:r>
                      <a:rPr lang="da-DK" sz="2400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da-DK" sz="2400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𝐦𝐨𝐝𝐬𝐭𝐚𝐧𝐝</m:t>
                    </m:r>
                  </m:oMath>
                </a14:m>
                <a:r>
                  <a:rPr lang="da-DK" sz="2400" dirty="0">
                    <a:solidFill>
                      <a:schemeClr val="tx1"/>
                    </a:solidFill>
                    <a:latin typeface="+mn-lt"/>
                  </a:rPr>
                  <a:t> uden spolevirkning.</a:t>
                </a:r>
              </a:p>
              <a:p>
                <a:endParaRPr lang="da-DK" sz="1500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80478" y="1242489"/>
                <a:ext cx="9060967" cy="5066897"/>
              </a:xfrm>
              <a:blipFill>
                <a:blip r:embed="rId2"/>
                <a:stretch>
                  <a:fillRect l="-67" t="-84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6" y="841318"/>
            <a:ext cx="9090889" cy="480067"/>
          </a:xfrm>
        </p:spPr>
        <p:txBody>
          <a:bodyPr/>
          <a:lstStyle/>
          <a:p>
            <a:r>
              <a:rPr lang="da-DK" dirty="0"/>
              <a:t>Bifilar modstand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C7FA27B-1CB2-4534-9E0F-13AE59112271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0E5CF936-BDBB-F41F-2F70-E8361DF24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277" y="1850231"/>
            <a:ext cx="6128249" cy="392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343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E9F3C4D-BC50-CD2F-F678-F1A3DAFD1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11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935CAF5-2A88-3403-7911-9A70D50C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801" y="1040929"/>
            <a:ext cx="9090889" cy="480067"/>
          </a:xfrm>
        </p:spPr>
        <p:txBody>
          <a:bodyPr/>
          <a:lstStyle/>
          <a:p>
            <a:r>
              <a:rPr lang="da-DK" dirty="0"/>
              <a:t>Repetition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DE1BD1E-B11D-E782-51A8-26EAC6AC294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CFE102E-384D-4586-A98E-715955FE1FA4}" type="datetime1">
              <a:rPr lang="da-DK" smtClean="0"/>
              <a:t>21-09-2026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9351D02-BFAB-E7F1-31A8-81681FF58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C5601AE5-E9F8-3CFA-743C-9EAF570F2E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3981" y="1586044"/>
            <a:ext cx="8984084" cy="4367604"/>
          </a:xfrm>
        </p:spPr>
        <p:txBody>
          <a:bodyPr/>
          <a:lstStyle/>
          <a:p>
            <a:pPr algn="l"/>
            <a:r>
              <a:rPr lang="da-DK" sz="27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Gennemgå PowerPoint med en makker og genfortæl teorien.</a:t>
            </a:r>
            <a:endParaRPr lang="da-DK" sz="2700" kern="1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342900" indent="-342900">
              <a:buAutoNum type="arabicPeriod"/>
            </a:pPr>
            <a:endParaRPr lang="da-DK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dirty="0">
              <a:solidFill>
                <a:srgbClr val="00B050"/>
              </a:solidFill>
            </a:endParaRP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92432768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tec - powerpoint skabelon_v4.potx" id="{7FFBE45C-995A-4409-9C30-AEA82B7B07D3}" vid="{4AC428D2-6199-44D7-8EC8-CD674AB0AFCC}"/>
    </a:ext>
  </a:extLst>
</a:theme>
</file>

<file path=ppt/theme/theme2.xml><?xml version="1.0" encoding="utf-8"?>
<a:theme xmlns:a="http://schemas.openxmlformats.org/drawingml/2006/main" name="Office 2013 – 2022 Tema">
  <a:themeElements>
    <a:clrScheme name="Office 2013 – 2022 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 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 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13" ma:contentTypeDescription="Opret et nyt dokument." ma:contentTypeScope="" ma:versionID="e5786a71ccba6fd5eae826ad368fd2a7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772453836f661fba2ac2fe97a8e00cb1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1d1a0f5-b42e-4dcc-a771-72dc4fda9f68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48309A-9DAD-42FA-B153-EEB49DFCF5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7D6A2B-B9BE-43FA-8F75-F9101892D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Præsentation</Template>
  <TotalTime>6367</TotalTime>
  <Words>563</Words>
  <Application>Microsoft Office PowerPoint</Application>
  <PresentationFormat>Widescreen</PresentationFormat>
  <Paragraphs>142</Paragraphs>
  <Slides>11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11</vt:i4>
      </vt:variant>
    </vt:vector>
  </HeadingPairs>
  <TitlesOfParts>
    <vt:vector size="19" baseType="lpstr">
      <vt:lpstr>Calibri Light</vt:lpstr>
      <vt:lpstr>Times New Roman</vt:lpstr>
      <vt:lpstr>Arial</vt:lpstr>
      <vt:lpstr>Cambria Math</vt:lpstr>
      <vt:lpstr>Calibri</vt:lpstr>
      <vt:lpstr>Aptos</vt:lpstr>
      <vt:lpstr>MARTEC</vt:lpstr>
      <vt:lpstr>Office 2013 – 2022 Tema</vt:lpstr>
      <vt:lpstr>PowerPoint-præsentation</vt:lpstr>
      <vt:lpstr>Opgaver </vt:lpstr>
      <vt:lpstr>Faradays forsøg</vt:lpstr>
      <vt:lpstr>Lenz’ lov</vt:lpstr>
      <vt:lpstr>Lenz’ lov fortsat</vt:lpstr>
      <vt:lpstr>Hvirvelstrømme</vt:lpstr>
      <vt:lpstr>Selvinduktion</vt:lpstr>
      <vt:lpstr>Induktans – selvinduktion</vt:lpstr>
      <vt:lpstr>Induktans – selvinduktion fortsat</vt:lpstr>
      <vt:lpstr>Bifilar modstand</vt:lpstr>
      <vt:lpstr>Repetition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May-Britt Rasmussen</dc:creator>
  <cp:lastModifiedBy>Simon Tran Agerholm</cp:lastModifiedBy>
  <cp:revision>172</cp:revision>
  <dcterms:created xsi:type="dcterms:W3CDTF">2020-04-01T11:50:27Z</dcterms:created>
  <dcterms:modified xsi:type="dcterms:W3CDTF">2026-09-21T10:24:58Z</dcterms:modified>
</cp:coreProperties>
</file>