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4" r:id="rId6"/>
    <p:sldId id="265" r:id="rId7"/>
    <p:sldId id="266" r:id="rId8"/>
    <p:sldId id="267" r:id="rId9"/>
    <p:sldId id="268" r:id="rId10"/>
    <p:sldId id="271" r:id="rId11"/>
    <p:sldId id="272" r:id="rId12"/>
    <p:sldId id="273" r:id="rId13"/>
    <p:sldId id="270" r:id="rId14"/>
    <p:sldId id="269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modSld">
      <pc:chgData name="Simon Tran Agerholm" userId="dd55e2d3-906e-4a4a-90ea-dda6205f875e" providerId="ADAL" clId="{5EFFF862-C165-4C4A-8B20-E280CAF10480}" dt="2026-02-09T08:13:05.991" v="0" actId="6549"/>
      <pc:docMkLst>
        <pc:docMk/>
      </pc:docMkLst>
      <pc:sldChg chg="modSp mod">
        <pc:chgData name="Simon Tran Agerholm" userId="dd55e2d3-906e-4a4a-90ea-dda6205f875e" providerId="ADAL" clId="{5EFFF862-C165-4C4A-8B20-E280CAF10480}" dt="2026-02-09T08:13:05.991" v="0" actId="6549"/>
        <pc:sldMkLst>
          <pc:docMk/>
          <pc:sldMk cId="2733619664" sldId="258"/>
        </pc:sldMkLst>
        <pc:spChg chg="mod">
          <ac:chgData name="Simon Tran Agerholm" userId="dd55e2d3-906e-4a4a-90ea-dda6205f875e" providerId="ADAL" clId="{5EFFF862-C165-4C4A-8B20-E280CAF10480}" dt="2026-02-09T08:13:05.991" v="0" actId="6549"/>
          <ac:spMkLst>
            <pc:docMk/>
            <pc:sldMk cId="2733619664" sldId="25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001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184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01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47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73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85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99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274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57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90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45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j-ea"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j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947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605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22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49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78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61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6A8078-57F4-4085-BE0E-D195051D802A}" type="datetimeFigureOut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09-02-2026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050" b="0" i="0" u="none" strike="noStrike" kern="1200" cap="all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9BCECD-1F27-4CCB-B17B-1856D9CA1699}" type="slidenum">
              <a:rPr kumimoji="0" lang="da-DK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a-DK" sz="105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786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0.emf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data:image/jpeg;base64,/9j/4AAQSkZJRgABAQAAAQABAAD/2wCEAAkGBxQTEhUREhQUFRQUFRQVFRgXGBYUGBAWGBUXFhYXFxcYHCkgGholHBUUIjElJSkrLi4uFx8zOjMsNygtLisBCgoKDg0OFxAQGiwcHx8sLCwsLCwsLCwsLCwsLCwsNywsLCwsLCwsLDcsLCwrLCwsLCwsNywsLCwsLCssLDcsLP/AABEIAJ4BAAMBIgACEQEDEQH/xAAcAAEAAgMBAQEAAAAAAAAAAAAAAQQDBQYCBwj/xAA6EAABAwEFBQYDBwQDAQAAAAABAAIDEQQFEiExBkFRYYETIjJxkaEHsdEjQlJicsHwM4Lh8RRTsiT/xAAYAQEBAQEBAAAAAAAAAAAAAAAAAgEDBP/EAB4RAQEBAQACAwEBAAAAAAAAAAABAhEhUQMSMUET/9oADAMBAAIRAxEAPwD7giIgKVClAREQEREBERAUFSoKAiIgIiICIiAiIgIiICIiAiVWCe1NZ4iAgzqFztt2hrUQtLt1d3qcvmuavHabsXjFO4y/dhj77nf2bhzNAt/EXcfR6qVzOy21ItPckYYpQC7CSCHtGpaRqRlUbqrpWlYqVKIiNEUoghSiICIiAiIgIiICgqVBQEREBERAREQEREBEVa3WksaSwYngZNrSvmdwT9OrKqWu8WRiriMvbz4L5teO31qhl7C3Qts4fURStLnRvP4TiFa8/qq9uvvvYYo3TvB8bzhjYSK7qknPcOqqyZ/XO79Oztu0T3f0m5cTkKceJ6DquUt20EdSMTrQ8asjzDf1GtB/cVQbZJpzSRxk/IwFkY86Zu9V0l07IGgxUY3c1owrnd+k/W1y8slpnNHO7Fv/AFw5uI5yU+QC3dy7HmmTRGDqfvO8zqSu5sN0RxjJoVqSZrASaADUnIDruUW9dJhqbNs5G1op4wQ5j97HDQ/tTgtpd9pxtzoHtJa8A1wvGo+R8iFx20fxLstnBa14e/PLOg/c+y534dbfutN5yxSABs8YLMsNXxV3cS11P7AumZeHjvh9eRQ1StUlERAREQEREBERAREQFBUqCgIiICIiAiglYnzjdmt51nWZYXygc1VfOTpn7D1XnATr6DIf5VzHtl0ySWmpoPQZnqdyw0J5eX7n6LII/RThoq5EvzFtxf0lqnkD9A97QDXut0AA6Lt/hNbG2gf8efKWKhA0E8NKF362GleTm8Fjv3ZOGG0zPkcGtLy4AkbzXzK56+NoorO+KSy0bLC8PBP36fdIG4jEDWmRKj5Mszf4/R1msUbBRjQOiWy2RxjE9zWjiSAF8uvv4ptbDG6JpHasL2OdQ0Bp3SRvaajoF8tvnae021/eLnOOQa3EfQDMrnn4rpd1z8fZdpvipBDVkJxv47ugr818n2i25tNrNC5w1Aa2uXpvKxDZTsgH3jO2ytIqIz9paJByhB7vm4q3d95PJ7K6LK5mVHWiTDJMeeM9yIa5BejHwyfqLa10eyz2gSW2VljjIq0SVMso/JCO8fM0Hmtrs1eVnitcIsFllkc2aIvtEpxSNYHd/BGwYYgW4hmTkVubk+Gwc/trZK+V5NXAE9478Ujs3dPdfQbDd0cTOziY1jaUo0Uy6aqvtmeIO8YvSr3efso/0M/8hWF5nVKIiAiIgIiICIiAiIgKCpUFAReXSAKvLaunzWyWstWHOpqsMlqoqpc48uZ+m7qvbIt+/icyrmZ/U9eXSF31OXoN6CLjn5/RZgxe2tVd4zjG1i9YVEsrW5krW2m+2jJtXHkKrPNb2RsnEBUbRbqZNBJ5Ak+y1r32h+jWtH5v3rv8gqdosTz/AFJTT8Lcvn9Fec9RduH+JlxWi1SsfFIyOgc17S4YjphybU7jrRfKb2ufsHlkkgLgd2/pqvvNrsQoQxvWpr5V3V+i+QbSbHmzzZFz431LSdRxa48Qq1gzv21FzSRuDopcfZgtfVgaZGjvYsAJpnVuuWS6u6rxtEn2N02YWdlKOmNHzP8AzPmOTfJo9VotnoGx2+BjwML3hhrkDiFB7kL7zZbI1rQxjQ1o3AUHoFGdXPg17cFc/wANWA9ra5DPIcyM8NfzOPecfZdvZLvaxoaxoa0bgKAK1NK1niI5Dj5DU9FZst2zy507Fh3uFXnyZu6rNXvms51We5rRmQtjd92ukzcCxvPxO6bltLvueKLvAFzvxPOJ3+OgC2NFH29LmPaGNoKDQey9Iih0SiIgIiICIoqglFGJMSCVFVifON2arPnJ0zVTNrLYtPmAVeS07vYLFhJ19svde2xq5mRPbXjM8vmvbIv5vWSlF4fOAnfRx7axSSBqQFUktR3Zczl6VVZwxHMl3tROWs7ItTXixv5jyVOS1zP8LQwcTr6f6WVkAGtB5fyq9mSmn+1UzGd6qNu2pxSOc488mjoM/dWGhjPCB0+qgknVQVfE9Q95PJV3xDf7q2IyeQUsjFaNBcfYea3sh+ta6yF2gy9APNULXYYQDjaZnCpwNaTSgrmAKrqG3cXeN2X4W5ep19FchsrWCjAAOQ1UX5eNnx9fl2+b1FqvSIxswATRANwluENeCTTXQL7xZbBPNm0diwnxPBxEcWs+p6FdEboh7Xt+yj7UAgPwjFnrnqrjWrld9vV/RrruuWOHMAufve84nHrTLpRbMIijtqpOCIiNEREEooqlUEosU0oaKuIA4laO37Rgd2PvH+bvqt4y2RvZJQ0VcQBzWkt+0TW91mbv5uXIXxtB3qSyd7XANR+ojwrWuvSQj7NgZXR0mvmGau60S8jnd+m9t+0r4aSSTBgPhZk4yHgGanp6rfXJfgtTCQ1zXtpjY/ulldDTeCuBu24S92P7R8h1kdkfJtKYW8gu/uTZ/sgHE9/ceR1HMJN+zMtbIR11z+SyCNYpLTQkBueY/wAimq898+I0FPL2Gq6d9N5z9WHyNG/NYjM46f68/wDfRVzIxtaZk8fosTpnOyHsn1tOxYkcN7vT+U9lg7TcBn6lBFvcf55r12lMmigVyJBHvcfQ/upx7gKLyF6DOCoeacUAWbswNSs0cROgwjifosupDiuId5NFljjJ8LepyCtR2UDM948/orAC5X5FzKrHY/xGvsPRWWsAyGS9IottVJwREWNEREBERAREQEREEONMyubvPayKOjWkVccLC7IPPBvErb3wfsX+XzXIWyxxTsMUgDg4CtQOlDTIjcrxmI1eKl734BnPLhr4WjvPfya0Z+gXPTXxPJ3YGiBprVxHaS+lcLD+qp5K9c2zWKR8RdSZlKk+KeInuuDtTTQiuVRxXbXVstHGKuFT016KNXn6iZtcNs3se4vMgDi93ikkcXk86ZCvku7sGycTDifV7uenot7GwNFAAByWuvbaGz2dpdLK0U3A1J6BTO6vI6TMy2EULW6ADosFvvGKFuKR7WjnqfIL5DtL8YpKllkja1umN1XE+Q0C4Wa2268JC1pkld941DQ0cXOcQAMj6K8/De+S7j7bd+3cE9qNnhNXOjLmnLvFniHodOS3BLiaH04L8/XVHHYLRHaHWqOSaE4+zhJkHAtMnhORIoKr9CNtLSAY9CAR5HMfsvRcfX+Of26CzjVy9mTcBRY6GuazMj5dVv4xjoSvbY6rI1udPEeSsssxPiNBwH1U3UipKrho01PAZrOyBx/KPdWo4A3QfVZFyu+qmWGKzNboM+JzKzIii+V8EREBERAREQEREBERAREQEREGK1Q42OZxBH0XFQmuIEbh03H0XdFcZf0Zilc5ujgX04/i96rpiue4pSxyAtkZ/VhJdHU0EjfvRuPBwy9DuW1n27srYRKH1qM2aOYRkWuG5w4LRXffEc1RG8OIzoDp0XCfEfZx5tEckOFrbS7C4ucGNjlAJq5xyaCK5ne1XczV8plsbDab4rySAsi+zGYy1I5lfPrTbp7QagPdXgCa0V9jLDZyBnbp+DS5sDDzIzk6UC3Vgu632ohzi2zx5YWsb2bQNcmNzO7Urr9Jiek3VaWG72xR/wD242gOGGOPsw+Q08T3HOmflkr9hua0WzuwRf8AFs1B4nOcX0rVxLs3nPyG5drdWycTCHyVlk3vkOI9BoM6rqYIaBR/pzxCTv65fZ/4f2WAVcztX5Vc/Oh5N0C727Iu4BkAMqnlX/CqWcVOFgxu300Hmdy3tju0Ad/vHh90cRT6qfvZ+qmesUTa+EFx47laZZK+M9BkFbDVK53drpMx4ZGBkMl7RFChERAREQEREBERAREQEREBERAREQEREArWX7YO1ZVvjZ3m8+Lev0WzUEJLws6+NXLcRhtr5GikbwS38pr3mkcv3W/vGwttVmfDIKh1R5EEkOHMUC6S/wC5znLGM9XtGrvzDmtPZHDRd5rvlws40Vz7JWezAdmwE08Ts3LdRtG4dVl7XEcETTI/eG6N5uJyaPNbWxbOl2c7svwMJA8nOpU9KKdX+1snWpikLnYImmR+8Nzp+p2gHmVuLNcDnZzvy/AwkDq7U9KLd2eytYMLGhreAFAs4UXS5hhs9nawBrGhoG4ZLMiKViIiAiIgIiICIiAiIgIiICIiAiIgIiICIiAiIgIiIIIVCW5oHOxOjFd+ZFfMA0PVbBEnhnGGGzMYMLGho4AUCygKURoiIgIiICIiAiIgIiICIiAiIgIiICIiAiIgIiICIiAiIg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AutoShape 10" descr="data:image/jpeg;base64,/9j/4AAQSkZJRgABAQAAAQABAAD/2wCEAAkGBxQTEhUREhQUFRQUFRQVFRgXGBYUGBAWGBUXFhYXFxcYHCkgGholHBUUIjElJSkrLi4uFx8zOjMsNygtLisBCgoKDg0OFxAQGiwcHx8sLCwsLCwsLCwsLCwsLCwsNywsLCwsLCwsLDcsLCwrLCwsLCwsNywsLCwsLCssLDcsLP/AABEIAJ4BAAMBIgACEQEDEQH/xAAcAAEAAgMBAQEAAAAAAAAAAAAAAQQDBQYCBwj/xAA6EAABAwEFBQYDBwQDAQAAAAABAAIDEQQFEiExBkFRYYETIjJxkaEHsdEjQlJicsHwM4Lh8RRTsiT/xAAYAQEBAQEBAAAAAAAAAAAAAAAAAgEDBP/EAB4RAQEBAQACAwEBAAAAAAAAAAABAhEhUQMSMUET/9oADAMBAAIRAxEAPwD7giIgKVClAREQEREBERAUFSoKAiIgIiICIiAiIgIiICIiAiVWCe1NZ4iAgzqFztt2hrUQtLt1d3qcvmuavHabsXjFO4y/dhj77nf2bhzNAt/EXcfR6qVzOy21ItPckYYpQC7CSCHtGpaRqRlUbqrpWlYqVKIiNEUoghSiICIiAiIgIiICgqVBQEREBERAREQEREBEVa3WksaSwYngZNrSvmdwT9OrKqWu8WRiriMvbz4L5teO31qhl7C3Qts4fURStLnRvP4TiFa8/qq9uvvvYYo3TvB8bzhjYSK7qknPcOqqyZ/XO79Oztu0T3f0m5cTkKceJ6DquUt20EdSMTrQ8asjzDf1GtB/cVQbZJpzSRxk/IwFkY86Zu9V0l07IGgxUY3c1owrnd+k/W1y8slpnNHO7Fv/AFw5uI5yU+QC3dy7HmmTRGDqfvO8zqSu5sN0RxjJoVqSZrASaADUnIDruUW9dJhqbNs5G1op4wQ5j97HDQ/tTgtpd9pxtzoHtJa8A1wvGo+R8iFx20fxLstnBa14e/PLOg/c+y534dbfutN5yxSABs8YLMsNXxV3cS11P7AumZeHjvh9eRQ1StUlERAREQEREBERAREQFBUqCgIiICIiAiglYnzjdmt51nWZYXygc1VfOTpn7D1XnATr6DIf5VzHtl0ySWmpoPQZnqdyw0J5eX7n6LII/RThoq5EvzFtxf0lqnkD9A97QDXut0AA6Lt/hNbG2gf8efKWKhA0E8NKF362GleTm8Fjv3ZOGG0zPkcGtLy4AkbzXzK56+NoorO+KSy0bLC8PBP36fdIG4jEDWmRKj5Mszf4/R1msUbBRjQOiWy2RxjE9zWjiSAF8uvv4ptbDG6JpHasL2OdQ0Bp3SRvaajoF8tvnae021/eLnOOQa3EfQDMrnn4rpd1z8fZdpvipBDVkJxv47ugr818n2i25tNrNC5w1Aa2uXpvKxDZTsgH3jO2ytIqIz9paJByhB7vm4q3d95PJ7K6LK5mVHWiTDJMeeM9yIa5BejHwyfqLa10eyz2gSW2VljjIq0SVMso/JCO8fM0Hmtrs1eVnitcIsFllkc2aIvtEpxSNYHd/BGwYYgW4hmTkVubk+Gwc/trZK+V5NXAE9478Ujs3dPdfQbDd0cTOziY1jaUo0Uy6aqvtmeIO8YvSr3efso/0M/8hWF5nVKIiAiIgIiICIiAiIgKCpUFAReXSAKvLaunzWyWstWHOpqsMlqoqpc48uZ+m7qvbIt+/icyrmZ/U9eXSF31OXoN6CLjn5/RZgxe2tVd4zjG1i9YVEsrW5krW2m+2jJtXHkKrPNb2RsnEBUbRbqZNBJ5Ak+y1r32h+jWtH5v3rv8gqdosTz/AFJTT8Lcvn9Fec9RduH+JlxWi1SsfFIyOgc17S4YjphybU7jrRfKb2ufsHlkkgLgd2/pqvvNrsQoQxvWpr5V3V+i+QbSbHmzzZFz431LSdRxa48Qq1gzv21FzSRuDopcfZgtfVgaZGjvYsAJpnVuuWS6u6rxtEn2N02YWdlKOmNHzP8AzPmOTfJo9VotnoGx2+BjwML3hhrkDiFB7kL7zZbI1rQxjQ1o3AUHoFGdXPg17cFc/wANWA9ra5DPIcyM8NfzOPecfZdvZLvaxoaxoa0bgKAK1NK1niI5Dj5DU9FZst2zy507Fh3uFXnyZu6rNXvms51We5rRmQtjd92ukzcCxvPxO6bltLvueKLvAFzvxPOJ3+OgC2NFH29LmPaGNoKDQey9Iih0SiIgIiICIoqglFGJMSCVFVifON2arPnJ0zVTNrLYtPmAVeS07vYLFhJ19svde2xq5mRPbXjM8vmvbIv5vWSlF4fOAnfRx7axSSBqQFUktR3Zczl6VVZwxHMl3tROWs7ItTXixv5jyVOS1zP8LQwcTr6f6WVkAGtB5fyq9mSmn+1UzGd6qNu2pxSOc488mjoM/dWGhjPCB0+qgknVQVfE9Q95PJV3xDf7q2IyeQUsjFaNBcfYea3sh+ta6yF2gy9APNULXYYQDjaZnCpwNaTSgrmAKrqG3cXeN2X4W5ep19FchsrWCjAAOQ1UX5eNnx9fl2+b1FqvSIxswATRANwluENeCTTXQL7xZbBPNm0diwnxPBxEcWs+p6FdEboh7Xt+yj7UAgPwjFnrnqrjWrld9vV/RrruuWOHMAufve84nHrTLpRbMIijtqpOCIiNEREEooqlUEosU0oaKuIA4laO37Rgd2PvH+bvqt4y2RvZJQ0VcQBzWkt+0TW91mbv5uXIXxtB3qSyd7XANR+ojwrWuvSQj7NgZXR0mvmGau60S8jnd+m9t+0r4aSSTBgPhZk4yHgGanp6rfXJfgtTCQ1zXtpjY/ulldDTeCuBu24S92P7R8h1kdkfJtKYW8gu/uTZ/sgHE9/ceR1HMJN+zMtbIR11z+SyCNYpLTQkBueY/wAimq898+I0FPL2Gq6d9N5z9WHyNG/NYjM46f68/wDfRVzIxtaZk8fosTpnOyHsn1tOxYkcN7vT+U9lg7TcBn6lBFvcf55r12lMmigVyJBHvcfQ/upx7gKLyF6DOCoeacUAWbswNSs0cROgwjifosupDiuId5NFljjJ8LepyCtR2UDM948/orAC5X5FzKrHY/xGvsPRWWsAyGS9IottVJwREWNEREBERAREQEREEONMyubvPayKOjWkVccLC7IPPBvErb3wfsX+XzXIWyxxTsMUgDg4CtQOlDTIjcrxmI1eKl734BnPLhr4WjvPfya0Z+gXPTXxPJ3YGiBprVxHaS+lcLD+qp5K9c2zWKR8RdSZlKk+KeInuuDtTTQiuVRxXbXVstHGKuFT016KNXn6iZtcNs3se4vMgDi93ikkcXk86ZCvku7sGycTDifV7uenot7GwNFAAByWuvbaGz2dpdLK0U3A1J6BTO6vI6TMy2EULW6ADosFvvGKFuKR7WjnqfIL5DtL8YpKllkja1umN1XE+Q0C4Wa2268JC1pkld941DQ0cXOcQAMj6K8/De+S7j7bd+3cE9qNnhNXOjLmnLvFniHodOS3BLiaH04L8/XVHHYLRHaHWqOSaE4+zhJkHAtMnhORIoKr9CNtLSAY9CAR5HMfsvRcfX+Of26CzjVy9mTcBRY6GuazMj5dVv4xjoSvbY6rI1udPEeSsssxPiNBwH1U3UipKrho01PAZrOyBx/KPdWo4A3QfVZFyu+qmWGKzNboM+JzKzIii+V8EREBERAREQEREBERAREQEREGK1Q42OZxBH0XFQmuIEbh03H0XdFcZf0Zilc5ujgX04/i96rpiue4pSxyAtkZ/VhJdHU0EjfvRuPBwy9DuW1n27srYRKH1qM2aOYRkWuG5w4LRXffEc1RG8OIzoDp0XCfEfZx5tEckOFrbS7C4ucGNjlAJq5xyaCK5ne1XczV8plsbDab4rySAsi+zGYy1I5lfPrTbp7QagPdXgCa0V9jLDZyBnbp+DS5sDDzIzk6UC3Vgu632ohzi2zx5YWsb2bQNcmNzO7Urr9Jiek3VaWG72xR/wD242gOGGOPsw+Q08T3HOmflkr9hua0WzuwRf8AFs1B4nOcX0rVxLs3nPyG5drdWycTCHyVlk3vkOI9BoM6rqYIaBR/pzxCTv65fZ/4f2WAVcztX5Vc/Oh5N0C727Iu4BkAMqnlX/CqWcVOFgxu300Hmdy3tju0Ad/vHh90cRT6qfvZ+qmesUTa+EFx47laZZK+M9BkFbDVK53drpMx4ZGBkMl7RFChERAREQEREBERAREQEREBERAREQEREArWX7YO1ZVvjZ3m8+Lev0WzUEJLws6+NXLcRhtr5GikbwS38pr3mkcv3W/vGwttVmfDIKh1R5EEkOHMUC6S/wC5znLGM9XtGrvzDmtPZHDRd5rvlws40Vz7JWezAdmwE08Ts3LdRtG4dVl7XEcETTI/eG6N5uJyaPNbWxbOl2c7svwMJA8nOpU9KKdX+1snWpikLnYImmR+8Nzp+p2gHmVuLNcDnZzvy/AwkDq7U9KLd2eytYMLGhreAFAs4UXS5hhs9nawBrGhoG4ZLMiKViIiAiIgIiICIiAiIgIiICIiAiIgIiICIiAiIgIiIIIVCW5oHOxOjFd+ZFfMA0PVbBEnhnGGGzMYMLGho4AUCygKURoiIgIiICIiAiIgIiICIiAiIgIiICIiAiIgIiICIiAiIg/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Tekstfelt 3"/>
          <p:cNvSpPr txBox="1"/>
          <p:nvPr/>
        </p:nvSpPr>
        <p:spPr>
          <a:xfrm>
            <a:off x="327677" y="173688"/>
            <a:ext cx="6891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Kredsløbsberegninger 3</a:t>
            </a:r>
            <a:r>
              <a:rPr lang="da-DK" sz="3600" b="1">
                <a:solidFill>
                  <a:sysClr val="windowText" lastClr="000000"/>
                </a:solidFill>
                <a:latin typeface="Calibri" panose="020F0502020204030204"/>
              </a:rPr>
              <a:t>.1</a:t>
            </a:r>
            <a:endParaRPr kumimoji="0" lang="da-DK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kstfelt 4"/>
          <p:cNvSpPr txBox="1"/>
          <p:nvPr/>
        </p:nvSpPr>
        <p:spPr>
          <a:xfrm>
            <a:off x="327677" y="2043914"/>
            <a:ext cx="4919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a-DK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Kirchoff´s love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2" descr="http://micro.magnet.fsu.edu/optics/timeline/people/antiqueimages/kirchhof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594" y="173688"/>
            <a:ext cx="4133729" cy="651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a.bimg.dk/node-images/527/8/800x600-u/8527842-hvem-har-hunden-kvik-til-vilhelmsborg--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80" y="3553943"/>
            <a:ext cx="5243361" cy="300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billedforklaring 9"/>
          <p:cNvSpPr/>
          <p:nvPr/>
        </p:nvSpPr>
        <p:spPr>
          <a:xfrm>
            <a:off x="3855285" y="1999475"/>
            <a:ext cx="3363401" cy="1963972"/>
          </a:xfrm>
          <a:prstGeom prst="wedgeEllipseCallout">
            <a:avLst>
              <a:gd name="adj1" fmla="val -76510"/>
              <a:gd name="adj2" fmla="val 96419"/>
            </a:avLst>
          </a:prstGeom>
          <a:solidFill>
            <a:srgbClr val="5B9BD5">
              <a:alpha val="38000"/>
            </a:srgb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kstfelt 5"/>
          <p:cNvSpPr txBox="1"/>
          <p:nvPr/>
        </p:nvSpPr>
        <p:spPr>
          <a:xfrm>
            <a:off x="4521990" y="2431046"/>
            <a:ext cx="28068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 på Kvik!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Det´ en tysker!</a:t>
            </a:r>
          </a:p>
        </p:txBody>
      </p:sp>
      <p:sp>
        <p:nvSpPr>
          <p:cNvPr id="12" name="Højrepil 11"/>
          <p:cNvSpPr/>
          <p:nvPr/>
        </p:nvSpPr>
        <p:spPr>
          <a:xfrm rot="19670139">
            <a:off x="5556855" y="4423240"/>
            <a:ext cx="2476577" cy="1100994"/>
          </a:xfrm>
          <a:prstGeom prst="rightArrow">
            <a:avLst/>
          </a:prstGeom>
          <a:solidFill>
            <a:srgbClr val="5B9BD5">
              <a:alpha val="4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kstfelt 5"/>
          <p:cNvSpPr txBox="1"/>
          <p:nvPr/>
        </p:nvSpPr>
        <p:spPr>
          <a:xfrm>
            <a:off x="889634" y="1404794"/>
            <a:ext cx="68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kumimoji="0" lang="da-DK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I </a:t>
            </a:r>
            <a:r>
              <a:rPr lang="da-DK" dirty="0">
                <a:solidFill>
                  <a:sysClr val="windowText" lastClr="000000"/>
                </a:solidFill>
                <a:latin typeface="Calibri" panose="020F0502020204030204"/>
              </a:rPr>
              <a:t>mere komplicerede </a:t>
            </a:r>
            <a:r>
              <a:rPr kumimoji="0" lang="da-DK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kredse, de såkaldte </a:t>
            </a:r>
            <a:r>
              <a:rPr kumimoji="0" lang="da-DK" i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aktive kredsløb</a:t>
            </a:r>
            <a:r>
              <a:rPr kumimoji="0" lang="da-DK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,</a:t>
            </a:r>
            <a:r>
              <a:rPr kumimoji="0" lang="da-DK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 er det utilstrækkeligt med </a:t>
            </a:r>
            <a:r>
              <a:rPr kumimoji="0" lang="da-DK" i="0" u="none" strike="noStrike" kern="1200" cap="none" spc="0" normalizeH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Ohm’s</a:t>
            </a:r>
            <a:r>
              <a:rPr kumimoji="0" lang="da-DK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 lov og erstatningsmodstande</a:t>
            </a:r>
            <a:endParaRPr kumimoji="0" lang="da-DK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3361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3"/>
          <p:cNvSpPr txBox="1"/>
          <p:nvPr/>
        </p:nvSpPr>
        <p:spPr>
          <a:xfrm>
            <a:off x="685348" y="504180"/>
            <a:ext cx="8512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Kirchoff´s 1. lov</a:t>
            </a:r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16" y="2164732"/>
            <a:ext cx="11168554" cy="295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7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62" y="1679954"/>
            <a:ext cx="11051176" cy="1698583"/>
          </a:xfrm>
          <a:prstGeom prst="rect">
            <a:avLst/>
          </a:prstGeom>
        </p:spPr>
      </p:pic>
      <p:sp>
        <p:nvSpPr>
          <p:cNvPr id="7" name="Tekstfelt 5"/>
          <p:cNvSpPr txBox="1"/>
          <p:nvPr/>
        </p:nvSpPr>
        <p:spPr>
          <a:xfrm>
            <a:off x="802767" y="3907980"/>
            <a:ext cx="106907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 ser på anvendelsen af disse to love ved at gennemgå</a:t>
            </a:r>
            <a:r>
              <a:rPr kumimoji="0" lang="da-DK" sz="28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eksempel 3</a:t>
            </a:r>
            <a:r>
              <a:rPr kumimoji="0" lang="da-DK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.5.1 på tavlen – Vi bruger dog lommeregneren - 3 ligninger med 3 ubekendte. Løsning af dette ”i hånden”, det gider vi ikke!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 det betyder så også, at du skal have en klog lommeregner!</a:t>
            </a:r>
          </a:p>
        </p:txBody>
      </p:sp>
      <p:sp>
        <p:nvSpPr>
          <p:cNvPr id="8" name="Tekstfelt 3"/>
          <p:cNvSpPr txBox="1"/>
          <p:nvPr/>
        </p:nvSpPr>
        <p:spPr>
          <a:xfrm>
            <a:off x="685348" y="504180"/>
            <a:ext cx="8512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6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Kirchoff´s</a:t>
            </a:r>
            <a:r>
              <a:rPr kumimoji="0" lang="da-DK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2. lov</a:t>
            </a:r>
          </a:p>
        </p:txBody>
      </p:sp>
    </p:spTree>
    <p:extLst>
      <p:ext uri="{BB962C8B-B14F-4D97-AF65-F5344CB8AC3E}">
        <p14:creationId xmlns:p14="http://schemas.microsoft.com/office/powerpoint/2010/main" val="315786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/>
          <p:cNvGrpSpPr>
            <a:grpSpLocks noChangeAspect="1"/>
          </p:cNvGrpSpPr>
          <p:nvPr/>
        </p:nvGrpSpPr>
        <p:grpSpPr>
          <a:xfrm>
            <a:off x="7838825" y="266421"/>
            <a:ext cx="3184155" cy="2211119"/>
            <a:chOff x="2018280" y="1768570"/>
            <a:chExt cx="6835521" cy="4746675"/>
          </a:xfrm>
        </p:grpSpPr>
        <p:pic>
          <p:nvPicPr>
            <p:cNvPr id="3" name="Billede 2"/>
            <p:cNvPicPr>
              <a:picLocks noChangeAspect="1"/>
            </p:cNvPicPr>
            <p:nvPr/>
          </p:nvPicPr>
          <p:blipFill rotWithShape="1">
            <a:blip r:embed="rId2"/>
            <a:srcRect l="3724" t="5901" r="5456" b="7973"/>
            <a:stretch/>
          </p:blipFill>
          <p:spPr>
            <a:xfrm>
              <a:off x="2018280" y="1768570"/>
              <a:ext cx="6835521" cy="47466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Rektangel 9"/>
            <p:cNvSpPr/>
            <p:nvPr/>
          </p:nvSpPr>
          <p:spPr>
            <a:xfrm>
              <a:off x="2085233" y="2373430"/>
              <a:ext cx="1024822" cy="7634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" name="Rektangel 10"/>
            <p:cNvSpPr/>
            <p:nvPr/>
          </p:nvSpPr>
          <p:spPr>
            <a:xfrm>
              <a:off x="4832996" y="2373429"/>
              <a:ext cx="1024822" cy="7634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2" name="Rektangel 11"/>
            <p:cNvSpPr/>
            <p:nvPr/>
          </p:nvSpPr>
          <p:spPr>
            <a:xfrm>
              <a:off x="7754146" y="2336569"/>
              <a:ext cx="1024822" cy="7634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6" name="Lige forbindelse 5"/>
            <p:cNvCxnSpPr/>
            <p:nvPr/>
          </p:nvCxnSpPr>
          <p:spPr>
            <a:xfrm flipH="1">
              <a:off x="2431099" y="2233983"/>
              <a:ext cx="10951" cy="10731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Lige forbindelse 13"/>
            <p:cNvCxnSpPr/>
            <p:nvPr/>
          </p:nvCxnSpPr>
          <p:spPr>
            <a:xfrm flipH="1">
              <a:off x="5195290" y="2275857"/>
              <a:ext cx="10951" cy="10731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Lige forbindelse 14"/>
            <p:cNvCxnSpPr/>
            <p:nvPr/>
          </p:nvCxnSpPr>
          <p:spPr>
            <a:xfrm flipH="1">
              <a:off x="8151917" y="2241077"/>
              <a:ext cx="10951" cy="10731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cxnSp>
        <p:nvCxnSpPr>
          <p:cNvPr id="21" name="Lige pilforbindelse 20"/>
          <p:cNvCxnSpPr/>
          <p:nvPr/>
        </p:nvCxnSpPr>
        <p:spPr>
          <a:xfrm flipV="1">
            <a:off x="5611091" y="571998"/>
            <a:ext cx="2475451" cy="217712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6"/>
          <p:cNvSpPr/>
          <p:nvPr/>
        </p:nvSpPr>
        <p:spPr>
          <a:xfrm>
            <a:off x="818136" y="650665"/>
            <a:ext cx="70761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08582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B49F8261-9CC5-9A7F-F6A5-50AACF4A1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730" y="360351"/>
            <a:ext cx="3622598" cy="2427287"/>
          </a:xfrm>
          <a:prstGeom prst="rect">
            <a:avLst/>
          </a:prstGeom>
        </p:spPr>
      </p:pic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sp>
        <p:nvSpPr>
          <p:cNvPr id="22" name="Rektangel 21"/>
          <p:cNvSpPr/>
          <p:nvPr/>
        </p:nvSpPr>
        <p:spPr>
          <a:xfrm>
            <a:off x="818136" y="650665"/>
            <a:ext cx="70761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 strømveje skal med…</a:t>
            </a:r>
          </a:p>
        </p:txBody>
      </p:sp>
      <p:cxnSp>
        <p:nvCxnSpPr>
          <p:cNvPr id="23" name="Lige pilforbindelse 22"/>
          <p:cNvCxnSpPr>
            <a:cxnSpLocks/>
          </p:cNvCxnSpPr>
          <p:nvPr/>
        </p:nvCxnSpPr>
        <p:spPr>
          <a:xfrm flipV="1">
            <a:off x="5719156" y="857250"/>
            <a:ext cx="2278621" cy="500495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ge pilforbindelse 23"/>
          <p:cNvCxnSpPr>
            <a:cxnSpLocks/>
          </p:cNvCxnSpPr>
          <p:nvPr/>
        </p:nvCxnSpPr>
        <p:spPr>
          <a:xfrm flipV="1">
            <a:off x="5719156" y="825500"/>
            <a:ext cx="3659794" cy="532245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ge pilforbindelse 24"/>
          <p:cNvCxnSpPr>
            <a:cxnSpLocks/>
          </p:cNvCxnSpPr>
          <p:nvPr/>
        </p:nvCxnSpPr>
        <p:spPr>
          <a:xfrm flipV="1">
            <a:off x="5719156" y="889000"/>
            <a:ext cx="5101244" cy="468745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7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B9363B17-B517-7DFE-E373-1AA8EB82E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730" y="360351"/>
            <a:ext cx="3622598" cy="2427287"/>
          </a:xfrm>
          <a:prstGeom prst="rect">
            <a:avLst/>
          </a:prstGeom>
        </p:spPr>
      </p:pic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sp>
        <p:nvSpPr>
          <p:cNvPr id="11" name="Rektangel 10"/>
          <p:cNvSpPr/>
          <p:nvPr/>
        </p:nvSpPr>
        <p:spPr>
          <a:xfrm>
            <a:off x="818136" y="650665"/>
            <a:ext cx="70761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Så indsættes knudepunkter (1. lov).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F.eks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i punkt a. (</a:t>
            </a:r>
            <a:r>
              <a:rPr lang="da-DK" b="1" i="1" u="sng" dirty="0">
                <a:solidFill>
                  <a:prstClr val="black"/>
                </a:solidFill>
                <a:latin typeface="Calibri" panose="020F0502020204030204"/>
              </a:rPr>
              <a:t>alle strømme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cxnSp>
        <p:nvCxnSpPr>
          <p:cNvPr id="26" name="Lige pilforbindelse 25"/>
          <p:cNvCxnSpPr>
            <a:cxnSpLocks/>
            <a:endCxn id="27" idx="3"/>
          </p:cNvCxnSpPr>
          <p:nvPr/>
        </p:nvCxnSpPr>
        <p:spPr>
          <a:xfrm flipV="1">
            <a:off x="5968538" y="694008"/>
            <a:ext cx="3370787" cy="1145876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lipse 26"/>
          <p:cNvSpPr/>
          <p:nvPr/>
        </p:nvSpPr>
        <p:spPr>
          <a:xfrm>
            <a:off x="9318787" y="589369"/>
            <a:ext cx="140242" cy="12259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592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8A584BE3-4799-D6C2-1628-6656C4D91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730" y="2828246"/>
            <a:ext cx="3622598" cy="2392152"/>
          </a:xfrm>
          <a:prstGeom prst="rect">
            <a:avLst/>
          </a:prstGeom>
        </p:spPr>
      </p:pic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sp>
        <p:nvSpPr>
          <p:cNvPr id="11" name="Rektangel 10"/>
          <p:cNvSpPr/>
          <p:nvPr/>
        </p:nvSpPr>
        <p:spPr>
          <a:xfrm>
            <a:off x="818136" y="650665"/>
            <a:ext cx="733387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Så indsættes knudepunkter (1. lov).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F.eks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i punkt a. (</a:t>
            </a:r>
            <a:r>
              <a:rPr lang="da-DK" b="1" i="1" u="sng" dirty="0">
                <a:solidFill>
                  <a:prstClr val="black"/>
                </a:solidFill>
                <a:latin typeface="Calibri" panose="020F0502020204030204"/>
              </a:rPr>
              <a:t>alle strømme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Regneretninger vælges og indsættes</a:t>
            </a:r>
          </a:p>
        </p:txBody>
      </p:sp>
      <p:cxnSp>
        <p:nvCxnSpPr>
          <p:cNvPr id="13" name="Lige pilforbindelse 12"/>
          <p:cNvCxnSpPr>
            <a:cxnSpLocks/>
          </p:cNvCxnSpPr>
          <p:nvPr/>
        </p:nvCxnSpPr>
        <p:spPr>
          <a:xfrm>
            <a:off x="4731327" y="2544747"/>
            <a:ext cx="5225473" cy="979503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pilforbindelse 16"/>
          <p:cNvCxnSpPr>
            <a:cxnSpLocks/>
          </p:cNvCxnSpPr>
          <p:nvPr/>
        </p:nvCxnSpPr>
        <p:spPr>
          <a:xfrm>
            <a:off x="4731327" y="2544747"/>
            <a:ext cx="3796723" cy="979503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/>
          <p:cNvSpPr/>
          <p:nvPr/>
        </p:nvSpPr>
        <p:spPr>
          <a:xfrm>
            <a:off x="9254046" y="423413"/>
            <a:ext cx="140242" cy="12259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86CD2181-93C2-A5F2-DD67-8E185D48E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730" y="360351"/>
            <a:ext cx="3622598" cy="2427287"/>
          </a:xfrm>
          <a:prstGeom prst="rect">
            <a:avLst/>
          </a:prstGeom>
        </p:spPr>
      </p:pic>
      <p:sp>
        <p:nvSpPr>
          <p:cNvPr id="20" name="Ellipse 19"/>
          <p:cNvSpPr/>
          <p:nvPr/>
        </p:nvSpPr>
        <p:spPr>
          <a:xfrm>
            <a:off x="9318787" y="609067"/>
            <a:ext cx="140242" cy="12259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8501E57-C479-BC3D-C436-C2694743C7BF}"/>
              </a:ext>
            </a:extLst>
          </p:cNvPr>
          <p:cNvSpPr/>
          <p:nvPr/>
        </p:nvSpPr>
        <p:spPr>
          <a:xfrm>
            <a:off x="9318787" y="2973202"/>
            <a:ext cx="140242" cy="12259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1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sp>
        <p:nvSpPr>
          <p:cNvPr id="11" name="Rektangel 10"/>
          <p:cNvSpPr/>
          <p:nvPr/>
        </p:nvSpPr>
        <p:spPr>
          <a:xfrm>
            <a:off x="818136" y="650665"/>
            <a:ext cx="707610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Så indsættes knudepunkter (1. lov).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F.eks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i punkt a. (</a:t>
            </a:r>
            <a:r>
              <a:rPr lang="da-DK" b="1" i="1" u="sng" dirty="0">
                <a:solidFill>
                  <a:prstClr val="black"/>
                </a:solidFill>
                <a:latin typeface="Calibri" panose="020F0502020204030204"/>
              </a:rPr>
              <a:t>alle strømme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Regneretninger vælges og indsættes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Ligninger opstilles (1. og 2. lov) og udregnes. Tænke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tænke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7259B9E5-B299-1A6B-00A0-166F55761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730" y="2828246"/>
            <a:ext cx="3622598" cy="2392152"/>
          </a:xfrm>
          <a:prstGeom prst="rect">
            <a:avLst/>
          </a:prstGeom>
        </p:spPr>
      </p:pic>
      <p:sp>
        <p:nvSpPr>
          <p:cNvPr id="14" name="Ellipse 13"/>
          <p:cNvSpPr/>
          <p:nvPr/>
        </p:nvSpPr>
        <p:spPr>
          <a:xfrm>
            <a:off x="9318787" y="2973195"/>
            <a:ext cx="140242" cy="12259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515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/>
        </p:nvSpPr>
        <p:spPr>
          <a:xfrm>
            <a:off x="818136" y="650665"/>
            <a:ext cx="749715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Så indsættes knudepunkter (1. lov).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F.eks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i punkt a. (</a:t>
            </a:r>
            <a:r>
              <a:rPr lang="da-DK" b="1" i="1" u="sng" dirty="0">
                <a:solidFill>
                  <a:prstClr val="black"/>
                </a:solidFill>
                <a:latin typeface="Calibri" panose="020F0502020204030204"/>
              </a:rPr>
              <a:t>alle strømme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Regneretninger vælges og indsættes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Ligninger opstilles (1. og 2. lov) og udregnes. Tænke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tænke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Min metode for løsning af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Kirchoff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opgaver: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knudepunkter. Ind i knudepunkt er = Ud af knude…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angivne regneretninger. Alle EMK = spændingsfald (I*R)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		VI TAGER DEN SAMMEN PÅ TAVLEN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sp>
        <p:nvSpPr>
          <p:cNvPr id="15" name="Tekstfelt 11"/>
          <p:cNvSpPr txBox="1"/>
          <p:nvPr/>
        </p:nvSpPr>
        <p:spPr>
          <a:xfrm>
            <a:off x="6037810" y="5549304"/>
            <a:ext cx="5890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Vi husker at den </a:t>
            </a:r>
            <a:r>
              <a:rPr lang="da-DK" i="1" dirty="0" err="1">
                <a:solidFill>
                  <a:sysClr val="windowText" lastClr="000000"/>
                </a:solidFill>
                <a:latin typeface="Calibri" panose="020F0502020204030204"/>
              </a:rPr>
              <a:t>bette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 streg er minus og den store er plus. </a:t>
            </a:r>
          </a:p>
          <a:p>
            <a:pPr lvl="0">
              <a:defRPr/>
            </a:pPr>
            <a:endParaRPr lang="da-DK" i="1" dirty="0">
              <a:solidFill>
                <a:sysClr val="windowText" lastClr="00000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da-DK" b="1" i="1" dirty="0">
                <a:solidFill>
                  <a:sysClr val="windowText" lastClr="000000"/>
                </a:solidFill>
                <a:latin typeface="Calibri" panose="020F0502020204030204"/>
              </a:rPr>
              <a:t>Går vi fra – pol til +pol i EMK ift. regneretningen, så skrives E med positivt fortegn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. Omvendt = negativt fortegn</a:t>
            </a:r>
          </a:p>
        </p:txBody>
      </p:sp>
      <p:grpSp>
        <p:nvGrpSpPr>
          <p:cNvPr id="4" name="Gruppe 3"/>
          <p:cNvGrpSpPr/>
          <p:nvPr/>
        </p:nvGrpSpPr>
        <p:grpSpPr>
          <a:xfrm>
            <a:off x="6620935" y="4759295"/>
            <a:ext cx="852056" cy="776562"/>
            <a:chOff x="921672" y="3473528"/>
            <a:chExt cx="852056" cy="776562"/>
          </a:xfrm>
        </p:grpSpPr>
        <p:pic>
          <p:nvPicPr>
            <p:cNvPr id="16" name="Billede 15"/>
            <p:cNvPicPr>
              <a:picLocks noChangeAspect="1"/>
            </p:cNvPicPr>
            <p:nvPr/>
          </p:nvPicPr>
          <p:blipFill rotWithShape="1">
            <a:blip r:embed="rId2"/>
            <a:srcRect l="18092" r="11449"/>
            <a:stretch/>
          </p:blipFill>
          <p:spPr>
            <a:xfrm>
              <a:off x="921672" y="3557868"/>
              <a:ext cx="852056" cy="692222"/>
            </a:xfrm>
            <a:prstGeom prst="rect">
              <a:avLst/>
            </a:prstGeom>
          </p:spPr>
        </p:pic>
        <p:sp>
          <p:nvSpPr>
            <p:cNvPr id="19" name="Rektangel 18"/>
            <p:cNvSpPr/>
            <p:nvPr/>
          </p:nvSpPr>
          <p:spPr>
            <a:xfrm>
              <a:off x="986376" y="347352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p:grpSp>
        <p:nvGrpSpPr>
          <p:cNvPr id="6" name="Gruppe 5"/>
          <p:cNvGrpSpPr/>
          <p:nvPr/>
        </p:nvGrpSpPr>
        <p:grpSpPr>
          <a:xfrm>
            <a:off x="7680263" y="4759295"/>
            <a:ext cx="635028" cy="607560"/>
            <a:chOff x="7680263" y="4759295"/>
            <a:chExt cx="635028" cy="607560"/>
          </a:xfrm>
        </p:grpSpPr>
        <p:sp>
          <p:nvSpPr>
            <p:cNvPr id="5" name="Tekstfelt 4"/>
            <p:cNvSpPr txBox="1"/>
            <p:nvPr/>
          </p:nvSpPr>
          <p:spPr>
            <a:xfrm>
              <a:off x="7680263" y="4843635"/>
              <a:ext cx="635028" cy="5232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sz="28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17" name="Rektangel 16"/>
            <p:cNvSpPr/>
            <p:nvPr/>
          </p:nvSpPr>
          <p:spPr>
            <a:xfrm>
              <a:off x="7900416" y="4759295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p:pic>
        <p:nvPicPr>
          <p:cNvPr id="2" name="Billede 1">
            <a:extLst>
              <a:ext uri="{FF2B5EF4-FFF2-40B4-BE49-F238E27FC236}">
                <a16:creationId xmlns:a16="http://schemas.microsoft.com/office/drawing/2014/main" id="{F693DABD-84D0-31F1-4328-07B20A6FA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88" y="2828246"/>
            <a:ext cx="3052040" cy="2015389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DED6E81F-F2DE-39D4-F456-4273D91B28AA}"/>
              </a:ext>
            </a:extLst>
          </p:cNvPr>
          <p:cNvSpPr/>
          <p:nvPr/>
        </p:nvSpPr>
        <p:spPr>
          <a:xfrm>
            <a:off x="9647159" y="2966845"/>
            <a:ext cx="110320" cy="10328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474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/>
        </p:nvSpPr>
        <p:spPr>
          <a:xfrm>
            <a:off x="818136" y="650665"/>
            <a:ext cx="707610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Så indsættes knudepunkter (1. lov).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F.eks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i punkt a. (</a:t>
            </a:r>
            <a:r>
              <a:rPr lang="da-DK" b="1" i="1" u="sng" dirty="0">
                <a:solidFill>
                  <a:prstClr val="black"/>
                </a:solidFill>
                <a:latin typeface="Calibri" panose="020F0502020204030204"/>
              </a:rPr>
              <a:t>alle strømme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Regneretninger vælges og indsættes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Ligninger opstilles (1. og 2. lov) og udregnes. Tænke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tænke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Min metode for løsning af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Kirchoff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opgaver: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knudepunkter. Ind i knudepunkt er = Ud af knude…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angivne regneretninger. Alle EMK = I1 * R1…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Knudepunkter: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1. 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Ligninger i.f.t regneretning: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2. 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3. 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sp>
        <p:nvSpPr>
          <p:cNvPr id="15" name="Tekstfelt 11"/>
          <p:cNvSpPr txBox="1"/>
          <p:nvPr/>
        </p:nvSpPr>
        <p:spPr>
          <a:xfrm>
            <a:off x="6037810" y="5549304"/>
            <a:ext cx="5890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Vi husker at den </a:t>
            </a:r>
            <a:r>
              <a:rPr lang="da-DK" i="1" dirty="0" err="1">
                <a:solidFill>
                  <a:sysClr val="windowText" lastClr="000000"/>
                </a:solidFill>
                <a:latin typeface="Calibri" panose="020F0502020204030204"/>
              </a:rPr>
              <a:t>bette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 streg er minus og den store er plus. </a:t>
            </a:r>
          </a:p>
          <a:p>
            <a:pPr lvl="0">
              <a:defRPr/>
            </a:pPr>
            <a:endParaRPr lang="da-DK" i="1" dirty="0">
              <a:solidFill>
                <a:sysClr val="windowText" lastClr="00000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da-DK" b="1" i="1" dirty="0">
                <a:solidFill>
                  <a:sysClr val="windowText" lastClr="000000"/>
                </a:solidFill>
                <a:latin typeface="Calibri" panose="020F0502020204030204"/>
              </a:rPr>
              <a:t>Går vi fra – pol til +pol i EMK ift. regneretningen, så skrives E med positivt fortegn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. Omvendt = negativt fortegn</a:t>
            </a:r>
          </a:p>
        </p:txBody>
      </p:sp>
      <p:grpSp>
        <p:nvGrpSpPr>
          <p:cNvPr id="4" name="Gruppe 3"/>
          <p:cNvGrpSpPr/>
          <p:nvPr/>
        </p:nvGrpSpPr>
        <p:grpSpPr>
          <a:xfrm>
            <a:off x="6620935" y="4759295"/>
            <a:ext cx="852056" cy="776562"/>
            <a:chOff x="921672" y="3473528"/>
            <a:chExt cx="852056" cy="776562"/>
          </a:xfrm>
        </p:grpSpPr>
        <p:pic>
          <p:nvPicPr>
            <p:cNvPr id="16" name="Billede 15"/>
            <p:cNvPicPr>
              <a:picLocks noChangeAspect="1"/>
            </p:cNvPicPr>
            <p:nvPr/>
          </p:nvPicPr>
          <p:blipFill rotWithShape="1">
            <a:blip r:embed="rId2"/>
            <a:srcRect l="18092" r="11449"/>
            <a:stretch/>
          </p:blipFill>
          <p:spPr>
            <a:xfrm>
              <a:off x="921672" y="3557868"/>
              <a:ext cx="852056" cy="692222"/>
            </a:xfrm>
            <a:prstGeom prst="rect">
              <a:avLst/>
            </a:prstGeom>
          </p:spPr>
        </p:pic>
        <p:sp>
          <p:nvSpPr>
            <p:cNvPr id="19" name="Rektangel 18"/>
            <p:cNvSpPr/>
            <p:nvPr/>
          </p:nvSpPr>
          <p:spPr>
            <a:xfrm>
              <a:off x="986376" y="347352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p:grpSp>
        <p:nvGrpSpPr>
          <p:cNvPr id="6" name="Gruppe 5"/>
          <p:cNvGrpSpPr/>
          <p:nvPr/>
        </p:nvGrpSpPr>
        <p:grpSpPr>
          <a:xfrm>
            <a:off x="7680263" y="4759295"/>
            <a:ext cx="635028" cy="607560"/>
            <a:chOff x="7680263" y="4759295"/>
            <a:chExt cx="635028" cy="607560"/>
          </a:xfrm>
        </p:grpSpPr>
        <p:sp>
          <p:nvSpPr>
            <p:cNvPr id="5" name="Tekstfelt 4"/>
            <p:cNvSpPr txBox="1"/>
            <p:nvPr/>
          </p:nvSpPr>
          <p:spPr>
            <a:xfrm>
              <a:off x="7680263" y="4843635"/>
              <a:ext cx="635028" cy="5232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sz="28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17" name="Rektangel 16"/>
            <p:cNvSpPr/>
            <p:nvPr/>
          </p:nvSpPr>
          <p:spPr>
            <a:xfrm>
              <a:off x="7900416" y="4759295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kstfelt 1"/>
              <p:cNvSpPr txBox="1"/>
              <p:nvPr/>
            </p:nvSpPr>
            <p:spPr>
              <a:xfrm>
                <a:off x="1531837" y="4802989"/>
                <a:ext cx="1181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" name="Tekstfel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837" y="4802989"/>
                <a:ext cx="1181798" cy="276999"/>
              </a:xfrm>
              <a:prstGeom prst="rect">
                <a:avLst/>
              </a:prstGeom>
              <a:blipFill>
                <a:blip r:embed="rId4"/>
                <a:stretch>
                  <a:fillRect l="-3608" r="-1031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/>
              <p:cNvSpPr txBox="1"/>
              <p:nvPr/>
            </p:nvSpPr>
            <p:spPr>
              <a:xfrm>
                <a:off x="1525453" y="5649489"/>
                <a:ext cx="2554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453" y="5649489"/>
                <a:ext cx="2554867" cy="276999"/>
              </a:xfrm>
              <a:prstGeom prst="rect">
                <a:avLst/>
              </a:prstGeom>
              <a:blipFill>
                <a:blip r:embed="rId5"/>
                <a:stretch>
                  <a:fillRect l="-1432" r="-239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felt 7"/>
              <p:cNvSpPr txBox="1"/>
              <p:nvPr/>
            </p:nvSpPr>
            <p:spPr>
              <a:xfrm>
                <a:off x="1353686" y="6193897"/>
                <a:ext cx="2192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a-DK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kstfel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686" y="6193897"/>
                <a:ext cx="2192267" cy="276999"/>
              </a:xfrm>
              <a:prstGeom prst="rect">
                <a:avLst/>
              </a:prstGeom>
              <a:blipFill>
                <a:blip r:embed="rId6"/>
                <a:stretch>
                  <a:fillRect r="-1667" b="-1777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Billede 11">
            <a:extLst>
              <a:ext uri="{FF2B5EF4-FFF2-40B4-BE49-F238E27FC236}">
                <a16:creationId xmlns:a16="http://schemas.microsoft.com/office/drawing/2014/main" id="{26E31260-6CD4-A5D9-86CA-46B68682DF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288" y="2828246"/>
            <a:ext cx="3052040" cy="2015389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CADC0D91-D104-D351-6EB4-E4A40995D730}"/>
              </a:ext>
            </a:extLst>
          </p:cNvPr>
          <p:cNvSpPr/>
          <p:nvPr/>
        </p:nvSpPr>
        <p:spPr>
          <a:xfrm>
            <a:off x="9647159" y="2966845"/>
            <a:ext cx="110320" cy="10328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447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/>
        </p:nvSpPr>
        <p:spPr>
          <a:xfrm>
            <a:off x="818136" y="650665"/>
            <a:ext cx="707610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Så indsættes knudepunkter (1. lov).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F.eks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i punkt a. (</a:t>
            </a:r>
            <a:r>
              <a:rPr lang="da-DK" b="1" i="1" u="sng" dirty="0">
                <a:solidFill>
                  <a:prstClr val="black"/>
                </a:solidFill>
                <a:latin typeface="Calibri" panose="020F0502020204030204"/>
              </a:rPr>
              <a:t>alle strømme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Regneretninger vælges og indsættes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Ligninger opstilles (1. og 2. lov) og udregnes. Tænke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tænke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Min metode for løsning af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Kirchoff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opgaver: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knudepunkter. Ind i knudepunkt er = Ud af knude…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angivne regneretninger. Alle EMK = I1 x R1…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srgbClr val="FF0000"/>
                </a:solidFill>
                <a:latin typeface="Calibri" panose="020F0502020204030204"/>
              </a:rPr>
              <a:t>For forståelsens skyld regner vi en gammel opgave sammen:</a:t>
            </a:r>
          </a:p>
          <a:p>
            <a:pPr lvl="0"/>
            <a:r>
              <a:rPr lang="da-DK" b="1" dirty="0">
                <a:solidFill>
                  <a:srgbClr val="FF0000"/>
                </a:solidFill>
                <a:latin typeface="Calibri" panose="020F0502020204030204"/>
              </a:rPr>
              <a:t>(Maskinmestereksamen Januar 2015)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sp>
        <p:nvSpPr>
          <p:cNvPr id="15" name="Tekstfelt 11"/>
          <p:cNvSpPr txBox="1"/>
          <p:nvPr/>
        </p:nvSpPr>
        <p:spPr>
          <a:xfrm>
            <a:off x="6037810" y="5549304"/>
            <a:ext cx="5890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Vi husker at den </a:t>
            </a:r>
            <a:r>
              <a:rPr lang="da-DK" i="1" dirty="0" err="1">
                <a:solidFill>
                  <a:sysClr val="windowText" lastClr="000000"/>
                </a:solidFill>
                <a:latin typeface="Calibri" panose="020F0502020204030204"/>
              </a:rPr>
              <a:t>bette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 streg er minus og den store er plus. </a:t>
            </a:r>
          </a:p>
          <a:p>
            <a:pPr lvl="0">
              <a:defRPr/>
            </a:pPr>
            <a:endParaRPr lang="da-DK" i="1" dirty="0">
              <a:solidFill>
                <a:sysClr val="windowText" lastClr="00000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da-DK" b="1" i="1" dirty="0">
                <a:solidFill>
                  <a:sysClr val="windowText" lastClr="000000"/>
                </a:solidFill>
                <a:latin typeface="Calibri" panose="020F0502020204030204"/>
              </a:rPr>
              <a:t>Går vi fra – pol til +pol i EMK ift. regneretningen, så skrives E med positivt fortegn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. Omvendt = negativt fortegn</a:t>
            </a:r>
          </a:p>
        </p:txBody>
      </p:sp>
      <p:grpSp>
        <p:nvGrpSpPr>
          <p:cNvPr id="4" name="Gruppe 3"/>
          <p:cNvGrpSpPr/>
          <p:nvPr/>
        </p:nvGrpSpPr>
        <p:grpSpPr>
          <a:xfrm>
            <a:off x="6620935" y="4759295"/>
            <a:ext cx="852056" cy="776562"/>
            <a:chOff x="921672" y="3473528"/>
            <a:chExt cx="852056" cy="776562"/>
          </a:xfrm>
        </p:grpSpPr>
        <p:pic>
          <p:nvPicPr>
            <p:cNvPr id="16" name="Billede 15"/>
            <p:cNvPicPr>
              <a:picLocks noChangeAspect="1"/>
            </p:cNvPicPr>
            <p:nvPr/>
          </p:nvPicPr>
          <p:blipFill rotWithShape="1">
            <a:blip r:embed="rId2"/>
            <a:srcRect l="18092" r="11449"/>
            <a:stretch/>
          </p:blipFill>
          <p:spPr>
            <a:xfrm>
              <a:off x="921672" y="3557868"/>
              <a:ext cx="852056" cy="692222"/>
            </a:xfrm>
            <a:prstGeom prst="rect">
              <a:avLst/>
            </a:prstGeom>
          </p:spPr>
        </p:pic>
        <p:sp>
          <p:nvSpPr>
            <p:cNvPr id="19" name="Rektangel 18"/>
            <p:cNvSpPr/>
            <p:nvPr/>
          </p:nvSpPr>
          <p:spPr>
            <a:xfrm>
              <a:off x="986376" y="347352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p:grpSp>
        <p:nvGrpSpPr>
          <p:cNvPr id="6" name="Gruppe 5"/>
          <p:cNvGrpSpPr/>
          <p:nvPr/>
        </p:nvGrpSpPr>
        <p:grpSpPr>
          <a:xfrm>
            <a:off x="7680263" y="4759295"/>
            <a:ext cx="635028" cy="607560"/>
            <a:chOff x="7680263" y="4759295"/>
            <a:chExt cx="635028" cy="607560"/>
          </a:xfrm>
        </p:grpSpPr>
        <p:sp>
          <p:nvSpPr>
            <p:cNvPr id="5" name="Tekstfelt 4"/>
            <p:cNvSpPr txBox="1"/>
            <p:nvPr/>
          </p:nvSpPr>
          <p:spPr>
            <a:xfrm>
              <a:off x="7680263" y="4843635"/>
              <a:ext cx="635028" cy="5232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sz="28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17" name="Rektangel 16"/>
            <p:cNvSpPr/>
            <p:nvPr/>
          </p:nvSpPr>
          <p:spPr>
            <a:xfrm>
              <a:off x="7900416" y="4759295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p:pic>
        <p:nvPicPr>
          <p:cNvPr id="2" name="Billede 1">
            <a:extLst>
              <a:ext uri="{FF2B5EF4-FFF2-40B4-BE49-F238E27FC236}">
                <a16:creationId xmlns:a16="http://schemas.microsoft.com/office/drawing/2014/main" id="{8556CD1A-6E69-3E20-9BB5-F3F9296E3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88" y="2828246"/>
            <a:ext cx="3052040" cy="2015389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756648D7-22DF-04C9-0B57-02D9B1EFEC7E}"/>
              </a:ext>
            </a:extLst>
          </p:cNvPr>
          <p:cNvSpPr/>
          <p:nvPr/>
        </p:nvSpPr>
        <p:spPr>
          <a:xfrm>
            <a:off x="9647159" y="2966845"/>
            <a:ext cx="110320" cy="10328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867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812" y="48467"/>
            <a:ext cx="6998577" cy="677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8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/>
        </p:nvSpPr>
        <p:spPr>
          <a:xfrm>
            <a:off x="2765878" y="234979"/>
            <a:ext cx="2829825" cy="9787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Så indsættes knudepunkter (1. lov).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F.eks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i punkt a. (</a:t>
            </a:r>
            <a:r>
              <a:rPr lang="da-DK" b="1" i="1" u="sng" dirty="0">
                <a:solidFill>
                  <a:prstClr val="black"/>
                </a:solidFill>
                <a:latin typeface="Calibri" panose="020F0502020204030204"/>
              </a:rPr>
              <a:t>alle strømme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Regneretninger indsættes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Ligninger opstilles (1. og 2. lov) og udregnes. Tænke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tænke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Min metode for løsning af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Kirchoff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opgaver: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knudepunkter. Ind i knudepunkt er = Ud af knude…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angivne regneretninger. Alle EMK = I1 x R1…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Knudepunkter: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1. 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2. 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3. 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Rektangel 17"/>
          <p:cNvSpPr/>
          <p:nvPr/>
        </p:nvSpPr>
        <p:spPr>
          <a:xfrm>
            <a:off x="921672" y="42745"/>
            <a:ext cx="707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a-DK" sz="2400" b="1" dirty="0">
                <a:solidFill>
                  <a:prstClr val="black"/>
                </a:solidFill>
                <a:latin typeface="Calibri" panose="020F0502020204030204"/>
              </a:rPr>
              <a:t>Huskeregler/opskrift – i uddrag fra side 47-50 bog 1</a:t>
            </a:r>
          </a:p>
        </p:txBody>
      </p:sp>
      <p:sp>
        <p:nvSpPr>
          <p:cNvPr id="15" name="Tekstfelt 11"/>
          <p:cNvSpPr txBox="1"/>
          <p:nvPr/>
        </p:nvSpPr>
        <p:spPr>
          <a:xfrm>
            <a:off x="6037810" y="5549304"/>
            <a:ext cx="5890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Vi husker at den </a:t>
            </a:r>
            <a:r>
              <a:rPr lang="da-DK" i="1" dirty="0" err="1">
                <a:solidFill>
                  <a:sysClr val="windowText" lastClr="000000"/>
                </a:solidFill>
                <a:latin typeface="Calibri" panose="020F0502020204030204"/>
              </a:rPr>
              <a:t>bette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 streg er minus og den store er plus. </a:t>
            </a:r>
          </a:p>
          <a:p>
            <a:pPr lvl="0">
              <a:defRPr/>
            </a:pPr>
            <a:endParaRPr lang="da-DK" i="1" dirty="0">
              <a:solidFill>
                <a:sysClr val="windowText" lastClr="00000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da-DK" b="1" i="1" dirty="0">
                <a:solidFill>
                  <a:sysClr val="windowText" lastClr="000000"/>
                </a:solidFill>
                <a:latin typeface="Calibri" panose="020F0502020204030204"/>
              </a:rPr>
              <a:t>Går vi fra – pol til +pol i EMK ift. regneretningen, så skrives E med positivt fortegn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. Omvendt = negativt fortegn</a:t>
            </a:r>
          </a:p>
        </p:txBody>
      </p:sp>
      <p:grpSp>
        <p:nvGrpSpPr>
          <p:cNvPr id="4" name="Gruppe 3"/>
          <p:cNvGrpSpPr/>
          <p:nvPr/>
        </p:nvGrpSpPr>
        <p:grpSpPr>
          <a:xfrm>
            <a:off x="6620935" y="4759295"/>
            <a:ext cx="852056" cy="776562"/>
            <a:chOff x="921672" y="3473528"/>
            <a:chExt cx="852056" cy="776562"/>
          </a:xfrm>
        </p:grpSpPr>
        <p:pic>
          <p:nvPicPr>
            <p:cNvPr id="16" name="Billede 15"/>
            <p:cNvPicPr>
              <a:picLocks noChangeAspect="1"/>
            </p:cNvPicPr>
            <p:nvPr/>
          </p:nvPicPr>
          <p:blipFill rotWithShape="1">
            <a:blip r:embed="rId2"/>
            <a:srcRect l="18092" r="11449"/>
            <a:stretch/>
          </p:blipFill>
          <p:spPr>
            <a:xfrm>
              <a:off x="921672" y="3557868"/>
              <a:ext cx="852056" cy="692222"/>
            </a:xfrm>
            <a:prstGeom prst="rect">
              <a:avLst/>
            </a:prstGeom>
          </p:spPr>
        </p:pic>
        <p:sp>
          <p:nvSpPr>
            <p:cNvPr id="19" name="Rektangel 18"/>
            <p:cNvSpPr/>
            <p:nvPr/>
          </p:nvSpPr>
          <p:spPr>
            <a:xfrm>
              <a:off x="986376" y="347352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p:grpSp>
        <p:nvGrpSpPr>
          <p:cNvPr id="6" name="Gruppe 5"/>
          <p:cNvGrpSpPr/>
          <p:nvPr/>
        </p:nvGrpSpPr>
        <p:grpSpPr>
          <a:xfrm>
            <a:off x="7680263" y="4759295"/>
            <a:ext cx="635028" cy="607560"/>
            <a:chOff x="7680263" y="4759295"/>
            <a:chExt cx="635028" cy="607560"/>
          </a:xfrm>
        </p:grpSpPr>
        <p:sp>
          <p:nvSpPr>
            <p:cNvPr id="5" name="Tekstfelt 4"/>
            <p:cNvSpPr txBox="1"/>
            <p:nvPr/>
          </p:nvSpPr>
          <p:spPr>
            <a:xfrm>
              <a:off x="7680263" y="4843635"/>
              <a:ext cx="635028" cy="5232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sz="28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17" name="Rektangel 16"/>
            <p:cNvSpPr/>
            <p:nvPr/>
          </p:nvSpPr>
          <p:spPr>
            <a:xfrm>
              <a:off x="7900416" y="4759295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kstfelt 1"/>
              <p:cNvSpPr txBox="1"/>
              <p:nvPr/>
            </p:nvSpPr>
            <p:spPr>
              <a:xfrm>
                <a:off x="1531837" y="4802989"/>
                <a:ext cx="1181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" name="Tekstfel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837" y="4802989"/>
                <a:ext cx="1181798" cy="276999"/>
              </a:xfrm>
              <a:prstGeom prst="rect">
                <a:avLst/>
              </a:prstGeom>
              <a:blipFill>
                <a:blip r:embed="rId6"/>
                <a:stretch>
                  <a:fillRect l="-3608" r="-1031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/>
              <p:cNvSpPr txBox="1"/>
              <p:nvPr/>
            </p:nvSpPr>
            <p:spPr>
              <a:xfrm>
                <a:off x="1525453" y="5361313"/>
                <a:ext cx="2554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453" y="5361313"/>
                <a:ext cx="2554867" cy="276999"/>
              </a:xfrm>
              <a:prstGeom prst="rect">
                <a:avLst/>
              </a:prstGeom>
              <a:blipFill>
                <a:blip r:embed="rId7"/>
                <a:stretch>
                  <a:fillRect l="-1432" r="-239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felt 7"/>
              <p:cNvSpPr txBox="1"/>
              <p:nvPr/>
            </p:nvSpPr>
            <p:spPr>
              <a:xfrm>
                <a:off x="1353686" y="5905721"/>
                <a:ext cx="2192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da-DK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a-DK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kstfel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686" y="5905721"/>
                <a:ext cx="2192267" cy="276999"/>
              </a:xfrm>
              <a:prstGeom prst="rect">
                <a:avLst/>
              </a:prstGeom>
              <a:blipFill>
                <a:blip r:embed="rId8"/>
                <a:stretch>
                  <a:fillRect r="-1667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kstfelt 20"/>
          <p:cNvSpPr txBox="1"/>
          <p:nvPr/>
        </p:nvSpPr>
        <p:spPr>
          <a:xfrm rot="19689849">
            <a:off x="3479711" y="1320838"/>
            <a:ext cx="49392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6000" dirty="0"/>
              <a:t>Der må regnes </a:t>
            </a:r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D74E606A-8E6B-AC34-4B1C-2F931B2210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8288" y="2828246"/>
            <a:ext cx="3052040" cy="2015389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C4332020-89C8-8519-F395-0B17928BF0C9}"/>
              </a:ext>
            </a:extLst>
          </p:cNvPr>
          <p:cNvSpPr/>
          <p:nvPr/>
        </p:nvSpPr>
        <p:spPr>
          <a:xfrm>
            <a:off x="9647159" y="2966845"/>
            <a:ext cx="110320" cy="10328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341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kstfelt 20"/>
          <p:cNvSpPr txBox="1"/>
          <p:nvPr/>
        </p:nvSpPr>
        <p:spPr>
          <a:xfrm>
            <a:off x="327677" y="173688"/>
            <a:ext cx="838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Kredsløbsberegninger 3.1</a:t>
            </a:r>
          </a:p>
        </p:txBody>
      </p:sp>
      <p:sp>
        <p:nvSpPr>
          <p:cNvPr id="11" name="Rektangel 10"/>
          <p:cNvSpPr/>
          <p:nvPr/>
        </p:nvSpPr>
        <p:spPr>
          <a:xfrm>
            <a:off x="818136" y="1103671"/>
            <a:ext cx="707610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Først tegnes kredsen ud fra givne oplysninger.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Strømme indsættes. Alle…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Så indsættes knudepunkter (1. lov).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F.eks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i punkt a. (</a:t>
            </a:r>
            <a:r>
              <a:rPr lang="da-DK" b="1" i="1" u="sng" dirty="0">
                <a:solidFill>
                  <a:prstClr val="black"/>
                </a:solidFill>
                <a:latin typeface="Calibri" panose="020F0502020204030204"/>
              </a:rPr>
              <a:t>alle strømme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Regneretninger indsættes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Ligninger opstilles (2. lov) og udregnes. Tænke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tænke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marL="342900" lvl="0" indent="-342900">
              <a:buFont typeface="+mj-lt"/>
              <a:buAutoNum type="arabicPeriod"/>
            </a:pPr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Min metode for løsning af </a:t>
            </a:r>
            <a:r>
              <a:rPr lang="da-DK" b="1" dirty="0" err="1">
                <a:solidFill>
                  <a:prstClr val="black"/>
                </a:solidFill>
                <a:latin typeface="Calibri" panose="020F0502020204030204"/>
              </a:rPr>
              <a:t>Kirchoff</a:t>
            </a:r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opgaver: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knudepunkter. Ind i knudepunkt er = Ud af knude…</a:t>
            </a:r>
          </a:p>
          <a:p>
            <a:pPr lvl="0"/>
            <a:r>
              <a:rPr lang="da-DK" b="1" dirty="0">
                <a:solidFill>
                  <a:prstClr val="black"/>
                </a:solidFill>
                <a:latin typeface="Calibri" panose="020F0502020204030204"/>
              </a:rPr>
              <a:t>     Ligninger for ALLE angivne regneretninger. Alle EMK = I1 x R1…</a:t>
            </a:r>
          </a:p>
          <a:p>
            <a:pPr lvl="0"/>
            <a:endParaRPr lang="da-DK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66" y="4843093"/>
            <a:ext cx="4501123" cy="624034"/>
          </a:xfrm>
          <a:prstGeom prst="rect">
            <a:avLst/>
          </a:prstGeom>
        </p:spPr>
      </p:pic>
      <p:pic>
        <p:nvPicPr>
          <p:cNvPr id="12" name="Billed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68" y="5561099"/>
            <a:ext cx="4501123" cy="524096"/>
          </a:xfrm>
          <a:prstGeom prst="rect">
            <a:avLst/>
          </a:prstGeom>
        </p:spPr>
      </p:pic>
      <p:pic>
        <p:nvPicPr>
          <p:cNvPr id="14" name="Billed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67" y="6179309"/>
            <a:ext cx="4501123" cy="464160"/>
          </a:xfrm>
          <a:prstGeom prst="rect">
            <a:avLst/>
          </a:prstGeom>
        </p:spPr>
      </p:pic>
      <p:sp>
        <p:nvSpPr>
          <p:cNvPr id="15" name="Tekstfelt 11"/>
          <p:cNvSpPr txBox="1"/>
          <p:nvPr/>
        </p:nvSpPr>
        <p:spPr>
          <a:xfrm>
            <a:off x="6037810" y="5549304"/>
            <a:ext cx="5890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Vi husker at den </a:t>
            </a:r>
            <a:r>
              <a:rPr lang="da-DK" i="1" dirty="0" err="1">
                <a:solidFill>
                  <a:sysClr val="windowText" lastClr="000000"/>
                </a:solidFill>
                <a:latin typeface="Calibri" panose="020F0502020204030204"/>
              </a:rPr>
              <a:t>bette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 streg er minus og den store er plus. </a:t>
            </a:r>
          </a:p>
          <a:p>
            <a:pPr lvl="0">
              <a:defRPr/>
            </a:pPr>
            <a:endParaRPr lang="da-DK" i="1" dirty="0">
              <a:solidFill>
                <a:sysClr val="windowText" lastClr="00000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da-DK" b="1" i="1" dirty="0">
                <a:solidFill>
                  <a:sysClr val="windowText" lastClr="000000"/>
                </a:solidFill>
                <a:latin typeface="Calibri" panose="020F0502020204030204"/>
              </a:rPr>
              <a:t>Går vi fra – pol til +pol i EMK ift. regneretningen, så skrives E med positivt fortegn</a:t>
            </a:r>
            <a:r>
              <a:rPr lang="da-DK" i="1" dirty="0">
                <a:solidFill>
                  <a:sysClr val="windowText" lastClr="000000"/>
                </a:solidFill>
                <a:latin typeface="Calibri" panose="020F0502020204030204"/>
              </a:rPr>
              <a:t>. Omvendt = negativt fortegn</a:t>
            </a:r>
          </a:p>
        </p:txBody>
      </p:sp>
      <p:grpSp>
        <p:nvGrpSpPr>
          <p:cNvPr id="4" name="Gruppe 3"/>
          <p:cNvGrpSpPr/>
          <p:nvPr/>
        </p:nvGrpSpPr>
        <p:grpSpPr>
          <a:xfrm>
            <a:off x="6620935" y="4759295"/>
            <a:ext cx="852056" cy="776562"/>
            <a:chOff x="921672" y="3473528"/>
            <a:chExt cx="852056" cy="776562"/>
          </a:xfrm>
        </p:grpSpPr>
        <p:pic>
          <p:nvPicPr>
            <p:cNvPr id="16" name="Billede 15"/>
            <p:cNvPicPr>
              <a:picLocks noChangeAspect="1"/>
            </p:cNvPicPr>
            <p:nvPr/>
          </p:nvPicPr>
          <p:blipFill rotWithShape="1">
            <a:blip r:embed="rId5"/>
            <a:srcRect l="18092" r="11449"/>
            <a:stretch/>
          </p:blipFill>
          <p:spPr>
            <a:xfrm>
              <a:off x="921672" y="3557868"/>
              <a:ext cx="852056" cy="692222"/>
            </a:xfrm>
            <a:prstGeom prst="rect">
              <a:avLst/>
            </a:prstGeom>
          </p:spPr>
        </p:pic>
        <p:sp>
          <p:nvSpPr>
            <p:cNvPr id="19" name="Rektangel 18"/>
            <p:cNvSpPr/>
            <p:nvPr/>
          </p:nvSpPr>
          <p:spPr>
            <a:xfrm>
              <a:off x="986376" y="347352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p:grpSp>
        <p:nvGrpSpPr>
          <p:cNvPr id="6" name="Gruppe 5"/>
          <p:cNvGrpSpPr/>
          <p:nvPr/>
        </p:nvGrpSpPr>
        <p:grpSpPr>
          <a:xfrm>
            <a:off x="7680263" y="4759295"/>
            <a:ext cx="635028" cy="607560"/>
            <a:chOff x="7680263" y="4759295"/>
            <a:chExt cx="635028" cy="607560"/>
          </a:xfrm>
        </p:grpSpPr>
        <p:sp>
          <p:nvSpPr>
            <p:cNvPr id="5" name="Tekstfelt 4"/>
            <p:cNvSpPr txBox="1"/>
            <p:nvPr/>
          </p:nvSpPr>
          <p:spPr>
            <a:xfrm>
              <a:off x="7680263" y="4843635"/>
              <a:ext cx="635028" cy="5232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sz="2800" dirty="0">
                  <a:solidFill>
                    <a:schemeClr val="bg1"/>
                  </a:solidFill>
                </a:rPr>
                <a:t>G</a:t>
              </a:r>
            </a:p>
          </p:txBody>
        </p:sp>
        <p:sp>
          <p:nvSpPr>
            <p:cNvPr id="17" name="Rektangel 16"/>
            <p:cNvSpPr/>
            <p:nvPr/>
          </p:nvSpPr>
          <p:spPr>
            <a:xfrm>
              <a:off x="7900416" y="4759295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a-DK" b="1" dirty="0">
                  <a:solidFill>
                    <a:prstClr val="black"/>
                  </a:solidFill>
                  <a:latin typeface="Calibri" panose="020F0502020204030204"/>
                </a:rPr>
                <a:t>+</a:t>
              </a:r>
              <a:endParaRPr lang="da-DK" dirty="0"/>
            </a:p>
          </p:txBody>
        </p:sp>
      </p:grpSp>
      <p:sp>
        <p:nvSpPr>
          <p:cNvPr id="7" name="Tekstfelt 6"/>
          <p:cNvSpPr txBox="1"/>
          <p:nvPr/>
        </p:nvSpPr>
        <p:spPr>
          <a:xfrm rot="19689849">
            <a:off x="3479711" y="1320838"/>
            <a:ext cx="49392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6000" dirty="0"/>
              <a:t>Der må regnes </a:t>
            </a:r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8EE675C1-E6A8-2195-12CD-36948B9145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288" y="2828246"/>
            <a:ext cx="3052040" cy="2015389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E2B27222-9361-7A98-FBE9-E818DB34AD86}"/>
              </a:ext>
            </a:extLst>
          </p:cNvPr>
          <p:cNvSpPr/>
          <p:nvPr/>
        </p:nvSpPr>
        <p:spPr>
          <a:xfrm>
            <a:off x="9647159" y="2966845"/>
            <a:ext cx="110320" cy="10328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319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redsløb">
  <a:themeElements>
    <a:clrScheme name="Kredsløb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Kredsløb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redsløb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2435</TotalTime>
  <Words>1098</Words>
  <Application>Microsoft Office PowerPoint</Application>
  <PresentationFormat>Widescreen</PresentationFormat>
  <Paragraphs>171</Paragraphs>
  <Slides>14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Tw Cen MT</vt:lpstr>
      <vt:lpstr>Kredsløb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</dc:title>
  <dc:creator>John Erik Andersen</dc:creator>
  <cp:lastModifiedBy>Simon Tran Agerholm</cp:lastModifiedBy>
  <cp:revision>43</cp:revision>
  <dcterms:created xsi:type="dcterms:W3CDTF">2018-07-24T14:30:50Z</dcterms:created>
  <dcterms:modified xsi:type="dcterms:W3CDTF">2026-02-09T08:13:06Z</dcterms:modified>
</cp:coreProperties>
</file>