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0" r:id="rId2"/>
    <p:sldId id="259" r:id="rId3"/>
    <p:sldId id="272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72460E-C2CD-4A6A-989D-D5B946A7ACAD}" v="2" dt="2026-01-26T12:50:17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28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custSel addSld delSld modSld">
      <pc:chgData name="Simon Tran Agerholm" userId="dd55e2d3-906e-4a4a-90ea-dda6205f875e" providerId="ADAL" clId="{5EFFF862-C165-4C4A-8B20-E280CAF10480}" dt="2026-01-26T12:51:06.046" v="25" actId="1076"/>
      <pc:docMkLst>
        <pc:docMk/>
      </pc:docMkLst>
      <pc:sldChg chg="addSp delSp modSp mod">
        <pc:chgData name="Simon Tran Agerholm" userId="dd55e2d3-906e-4a4a-90ea-dda6205f875e" providerId="ADAL" clId="{5EFFF862-C165-4C4A-8B20-E280CAF10480}" dt="2026-01-26T12:51:06.046" v="25" actId="1076"/>
        <pc:sldMkLst>
          <pc:docMk/>
          <pc:sldMk cId="2680543958" sldId="259"/>
        </pc:sldMkLst>
        <pc:spChg chg="mod">
          <ac:chgData name="Simon Tran Agerholm" userId="dd55e2d3-906e-4a4a-90ea-dda6205f875e" providerId="ADAL" clId="{5EFFF862-C165-4C4A-8B20-E280CAF10480}" dt="2026-01-26T12:51:01.365" v="24" actId="1076"/>
          <ac:spMkLst>
            <pc:docMk/>
            <pc:sldMk cId="2680543958" sldId="259"/>
            <ac:spMk id="2" creationId="{00000000-0000-0000-0000-000000000000}"/>
          </ac:spMkLst>
        </pc:spChg>
        <pc:spChg chg="add mod">
          <ac:chgData name="Simon Tran Agerholm" userId="dd55e2d3-906e-4a4a-90ea-dda6205f875e" providerId="ADAL" clId="{5EFFF862-C165-4C4A-8B20-E280CAF10480}" dt="2026-01-26T12:51:06.046" v="25" actId="1076"/>
          <ac:spMkLst>
            <pc:docMk/>
            <pc:sldMk cId="2680543958" sldId="259"/>
            <ac:spMk id="3" creationId="{C1057CC3-8400-1C71-E2B1-186CB2A3AAB3}"/>
          </ac:spMkLst>
        </pc:spChg>
        <pc:picChg chg="del">
          <ac:chgData name="Simon Tran Agerholm" userId="dd55e2d3-906e-4a4a-90ea-dda6205f875e" providerId="ADAL" clId="{5EFFF862-C165-4C4A-8B20-E280CAF10480}" dt="2026-01-26T12:50:11.985" v="10" actId="478"/>
          <ac:picMkLst>
            <pc:docMk/>
            <pc:sldMk cId="2680543958" sldId="259"/>
            <ac:picMk id="4" creationId="{00000000-0000-0000-0000-000000000000}"/>
          </ac:picMkLst>
        </pc:picChg>
      </pc:sldChg>
      <pc:sldChg chg="delSp mod">
        <pc:chgData name="Simon Tran Agerholm" userId="dd55e2d3-906e-4a4a-90ea-dda6205f875e" providerId="ADAL" clId="{5EFFF862-C165-4C4A-8B20-E280CAF10480}" dt="2026-01-26T12:50:35.375" v="21" actId="478"/>
        <pc:sldMkLst>
          <pc:docMk/>
          <pc:sldMk cId="543294359" sldId="271"/>
        </pc:sldMkLst>
        <pc:spChg chg="del">
          <ac:chgData name="Simon Tran Agerholm" userId="dd55e2d3-906e-4a4a-90ea-dda6205f875e" providerId="ADAL" clId="{5EFFF862-C165-4C4A-8B20-E280CAF10480}" dt="2026-01-26T12:50:35.375" v="21" actId="478"/>
          <ac:spMkLst>
            <pc:docMk/>
            <pc:sldMk cId="543294359" sldId="271"/>
            <ac:spMk id="9" creationId="{00000000-0000-0000-0000-000000000000}"/>
          </ac:spMkLst>
        </pc:spChg>
      </pc:sldChg>
      <pc:sldChg chg="new del">
        <pc:chgData name="Simon Tran Agerholm" userId="dd55e2d3-906e-4a4a-90ea-dda6205f875e" providerId="ADAL" clId="{5EFFF862-C165-4C4A-8B20-E280CAF10480}" dt="2026-01-26T12:50:06.147" v="1" actId="47"/>
        <pc:sldMkLst>
          <pc:docMk/>
          <pc:sldMk cId="177793763" sldId="272"/>
        </pc:sldMkLst>
      </pc:sldChg>
      <pc:sldChg chg="add">
        <pc:chgData name="Simon Tran Agerholm" userId="dd55e2d3-906e-4a4a-90ea-dda6205f875e" providerId="ADAL" clId="{5EFFF862-C165-4C4A-8B20-E280CAF10480}" dt="2026-01-26T12:50:06.329" v="2"/>
        <pc:sldMkLst>
          <pc:docMk/>
          <pc:sldMk cId="1099918143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69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72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8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28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05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07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899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69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235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31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35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j-ea"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j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5901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83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750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875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39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07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26-01-2026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4640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emf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hyperlink" Target="http://da.wikipedia.org/wiki/1867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da.wikipedia.org/wiki/25._august" TargetMode="External"/><Relationship Id="rId5" Type="http://schemas.openxmlformats.org/officeDocument/2006/relationships/hyperlink" Target="http://da.wikipedia.org/wiki/1791" TargetMode="External"/><Relationship Id="rId4" Type="http://schemas.openxmlformats.org/officeDocument/2006/relationships/hyperlink" Target="http://da.wikipedia.org/wiki/22._septembe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da.wikipedia.org/wiki/Permeabilitet_(elektromagnetisme)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hyperlink" Target="http://da.wikipedia.org/wiki/Permeabilitet_(elektromagnetisme)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aVX24hOwQI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 txBox="1">
            <a:spLocks/>
          </p:cNvSpPr>
          <p:nvPr/>
        </p:nvSpPr>
        <p:spPr>
          <a:xfrm>
            <a:off x="2588233" y="2918311"/>
            <a:ext cx="8791575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4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 der Noget fra sidst ???</a:t>
            </a:r>
          </a:p>
        </p:txBody>
      </p:sp>
    </p:spTree>
    <p:extLst>
      <p:ext uri="{BB962C8B-B14F-4D97-AF65-F5344CB8AC3E}">
        <p14:creationId xmlns:p14="http://schemas.microsoft.com/office/powerpoint/2010/main" val="306500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/>
          <p:cNvSpPr txBox="1"/>
          <p:nvPr/>
        </p:nvSpPr>
        <p:spPr>
          <a:xfrm>
            <a:off x="852680" y="563814"/>
            <a:ext cx="1087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Opgaver</a:t>
            </a:r>
            <a:endParaRPr kumimoji="0" lang="da-DK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C1057CC3-8400-1C71-E2B1-186CB2A3AAB3}"/>
              </a:ext>
            </a:extLst>
          </p:cNvPr>
          <p:cNvSpPr txBox="1"/>
          <p:nvPr/>
        </p:nvSpPr>
        <p:spPr>
          <a:xfrm>
            <a:off x="890336" y="1087034"/>
            <a:ext cx="1079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5.3 + 5.4</a:t>
            </a:r>
          </a:p>
        </p:txBody>
      </p:sp>
    </p:spTree>
    <p:extLst>
      <p:ext uri="{BB962C8B-B14F-4D97-AF65-F5344CB8AC3E}">
        <p14:creationId xmlns:p14="http://schemas.microsoft.com/office/powerpoint/2010/main" val="268054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341D-F358-9B74-AED1-0489EB6D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>
            <a:extLst>
              <a:ext uri="{FF2B5EF4-FFF2-40B4-BE49-F238E27FC236}">
                <a16:creationId xmlns:a16="http://schemas.microsoft.com/office/drawing/2014/main" id="{35D03E5A-FF8B-08D2-4C8D-DEF57363BB2B}"/>
              </a:ext>
            </a:extLst>
          </p:cNvPr>
          <p:cNvSpPr txBox="1"/>
          <p:nvPr/>
        </p:nvSpPr>
        <p:spPr>
          <a:xfrm>
            <a:off x="1075568" y="73761"/>
            <a:ext cx="1087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da-DK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.3 Den magnetiske kreds</a:t>
            </a:r>
            <a:endParaRPr kumimoji="0" lang="da-DK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59846DC4-7181-0DA7-116A-F927D25CC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742" y="1003051"/>
            <a:ext cx="7286112" cy="40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1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/>
          <p:cNvSpPr txBox="1"/>
          <p:nvPr/>
        </p:nvSpPr>
        <p:spPr>
          <a:xfrm>
            <a:off x="1075568" y="73761"/>
            <a:ext cx="1087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da-DK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.3 Den magnetiske kreds</a:t>
            </a:r>
            <a:endParaRPr kumimoji="0" lang="da-DK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3" t="12454" r="10376" b="7058"/>
          <a:stretch/>
        </p:blipFill>
        <p:spPr>
          <a:xfrm>
            <a:off x="5801624" y="937664"/>
            <a:ext cx="5786317" cy="4322890"/>
          </a:xfrm>
          <a:prstGeom prst="rect">
            <a:avLst/>
          </a:prstGeom>
        </p:spPr>
      </p:pic>
      <p:sp>
        <p:nvSpPr>
          <p:cNvPr id="6" name="Tekstfelt 5"/>
          <p:cNvSpPr txBox="1"/>
          <p:nvPr/>
        </p:nvSpPr>
        <p:spPr>
          <a:xfrm>
            <a:off x="1144841" y="843202"/>
            <a:ext cx="47959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Ringkerne: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 siger at når en vikling</a:t>
            </a:r>
            <a:r>
              <a:rPr kumimoji="0" lang="da-DK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er tæt viklet op på et materiale, uanset hvilket materiale det er, så er det ok at sige at hele magnetfeltet forløber sig i ringen eller stangen.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sz="2000" baseline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Når vi skal til at regne på skidtet, skal vi have styr på tingene:</a:t>
            </a:r>
            <a:endParaRPr kumimoji="0" lang="da-DK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93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/>
          <p:cNvSpPr txBox="1"/>
          <p:nvPr/>
        </p:nvSpPr>
        <p:spPr>
          <a:xfrm>
            <a:off x="1075568" y="73761"/>
            <a:ext cx="1087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da-DK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.3 Den magnetiske kreds</a:t>
            </a:r>
            <a:endParaRPr kumimoji="0" lang="da-DK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/>
              <p:cNvSpPr txBox="1"/>
              <p:nvPr/>
            </p:nvSpPr>
            <p:spPr>
              <a:xfrm>
                <a:off x="703811" y="843202"/>
                <a:ext cx="6342612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Ringkerne: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Vi skal </a:t>
                </a:r>
                <a:r>
                  <a:rPr kumimoji="0" lang="da-DK" sz="20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have styr på de forskellige ting: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da-DK" sz="2000" baseline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Vindingstallet: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𝑎𝑛𝑡𝑎𝑙𝑙𝑒𝑡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𝑎𝑓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𝑣𝑖𝑛𝑑𝑖𝑛𝑔𝑒𝑟</m:t>
                    </m:r>
                  </m:oMath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Strømmen: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𝑆𝑡𝑟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ø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𝑚𝑚𝑒𝑛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𝑣𝑖𝑛𝑑𝑖𝑛𝑔𝑒𝑟𝑛𝑒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[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Længden af materialet: </a:t>
                </a:r>
                <a14:m>
                  <m:oMath xmlns:m="http://schemas.openxmlformats.org/officeDocument/2006/math"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𝑙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𝑖𝑛𝑑𝑠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æ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𝑡𝑡𝑒𝑠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[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Tværsnitarealet: </a:t>
                </a:r>
                <a14:m>
                  <m:oMath xmlns:m="http://schemas.openxmlformats.org/officeDocument/2006/math"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𝐴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=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𝑖𝑛𝑑𝑠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æ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𝑡𝑡𝑒𝑠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[</m:t>
                    </m:r>
                    <m:sSup>
                      <m:sSupPr>
                        <m:ctrlP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Permeabiliteten</a:t>
                </a: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a-DK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𝑀𝑎𝑡𝑒𝑟𝑖𝑎𝑙𝑒𝑡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𝑠𝑝𝑜𝑙𝑒𝑛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𝑣𝑖𝑘𝑙𝑒𝑡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𝑜𝑚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 </m:t>
                    </m:r>
                  </m:oMath>
                </a14:m>
                <a:endParaRPr lang="da-DK" sz="2000" b="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𝐿𝑢𝑓𝑡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𝑒𝑙𝑙𝑒𝑟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𝑎𝑛𝑑𝑟𝑒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𝑖𝑘𝑘𝑒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𝑙𝑒𝑑𝑒𝑛𝑑𝑒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𝑚𝑎𝑡𝑒𝑟𝑖𝑎𝑙𝑒𝑟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h𝑎𝑟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𝑒𝑛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da-DK" sz="2000" b="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µ=</m:t>
                      </m:r>
                      <m:sSub>
                        <m:sSubPr>
                          <m:ctrlPr>
                            <a:rPr lang="da-DK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µ</m:t>
                          </m:r>
                        </m:e>
                        <m:sub>
                          <m:r>
                            <a:rPr lang="da-DK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=4∗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π</m:t>
                      </m:r>
                      <m:r>
                        <a:rPr lang="da-DK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sSup>
                        <m:sSupPr>
                          <m:ctrlPr>
                            <a:rPr lang="da-DK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da-DK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10</m:t>
                          </m:r>
                        </m:e>
                        <m:sup>
                          <m:r>
                            <a:rPr lang="da-DK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−7</m:t>
                          </m:r>
                        </m:sup>
                      </m:sSup>
                    </m:oMath>
                  </m:oMathPara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𝐼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∗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𝑁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𝐴𝑚𝑝𝑒𝑟𝑒𝑣𝑖𝑛𝑑𝑖𝑛𝑔𝑠𝑡𝑎𝑙𝑙𝑒𝑡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𝑠𝑜𝑚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𝑜𝑔𝑠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å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𝑘𝑎𝑙𝑑𝑒𝑠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𝑑𝑒𝑛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kumimoji="0" lang="da-DK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𝑚𝑎𝑔𝑛𝑒𝑡𝑜𝑚𝑜𝑡𝑜𝑟𝑖𝑠𝑙𝑒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𝑘𝑟𝑎𝑓𝑡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kstfel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11" y="843202"/>
                <a:ext cx="6342612" cy="4093428"/>
              </a:xfrm>
              <a:prstGeom prst="rect">
                <a:avLst/>
              </a:prstGeom>
              <a:blipFill>
                <a:blip r:embed="rId2"/>
                <a:stretch>
                  <a:fillRect l="-961" t="-595" b="-74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Billede 7"/>
          <p:cNvPicPr>
            <a:picLocks noChangeAspect="1"/>
          </p:cNvPicPr>
          <p:nvPr/>
        </p:nvPicPr>
        <p:blipFill rotWithShape="1">
          <a:blip r:embed="rId3"/>
          <a:srcRect l="6922" t="4283" r="55885" b="15468"/>
          <a:stretch/>
        </p:blipFill>
        <p:spPr>
          <a:xfrm>
            <a:off x="7115694" y="732366"/>
            <a:ext cx="4427913" cy="526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8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/>
          <p:cNvSpPr txBox="1"/>
          <p:nvPr/>
        </p:nvSpPr>
        <p:spPr>
          <a:xfrm>
            <a:off x="1075568" y="73761"/>
            <a:ext cx="1087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da-DK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.3 Den magnetiske kreds</a:t>
            </a:r>
            <a:endParaRPr kumimoji="0" lang="da-DK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/>
              <p:cNvSpPr txBox="1"/>
              <p:nvPr/>
            </p:nvSpPr>
            <p:spPr>
              <a:xfrm>
                <a:off x="698269" y="843202"/>
                <a:ext cx="10385367" cy="4535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Ringkerne: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Vindingstallet: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𝑎𝑛𝑡𝑎𝑙𝑙𝑒𝑡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𝑎𝑓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𝑣𝑖𝑛𝑑𝑖𝑛𝑔𝑒𝑟</m:t>
                    </m:r>
                  </m:oMath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Strømmen: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𝑠𝑡𝑟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ø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𝑚𝑚𝑒𝑛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𝑣𝑖𝑛𝑑𝑖𝑛𝑔𝑒𝑟𝑛𝑒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[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Længden af ringens materiale: </a:t>
                </a:r>
                <a14:m>
                  <m:oMath xmlns:m="http://schemas.openxmlformats.org/officeDocument/2006/math"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𝑙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𝑖𝑛𝑑𝑠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æ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𝑡𝑡𝑒𝑠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[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Tværsnitarealet: </a:t>
                </a:r>
                <a14:m>
                  <m:oMath xmlns:m="http://schemas.openxmlformats.org/officeDocument/2006/math"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𝐴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=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𝑖𝑛𝑑𝑠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æ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𝑡𝑡𝑒𝑠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[</m:t>
                    </m:r>
                    <m:sSup>
                      <m:sSupPr>
                        <m:ctrlP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Magnetfeltet = Magnetisk </a:t>
                </a:r>
                <a:r>
                  <a:rPr lang="da-DK" sz="20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flux</a:t>
                </a: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Φ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[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𝑤𝑒𝑏𝑒𝑟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Magnetisk </a:t>
                </a:r>
                <a:r>
                  <a:rPr lang="da-DK" sz="20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fluxtæthed</a:t>
                </a: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Φ</m:t>
                        </m:r>
                      </m:num>
                      <m:den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den>
                    </m:f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𝑡𝑒𝑠𝑙𝑎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Permeabiliteten</a:t>
                </a: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a-DK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𝑚𝑎𝑡𝑒𝑟𝑖𝑎𝑙𝑒𝑡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𝑠𝑝𝑜𝑙𝑒𝑛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𝑣𝑖𝑘𝑙𝑒𝑡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𝑜𝑚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 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𝐿𝑢𝑓𝑡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𝑒𝑙𝑙𝑒𝑟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𝑎𝑛𝑑𝑟𝑒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da-DK" sz="2000" b="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𝑖𝑘𝑘𝑒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𝑙𝑒𝑑𝑒𝑛𝑑𝑒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𝑚𝑎𝑡𝑒𝑟𝑖𝑎𝑙𝑒𝑟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h𝑎𝑟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𝑒𝑛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µ=</m:t>
                    </m:r>
                    <m:sSub>
                      <m:sSub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µ</m:t>
                        </m:r>
                      </m:e>
                      <m:sub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=4∗</m:t>
                    </m:r>
                    <m:r>
                      <m:rPr>
                        <m:sty m:val="p"/>
                      </m:rPr>
                      <a:rPr lang="el-GR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π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sSup>
                      <m:sSup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10</m:t>
                        </m:r>
                      </m:e>
                      <m:sup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.</a:t>
                </a:r>
              </a:p>
              <a:p>
                <a:pPr lvl="0"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Hvis materialet er </a:t>
                </a:r>
                <a:r>
                  <a:rPr lang="da-DK" sz="2000" u="sng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ledende</a:t>
                </a: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er </a:t>
                </a:r>
                <a14:m>
                  <m:oMath xmlns:m="http://schemas.openxmlformats.org/officeDocument/2006/math">
                    <m:r>
                      <a:rPr lang="da-DK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sSub>
                      <m:sSub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hvor </a:t>
                </a:r>
                <a:r>
                  <a:rPr lang="da-DK" sz="2000" i="0" dirty="0">
                    <a:solidFill>
                      <a:prstClr val="black"/>
                    </a:solidFill>
                    <a:latin typeface="+mj-lt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𝑚𝑎𝑡𝑒𝑟𝑖𝑎𝑙𝑒𝑡𝑠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𝑡𝑎𝑙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𝑏𝑒𝑑𝑟𝑒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𝑒𝑛𝑑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kstfel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69" y="843202"/>
                <a:ext cx="10385367" cy="4535088"/>
              </a:xfrm>
              <a:prstGeom prst="rect">
                <a:avLst/>
              </a:prstGeom>
              <a:blipFill>
                <a:blip r:embed="rId2"/>
                <a:stretch>
                  <a:fillRect l="-646" t="-53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Billede 7"/>
          <p:cNvPicPr>
            <a:picLocks noChangeAspect="1"/>
          </p:cNvPicPr>
          <p:nvPr/>
        </p:nvPicPr>
        <p:blipFill rotWithShape="1">
          <a:blip r:embed="rId3"/>
          <a:srcRect l="6922" t="4283" r="55885" b="15468"/>
          <a:stretch/>
        </p:blipFill>
        <p:spPr>
          <a:xfrm>
            <a:off x="9333449" y="732366"/>
            <a:ext cx="2210158" cy="2625976"/>
          </a:xfrm>
          <a:prstGeom prst="rect">
            <a:avLst/>
          </a:prstGeom>
        </p:spPr>
      </p:pic>
      <p:pic>
        <p:nvPicPr>
          <p:cNvPr id="3" name="Billede 2"/>
          <p:cNvPicPr>
            <a:picLocks noChangeAspect="1"/>
          </p:cNvPicPr>
          <p:nvPr/>
        </p:nvPicPr>
        <p:blipFill rotWithShape="1">
          <a:blip r:embed="rId4"/>
          <a:srcRect l="6345" t="10491" r="7136" b="14919"/>
          <a:stretch/>
        </p:blipFill>
        <p:spPr>
          <a:xfrm>
            <a:off x="570808" y="4718806"/>
            <a:ext cx="2493818" cy="473971"/>
          </a:xfrm>
          <a:prstGeom prst="rect">
            <a:avLst/>
          </a:prstGeom>
        </p:spPr>
      </p:pic>
      <p:pic>
        <p:nvPicPr>
          <p:cNvPr id="4" name="Billede 3"/>
          <p:cNvPicPr>
            <a:picLocks noChangeAspect="1"/>
          </p:cNvPicPr>
          <p:nvPr/>
        </p:nvPicPr>
        <p:blipFill rotWithShape="1">
          <a:blip r:embed="rId5"/>
          <a:srcRect l="12665"/>
          <a:stretch/>
        </p:blipFill>
        <p:spPr>
          <a:xfrm>
            <a:off x="570808" y="5328567"/>
            <a:ext cx="1834342" cy="9516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/>
              <p:cNvSpPr txBox="1"/>
              <p:nvPr/>
            </p:nvSpPr>
            <p:spPr>
              <a:xfrm>
                <a:off x="3064626" y="4706653"/>
                <a:ext cx="8412479" cy="834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𝑚</m:t>
                        </m:r>
                      </m:sub>
                    </m:sSub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=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𝑒𝑟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𝑑𝑒𝑛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𝑚𝑎𝑔𝑛𝑒𝑡𝑖𝑠𝑘𝑒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𝑚𝑜𝑑𝑠𝑡𝑎𝑛𝑑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,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𝑠𝑜𝑚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𝑜𝑔𝑠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å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𝑏𝑒𝑛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æ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𝑣𝑛𝑒𝑠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𝑟𝑒𝑙𝑢𝑘𝑡𝑎𝑛𝑠𝑒𝑛</m:t>
                    </m:r>
                  </m:oMath>
                </a14:m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den>
                    </m:f>
                  </m:oMath>
                </a14:m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]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kstfel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626" y="4706653"/>
                <a:ext cx="8412479" cy="8347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 4"/>
              <p:cNvSpPr/>
              <p:nvPr/>
            </p:nvSpPr>
            <p:spPr>
              <a:xfrm>
                <a:off x="493221" y="4246198"/>
                <a:ext cx="1105038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𝐵𝑒𝑛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æ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𝑣𝑛𝑒𝑠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𝐴𝑚𝑝𝑒𝑟𝑒𝑣𝑖𝑛𝑑𝑖𝑛𝑔𝑠𝑡𝑎𝑙𝑙𝑒𝑡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]…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𝑘𝑎𝑙𝑑𝑒𝑠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𝑜𝑔𝑠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å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𝑑𝑒𝑛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𝑚𝑎𝑔𝑛𝑒𝑡𝑜𝑚𝑜𝑡𝑜𝑟𝑖𝑠𝑙𝑒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𝑘𝑟𝑎𝑓𝑡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da-DK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da-DK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da-DK" sz="2000" dirty="0"/>
              </a:p>
            </p:txBody>
          </p:sp>
        </mc:Choice>
        <mc:Fallback xmlns="">
          <p:sp>
            <p:nvSpPr>
              <p:cNvPr id="5" name="Rektange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21" y="4246198"/>
                <a:ext cx="11050386" cy="400110"/>
              </a:xfrm>
              <a:prstGeom prst="rect">
                <a:avLst/>
              </a:prstGeom>
              <a:blipFill>
                <a:blip r:embed="rId7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Billede 8">
            <a:extLst>
              <a:ext uri="{FF2B5EF4-FFF2-40B4-BE49-F238E27FC236}">
                <a16:creationId xmlns:a16="http://schemas.microsoft.com/office/drawing/2014/main" id="{02E8A3DF-CCBE-4F76-8DED-9255AF9A43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2395" y="2183177"/>
            <a:ext cx="101917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1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zumzar.dk/skole/sider/magnetisme/index_clip_image00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87" y="3677474"/>
            <a:ext cx="10537124" cy="308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felt 3"/>
          <p:cNvSpPr txBox="1"/>
          <p:nvPr/>
        </p:nvSpPr>
        <p:spPr>
          <a:xfrm>
            <a:off x="774917" y="1097959"/>
            <a:ext cx="83524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Ørsted      strøm gennem leder =  magnetfelt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 </a:t>
            </a:r>
            <a:r>
              <a:rPr kumimoji="0" lang="da-DK" sz="3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Faraday</a:t>
            </a:r>
            <a:r>
              <a:rPr kumimoji="0" lang="da-DK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  magnetfelt = overføre</a:t>
            </a:r>
            <a:r>
              <a:rPr kumimoji="0" lang="da-DK" sz="3200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da-DK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strøm</a:t>
            </a:r>
          </a:p>
        </p:txBody>
      </p:sp>
      <p:pic>
        <p:nvPicPr>
          <p:cNvPr id="6" name="Picture 6" descr="http://upload.wikimedia.org/wikipedia/commons/d/d5/Michael_Faraday_Millikan-Gale-190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372" y="159895"/>
            <a:ext cx="2478506" cy="315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felt 4"/>
          <p:cNvSpPr txBox="1"/>
          <p:nvPr/>
        </p:nvSpPr>
        <p:spPr>
          <a:xfrm>
            <a:off x="8150830" y="3310244"/>
            <a:ext cx="3986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Faraday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da-DK" sz="1400" b="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 tooltip="22. september"/>
              </a:rPr>
              <a:t>22. september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 tooltip="1791"/>
              </a:rPr>
              <a:t>1791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– 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 tooltip="25. august"/>
              </a:rPr>
              <a:t>25. august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 tooltip="1867"/>
              </a:rPr>
              <a:t>1867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8" name="Tekstfelt 5"/>
          <p:cNvSpPr txBox="1"/>
          <p:nvPr/>
        </p:nvSpPr>
        <p:spPr>
          <a:xfrm>
            <a:off x="1831712" y="173026"/>
            <a:ext cx="7295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Hvorfor kommer det egentligt os ved?</a:t>
            </a:r>
          </a:p>
        </p:txBody>
      </p:sp>
      <p:sp>
        <p:nvSpPr>
          <p:cNvPr id="9" name="Tekstfelt 6"/>
          <p:cNvSpPr txBox="1"/>
          <p:nvPr/>
        </p:nvSpPr>
        <p:spPr>
          <a:xfrm>
            <a:off x="54708" y="3250791"/>
            <a:ext cx="4259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Princippet bag transformere</a:t>
            </a:r>
          </a:p>
        </p:txBody>
      </p:sp>
      <p:cxnSp>
        <p:nvCxnSpPr>
          <p:cNvPr id="11" name="Lige pilforbindelse 10"/>
          <p:cNvCxnSpPr/>
          <p:nvPr/>
        </p:nvCxnSpPr>
        <p:spPr>
          <a:xfrm>
            <a:off x="2184400" y="1432530"/>
            <a:ext cx="50400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Lige pilforbindelse 12"/>
          <p:cNvCxnSpPr/>
          <p:nvPr/>
        </p:nvCxnSpPr>
        <p:spPr>
          <a:xfrm>
            <a:off x="3057237" y="1911897"/>
            <a:ext cx="50400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5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72" y="3015660"/>
            <a:ext cx="9421541" cy="2282318"/>
          </a:xfrm>
          <a:prstGeom prst="rect">
            <a:avLst/>
          </a:prstGeom>
        </p:spPr>
      </p:pic>
      <p:sp>
        <p:nvSpPr>
          <p:cNvPr id="3" name="Tekstfelt 3"/>
          <p:cNvSpPr txBox="1"/>
          <p:nvPr/>
        </p:nvSpPr>
        <p:spPr>
          <a:xfrm>
            <a:off x="567772" y="687122"/>
            <a:ext cx="639829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Rm benævnes reluktans (altså den magnetiske modstand).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Den er forholdet mellem amperevindingstallet og feltet/</a:t>
            </a:r>
            <a:r>
              <a:rPr kumimoji="0" lang="da-DK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fluxen</a:t>
            </a: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 ɸ (magnetiske </a:t>
            </a:r>
            <a:r>
              <a:rPr kumimoji="0" lang="da-DK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flux</a:t>
            </a: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Der er ligheder med formler for elektriske kredse.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kstfelt 2"/>
          <p:cNvSpPr txBox="1"/>
          <p:nvPr/>
        </p:nvSpPr>
        <p:spPr>
          <a:xfrm>
            <a:off x="567771" y="5461792"/>
            <a:ext cx="987105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da-DK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(magnemotoriske kraft) driver med andre ord feltet ɸ (</a:t>
            </a:r>
            <a:r>
              <a:rPr kumimoji="0" lang="da-DK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phi</a:t>
            </a: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gennem magnetkredsen med den magnetiske modstand R</a:t>
            </a:r>
            <a:r>
              <a:rPr kumimoji="0" lang="da-DK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(kan sammenlignes med spænding, strøm og modstand fra elektrisk kredse).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Billed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455" y="674629"/>
            <a:ext cx="3611597" cy="773934"/>
          </a:xfrm>
          <a:prstGeom prst="rect">
            <a:avLst/>
          </a:prstGeom>
        </p:spPr>
      </p:pic>
      <p:sp>
        <p:nvSpPr>
          <p:cNvPr id="7" name="Tekstfelt 8"/>
          <p:cNvSpPr txBox="1"/>
          <p:nvPr/>
        </p:nvSpPr>
        <p:spPr>
          <a:xfrm>
            <a:off x="7982455" y="1610451"/>
            <a:ext cx="4016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Husk at I*N er det samme som F</a:t>
            </a:r>
            <a:r>
              <a:rPr kumimoji="0" lang="da-DK" sz="20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r>
              <a:rPr kumimoji="0" lang="da-DK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og kaldes den magnemotoriske kraft.</a:t>
            </a:r>
          </a:p>
        </p:txBody>
      </p:sp>
      <p:cxnSp>
        <p:nvCxnSpPr>
          <p:cNvPr id="8" name="Lige pilforbindelse 7"/>
          <p:cNvCxnSpPr/>
          <p:nvPr/>
        </p:nvCxnSpPr>
        <p:spPr>
          <a:xfrm flipH="1">
            <a:off x="7584672" y="1923011"/>
            <a:ext cx="3737263" cy="1878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71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247" y="3347258"/>
            <a:ext cx="4554112" cy="3415584"/>
          </a:xfrm>
          <a:prstGeom prst="rect">
            <a:avLst/>
          </a:prstGeom>
        </p:spPr>
      </p:pic>
      <p:sp>
        <p:nvSpPr>
          <p:cNvPr id="4" name="Tekstfelt 5"/>
          <p:cNvSpPr txBox="1"/>
          <p:nvPr/>
        </p:nvSpPr>
        <p:spPr>
          <a:xfrm>
            <a:off x="330496" y="638836"/>
            <a:ext cx="58380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Feltstyrken H = </a:t>
            </a:r>
            <a:r>
              <a:rPr kumimoji="0" lang="da-DK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amperevindingstal pr. meter </a:t>
            </a: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Side 76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kstfelt 8"/>
          <p:cNvSpPr txBox="1"/>
          <p:nvPr/>
        </p:nvSpPr>
        <p:spPr>
          <a:xfrm>
            <a:off x="330496" y="3418396"/>
            <a:ext cx="727476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 mål for et materiales evne til at danne et magnetfelt inde i materialet selv og beskriver sammenhængen mellem den magnetiske feltstyrke </a:t>
            </a:r>
            <a:r>
              <a:rPr kumimoji="0" lang="da-DK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da-DK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og den magnetiske </a:t>
            </a:r>
            <a:r>
              <a:rPr kumimoji="0" lang="da-DK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fluxtæthed</a:t>
            </a:r>
            <a:r>
              <a:rPr kumimoji="0" lang="da-DK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  <a:r>
              <a:rPr kumimoji="0" lang="da-DK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da-DK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 andre ord er </a:t>
            </a:r>
            <a:r>
              <a:rPr kumimoji="0" lang="da-DK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permeabiliteten</a:t>
            </a:r>
            <a:r>
              <a:rPr kumimoji="0" lang="da-DK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den magnetiseringsgrad, som et materiale opnår ved at blive udsat for et magnetfelt. Magnetisk </a:t>
            </a:r>
            <a:r>
              <a:rPr kumimoji="0" lang="da-DK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permeabilitet</a:t>
            </a:r>
            <a:r>
              <a:rPr kumimoji="0" lang="da-DK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angives typisk med det græske bogstav </a:t>
            </a:r>
            <a:r>
              <a:rPr kumimoji="0" lang="el-GR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μ</a:t>
            </a:r>
            <a:r>
              <a:rPr kumimoji="0" lang="da-DK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da-DK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</a:t>
            </a:r>
            <a:r>
              <a:rPr kumimoji="0" lang="da-DK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Næsten alle materialer har samme magnetiske ledningsevne som vakuum (dog ikke jernholdige).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Når dette er tilfældet,</a:t>
            </a:r>
            <a:r>
              <a:rPr kumimoji="0" lang="da-DK" sz="2400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så er </a:t>
            </a:r>
            <a:r>
              <a:rPr kumimoji="0" lang="da-DK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µ</a:t>
            </a:r>
            <a:r>
              <a:rPr kumimoji="0" lang="da-DK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da-DK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µ</a:t>
            </a: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= 4*</a:t>
            </a:r>
            <a:r>
              <a:rPr kumimoji="0" lang="el-G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π</a:t>
            </a: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*10</a:t>
            </a:r>
            <a:r>
              <a:rPr kumimoji="0" lang="da-DK" sz="20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-7 </a:t>
            </a: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Vs/Am</a:t>
            </a:r>
            <a:endParaRPr kumimoji="0" lang="da-DK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kstfelt 1"/>
          <p:cNvSpPr txBox="1"/>
          <p:nvPr/>
        </p:nvSpPr>
        <p:spPr>
          <a:xfrm>
            <a:off x="330496" y="3062495"/>
            <a:ext cx="6432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µ = permeabiliteten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2"/>
              <p:cNvSpPr txBox="1"/>
              <p:nvPr/>
            </p:nvSpPr>
            <p:spPr>
              <a:xfrm>
                <a:off x="554750" y="1285167"/>
                <a:ext cx="11443286" cy="857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da-D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da-DK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kumimoji="0" lang="da-DK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</m:num>
                      <m:den>
                        <m:r>
                          <a:rPr kumimoji="0" lang="da-DK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µ</m:t>
                        </m:r>
                      </m:den>
                    </m:f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𝑒𝑙𝑙𝑒𝑟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da-DK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da-DK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da-DK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da-DK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kumimoji="0" lang="da-DK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𝑙</m:t>
                        </m:r>
                      </m:den>
                    </m:f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da-DK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da-DK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  <m:r>
                          <a:rPr kumimoji="0" lang="da-DK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∗</m:t>
                        </m:r>
                        <m:r>
                          <a:rPr kumimoji="0" lang="da-DK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num>
                      <m:den>
                        <m:r>
                          <a:rPr kumimoji="0" lang="da-DK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𝑙</m:t>
                        </m:r>
                      </m:den>
                    </m:f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da-DK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da-DK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da-DK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e>
                          <m:sub>
                            <m:r>
                              <a:rPr kumimoji="0" lang="da-DK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kumimoji="0" lang="da-DK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𝑙</m:t>
                        </m:r>
                      </m:den>
                    </m:f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h𝑣𝑜𝑟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𝑙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𝑙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æ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𝑛𝑔𝑑𝑒𝑛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𝑎𝑓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𝑟𝑖𝑛𝑔𝑒𝑛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[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  <m:r>
                      <a:rPr kumimoji="0" lang="da-DK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]</m:t>
                    </m:r>
                  </m:oMath>
                </a14:m>
                <a:r>
                  <a:rPr kumimoji="0" lang="da-DK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da-DK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7" name="Tekstfel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50" y="1285167"/>
                <a:ext cx="11443286" cy="857671"/>
              </a:xfrm>
              <a:prstGeom prst="rect">
                <a:avLst/>
              </a:prstGeom>
              <a:blipFill>
                <a:blip r:embed="rId3"/>
                <a:stretch>
                  <a:fillRect l="-1332" b="-425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Lige pilforbindelse 7"/>
          <p:cNvCxnSpPr/>
          <p:nvPr/>
        </p:nvCxnSpPr>
        <p:spPr>
          <a:xfrm flipH="1">
            <a:off x="2299855" y="1110998"/>
            <a:ext cx="1458413" cy="291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Lige pilforbindelse 8"/>
          <p:cNvCxnSpPr/>
          <p:nvPr/>
        </p:nvCxnSpPr>
        <p:spPr>
          <a:xfrm flipH="1" flipV="1">
            <a:off x="1457498" y="2082895"/>
            <a:ext cx="180095" cy="979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Lige pilforbindelse 10"/>
          <p:cNvCxnSpPr/>
          <p:nvPr/>
        </p:nvCxnSpPr>
        <p:spPr>
          <a:xfrm flipV="1">
            <a:off x="440414" y="1982093"/>
            <a:ext cx="321621" cy="31190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6050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felt 4"/>
          <p:cNvSpPr txBox="1"/>
          <p:nvPr/>
        </p:nvSpPr>
        <p:spPr>
          <a:xfrm>
            <a:off x="859462" y="950449"/>
            <a:ext cx="8995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µ</a:t>
            </a:r>
            <a:r>
              <a:rPr kumimoji="0" lang="da-DK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da-DK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er materiale specifikt og angiver hvor mange gange et stofs magnetiske ledningsevne er bedre end ledningsevnen i </a:t>
            </a:r>
            <a:r>
              <a:rPr kumimoji="0" lang="da-DK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vacuum</a:t>
            </a:r>
            <a:r>
              <a:rPr kumimoji="0" lang="da-DK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næsten alle materialer, bare ikke jern, er dette forhold ca. 1</a:t>
            </a:r>
          </a:p>
        </p:txBody>
      </p:sp>
      <p:sp>
        <p:nvSpPr>
          <p:cNvPr id="6" name="Tekstfelt 1"/>
          <p:cNvSpPr txBox="1"/>
          <p:nvPr/>
        </p:nvSpPr>
        <p:spPr>
          <a:xfrm>
            <a:off x="859462" y="4741550"/>
            <a:ext cx="8975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Forskellige materialer har forskellige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permeabilitet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Man finder et materiales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permeabilitet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http://da.wikipedia.org/wiki/Permeabilitet_%28elektromagnetisme%29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2"/>
              <p:cNvSpPr txBox="1"/>
              <p:nvPr/>
            </p:nvSpPr>
            <p:spPr>
              <a:xfrm>
                <a:off x="799304" y="2539772"/>
                <a:ext cx="5029200" cy="1699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da-D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µ</a:t>
                </a:r>
                <a:r>
                  <a:rPr kumimoji="0" lang="da-DK" sz="7200" b="0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</a:t>
                </a:r>
                <a:r>
                  <a:rPr kumimoji="0" lang="da-DK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da-DK" sz="7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da-DK" sz="7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µ</m:t>
                        </m:r>
                      </m:num>
                      <m:den>
                        <m:r>
                          <a:rPr kumimoji="0" lang="da-DK" sz="7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µ</m:t>
                        </m:r>
                        <m:r>
                          <a:rPr kumimoji="0" lang="da-DK" sz="7200" b="0" i="1" u="none" strike="noStrike" kern="1200" cap="none" spc="0" normalizeH="0" baseline="-2500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0 </m:t>
                        </m:r>
                      </m:den>
                    </m:f>
                    <m:r>
                      <a:rPr kumimoji="0" lang="da-DK" sz="7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≅1</m:t>
                    </m:r>
                  </m:oMath>
                </a14:m>
                <a:endParaRPr kumimoji="0" lang="da-DK" sz="7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kstfel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04" y="2539772"/>
                <a:ext cx="5029200" cy="1699632"/>
              </a:xfrm>
              <a:prstGeom prst="rect">
                <a:avLst/>
              </a:prstGeom>
              <a:blipFill>
                <a:blip r:embed="rId3"/>
                <a:stretch>
                  <a:fillRect l="-9091" t="-6475" b="-719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kstfelt 3"/>
          <p:cNvSpPr txBox="1"/>
          <p:nvPr/>
        </p:nvSpPr>
        <p:spPr>
          <a:xfrm>
            <a:off x="6095528" y="3941331"/>
            <a:ext cx="359939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µ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= 4*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π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*10</a:t>
            </a:r>
            <a:r>
              <a:rPr kumimoji="0" lang="da-DK" sz="18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-7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Vs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/Am  (SI enhed)</a:t>
            </a:r>
            <a:endParaRPr kumimoji="0" lang="da-DK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Lige pilforbindelse 8"/>
          <p:cNvCxnSpPr>
            <a:stCxn id="8" idx="1"/>
          </p:cNvCxnSpPr>
          <p:nvPr/>
        </p:nvCxnSpPr>
        <p:spPr>
          <a:xfrm flipH="1" flipV="1">
            <a:off x="3305436" y="4050747"/>
            <a:ext cx="2790092" cy="290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Lige pilforbindelse 9"/>
          <p:cNvCxnSpPr/>
          <p:nvPr/>
        </p:nvCxnSpPr>
        <p:spPr>
          <a:xfrm flipH="1">
            <a:off x="1166010" y="2425691"/>
            <a:ext cx="257908" cy="5517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kstfelt 18"/>
          <p:cNvSpPr txBox="1"/>
          <p:nvPr/>
        </p:nvSpPr>
        <p:spPr>
          <a:xfrm>
            <a:off x="5480858" y="2386029"/>
            <a:ext cx="6572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Så kan man finde den µ man skal bruge i hvert enkelte tilfælde</a:t>
            </a:r>
          </a:p>
        </p:txBody>
      </p:sp>
      <p:cxnSp>
        <p:nvCxnSpPr>
          <p:cNvPr id="12" name="Lige pilforbindelse 11"/>
          <p:cNvCxnSpPr>
            <a:stCxn id="11" idx="1"/>
          </p:cNvCxnSpPr>
          <p:nvPr/>
        </p:nvCxnSpPr>
        <p:spPr>
          <a:xfrm flipH="1">
            <a:off x="3166749" y="2570695"/>
            <a:ext cx="2314109" cy="324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ktangel 1"/>
              <p:cNvSpPr/>
              <p:nvPr/>
            </p:nvSpPr>
            <p:spPr>
              <a:xfrm>
                <a:off x="799304" y="5797694"/>
                <a:ext cx="1082743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ALTSÅ: Hvis materialet er </a:t>
                </a:r>
                <a:r>
                  <a:rPr lang="da-DK" u="sng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ledende</a:t>
                </a:r>
                <a:r>
                  <a:rPr lang="da-DK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er </a:t>
                </a:r>
                <a14:m>
                  <m:oMath xmlns:m="http://schemas.openxmlformats.org/officeDocument/2006/math"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sSub>
                      <m:sSubPr>
                        <m:ctrlP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da-DK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hvor </a:t>
                </a:r>
                <a:r>
                  <a:rPr lang="da-DK" dirty="0">
                    <a:solidFill>
                      <a:prstClr val="black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𝑒𝑟</m:t>
                    </m:r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𝑚𝑎𝑡𝑒𝑟𝑖𝑎𝑙𝑒𝑡𝑠</m:t>
                    </m:r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𝑡𝑎𝑙</m:t>
                    </m:r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𝑏𝑒𝑑𝑟𝑒</m:t>
                    </m:r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𝑒𝑛𝑑</m:t>
                    </m:r>
                    <m:r>
                      <a:rPr lang="da-DK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2" name="Rektangel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04" y="5797694"/>
                <a:ext cx="10827431" cy="369332"/>
              </a:xfrm>
              <a:prstGeom prst="rect">
                <a:avLst/>
              </a:prstGeom>
              <a:blipFill>
                <a:blip r:embed="rId4"/>
                <a:stretch>
                  <a:fillRect l="-450" t="-8197" b="-245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28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3"/>
          <p:cNvSpPr txBox="1"/>
          <p:nvPr/>
        </p:nvSpPr>
        <p:spPr>
          <a:xfrm>
            <a:off x="192673" y="274290"/>
            <a:ext cx="6870031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Magnetisering af jern 5.4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Erstatter man det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umagnetiske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materiale i en spole med en jernkerne, men bibeholder samme strøm i samme antal vindinger pr. meter (H), vil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fluxen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ɸ (magnetfeltets styrke) og dermed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fluxtætheden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B, forøges kraftigt.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 skyldes at jern har god ledningsevne overfor feltet, set i forhold til f.eks. Luft, eller det plastik der var i spolen før.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Tallet </a:t>
            </a: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µ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er forholdet mellem et materiales µ værdi i forhold til µ</a:t>
            </a:r>
            <a:r>
              <a:rPr kumimoji="0" lang="da-DK" sz="12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(som er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permeabiliteten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vacuum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 En ubenævnt størrelse. Her ses eksempel for jern, hvis ledningsevne f.eks. Er 600 gange bedre end µ</a:t>
            </a:r>
            <a:r>
              <a:rPr kumimoji="0" lang="da-DK" sz="1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Forskellige materiales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permeabilitet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http://da.wikipedia.org/wiki/Permeabilitet_%28elektromagnetisme%29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81" y="4116632"/>
            <a:ext cx="7059193" cy="559159"/>
          </a:xfrm>
          <a:prstGeom prst="rect">
            <a:avLst/>
          </a:prstGeom>
        </p:spPr>
      </p:pic>
      <p:pic>
        <p:nvPicPr>
          <p:cNvPr id="5" name="Billede 4"/>
          <p:cNvPicPr>
            <a:picLocks noChangeAspect="1"/>
          </p:cNvPicPr>
          <p:nvPr/>
        </p:nvPicPr>
        <p:blipFill rotWithShape="1">
          <a:blip r:embed="rId4"/>
          <a:srcRect l="647" r="25461"/>
          <a:stretch/>
        </p:blipFill>
        <p:spPr>
          <a:xfrm>
            <a:off x="7376167" y="1759038"/>
            <a:ext cx="4753701" cy="5013064"/>
          </a:xfrm>
          <a:prstGeom prst="rect">
            <a:avLst/>
          </a:prstGeom>
        </p:spPr>
      </p:pic>
      <p:sp>
        <p:nvSpPr>
          <p:cNvPr id="6" name="Rektangel 5"/>
          <p:cNvSpPr/>
          <p:nvPr/>
        </p:nvSpPr>
        <p:spPr>
          <a:xfrm>
            <a:off x="7418328" y="2648989"/>
            <a:ext cx="4627001" cy="199506"/>
          </a:xfrm>
          <a:prstGeom prst="rect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/>
          <p:cNvSpPr/>
          <p:nvPr/>
        </p:nvSpPr>
        <p:spPr>
          <a:xfrm>
            <a:off x="7418327" y="3297677"/>
            <a:ext cx="4627001" cy="199506"/>
          </a:xfrm>
          <a:prstGeom prst="rect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 7"/>
          <p:cNvSpPr/>
          <p:nvPr/>
        </p:nvSpPr>
        <p:spPr>
          <a:xfrm>
            <a:off x="7418327" y="3081108"/>
            <a:ext cx="4627001" cy="199506"/>
          </a:xfrm>
          <a:prstGeom prst="rect">
            <a:avLst/>
          </a:prstGeom>
          <a:solidFill>
            <a:srgbClr val="FFFF00">
              <a:alpha val="3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Ellipse 10"/>
          <p:cNvSpPr/>
          <p:nvPr/>
        </p:nvSpPr>
        <p:spPr>
          <a:xfrm>
            <a:off x="10681750" y="3297677"/>
            <a:ext cx="556891" cy="21427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Ellipse 11"/>
          <p:cNvSpPr/>
          <p:nvPr/>
        </p:nvSpPr>
        <p:spPr>
          <a:xfrm>
            <a:off x="10681750" y="2641603"/>
            <a:ext cx="556891" cy="21427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Ellipse 12"/>
          <p:cNvSpPr/>
          <p:nvPr/>
        </p:nvSpPr>
        <p:spPr>
          <a:xfrm>
            <a:off x="9582866" y="3072514"/>
            <a:ext cx="556891" cy="214277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092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426" y="414617"/>
            <a:ext cx="5394477" cy="5885993"/>
          </a:xfrm>
          <a:prstGeom prst="rect">
            <a:avLst/>
          </a:prstGeom>
        </p:spPr>
      </p:pic>
      <p:sp>
        <p:nvSpPr>
          <p:cNvPr id="3" name="Tekstfelt 5"/>
          <p:cNvSpPr txBox="1"/>
          <p:nvPr/>
        </p:nvSpPr>
        <p:spPr>
          <a:xfrm>
            <a:off x="787238" y="414617"/>
            <a:ext cx="4896853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 er kun lineær sammenhæng et stykke af vejen mellem H (strøm i vindinger pr meter.)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og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Fluxtætheden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(koncentrationen af feltet i et område) – B = ”magnetiseringen”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 andre ord. Kurven er afhængig af materiale, så derfor er kurverne forskellige.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 siger at der optræder mætning. Mætning vil sige at alle elektroner er ”ensrettet” (de små magneterne i materialet vender ens)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Kurverne fremstilles ved konkrete målinger.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Ferromagnetiske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materialer mister egenskaber ved opvarmning. Curie temperatur (200/400)-900  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!!!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grader.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Varmes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ferromagnetisk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materiale nok op mistes de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ferromagnetiske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egenskaber. 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https://www.youtube.com/watch?v=haVX24hOwQI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89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/>
          <p:cNvSpPr txBox="1"/>
          <p:nvPr/>
        </p:nvSpPr>
        <p:spPr>
          <a:xfrm>
            <a:off x="1075568" y="73761"/>
            <a:ext cx="108736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5.3 Den magnetiske kreds</a:t>
            </a:r>
            <a:endParaRPr kumimoji="0" lang="da-DK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Opgaver til emnet: 5.3</a:t>
            </a:r>
            <a:r>
              <a:rPr kumimoji="0" lang="da-DK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+ 5.4</a:t>
            </a:r>
            <a:endParaRPr kumimoji="0" lang="da-D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/>
              <p:cNvSpPr txBox="1"/>
              <p:nvPr/>
            </p:nvSpPr>
            <p:spPr>
              <a:xfrm>
                <a:off x="698269" y="843202"/>
                <a:ext cx="10385367" cy="4535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Ringkerne: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Vindingstallet: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𝑎𝑛𝑡𝑎𝑙𝑙𝑒𝑡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𝑎𝑓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𝑣𝑖𝑛𝑑𝑖𝑛𝑔𝑒𝑟</m:t>
                    </m:r>
                  </m:oMath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Strømmen: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𝑠𝑡𝑟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ø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𝑚𝑚𝑒𝑛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𝑣𝑖𝑛𝑑𝑖𝑛𝑔𝑒𝑟𝑛𝑒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[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Længden af ringens materiale: </a:t>
                </a:r>
                <a14:m>
                  <m:oMath xmlns:m="http://schemas.openxmlformats.org/officeDocument/2006/math"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𝑙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𝑖𝑛𝑑𝑠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æ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𝑡𝑡𝑒𝑠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[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da-DK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Tværsnitarealet: </a:t>
                </a:r>
                <a14:m>
                  <m:oMath xmlns:m="http://schemas.openxmlformats.org/officeDocument/2006/math"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𝐴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=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𝑖𝑛𝑑𝑠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æ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𝑡𝑡𝑒𝑠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</m:t>
                    </m:r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[</m:t>
                    </m:r>
                    <m:sSup>
                      <m:sSupPr>
                        <m:ctrlP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kumimoji="0" lang="da-DK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kumimoji="0" lang="da-DK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Magnetfeltet = Magnetisk </a:t>
                </a:r>
                <a:r>
                  <a:rPr lang="da-DK" sz="20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flux</a:t>
                </a: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Φ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[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𝑤𝑒𝑏𝑒𝑟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Magnetisk </a:t>
                </a:r>
                <a:r>
                  <a:rPr lang="da-DK" sz="20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fluxtæthed</a:t>
                </a: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Φ</m:t>
                        </m:r>
                      </m:num>
                      <m:den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den>
                    </m:f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𝑡𝑒𝑠𝑙𝑎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a-DK" sz="20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Permeabiliteten</a:t>
                </a: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a-DK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𝑚𝑎𝑡𝑒𝑟𝑖𝑎𝑙𝑒𝑡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𝑠𝑝𝑜𝑙𝑒𝑛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𝑣𝑖𝑘𝑙𝑒𝑡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𝑜𝑚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 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𝐿𝑢𝑓𝑡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𝑒𝑙𝑙𝑒𝑟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𝑎𝑛𝑑𝑟𝑒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da-DK" sz="2000" b="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𝑖𝑘𝑘𝑒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𝑙𝑒𝑑𝑒𝑛𝑑𝑒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𝑚𝑎𝑡𝑒𝑟𝑖𝑎𝑙𝑒𝑟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h𝑎𝑟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𝑒𝑛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µ=</m:t>
                    </m:r>
                    <m:sSub>
                      <m:sSub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µ</m:t>
                        </m:r>
                      </m:e>
                      <m:sub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=4∗</m:t>
                    </m:r>
                    <m:r>
                      <m:rPr>
                        <m:sty m:val="p"/>
                      </m:rPr>
                      <a:rPr lang="el-GR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π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sSup>
                      <m:sSup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10</m:t>
                        </m:r>
                      </m:e>
                      <m:sup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.</a:t>
                </a:r>
              </a:p>
              <a:p>
                <a:pPr lvl="0">
                  <a:defRPr/>
                </a:pP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Hvis materialet er </a:t>
                </a:r>
                <a:r>
                  <a:rPr lang="da-DK" sz="2000" u="sng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ledende</a:t>
                </a:r>
                <a:r>
                  <a:rPr lang="da-DK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er </a:t>
                </a:r>
                <a14:m>
                  <m:oMath xmlns:m="http://schemas.openxmlformats.org/officeDocument/2006/math">
                    <m:r>
                      <a:rPr lang="da-DK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sSub>
                      <m:sSub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hvor </a:t>
                </a:r>
                <a:r>
                  <a:rPr lang="da-DK" sz="2000" i="0" dirty="0">
                    <a:solidFill>
                      <a:prstClr val="black"/>
                    </a:solidFill>
                    <a:latin typeface="+mj-lt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𝑒𝑟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𝑚𝑎𝑡𝑒𝑟𝑖𝑎𝑙𝑒𝑡𝑠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𝑡𝑎𝑙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𝑏𝑒𝑑𝑟𝑒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𝑒𝑛𝑑</m:t>
                    </m:r>
                    <m:r>
                      <a:rPr lang="da-DK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da-DK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da-DK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kstfel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69" y="843202"/>
                <a:ext cx="10385367" cy="4535088"/>
              </a:xfrm>
              <a:prstGeom prst="rect">
                <a:avLst/>
              </a:prstGeom>
              <a:blipFill>
                <a:blip r:embed="rId2"/>
                <a:stretch>
                  <a:fillRect l="-646" t="-53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Billede 7"/>
          <p:cNvPicPr>
            <a:picLocks noChangeAspect="1"/>
          </p:cNvPicPr>
          <p:nvPr/>
        </p:nvPicPr>
        <p:blipFill rotWithShape="1">
          <a:blip r:embed="rId3"/>
          <a:srcRect l="6922" t="4283" r="55885" b="15468"/>
          <a:stretch/>
        </p:blipFill>
        <p:spPr>
          <a:xfrm>
            <a:off x="9333449" y="732366"/>
            <a:ext cx="2210158" cy="2625976"/>
          </a:xfrm>
          <a:prstGeom prst="rect">
            <a:avLst/>
          </a:prstGeom>
        </p:spPr>
      </p:pic>
      <p:pic>
        <p:nvPicPr>
          <p:cNvPr id="3" name="Billede 2"/>
          <p:cNvPicPr>
            <a:picLocks noChangeAspect="1"/>
          </p:cNvPicPr>
          <p:nvPr/>
        </p:nvPicPr>
        <p:blipFill rotWithShape="1">
          <a:blip r:embed="rId4"/>
          <a:srcRect l="6345" t="10491" r="7136" b="14919"/>
          <a:stretch/>
        </p:blipFill>
        <p:spPr>
          <a:xfrm>
            <a:off x="570808" y="4718806"/>
            <a:ext cx="2493818" cy="473971"/>
          </a:xfrm>
          <a:prstGeom prst="rect">
            <a:avLst/>
          </a:prstGeom>
        </p:spPr>
      </p:pic>
      <p:pic>
        <p:nvPicPr>
          <p:cNvPr id="4" name="Billede 3"/>
          <p:cNvPicPr>
            <a:picLocks noChangeAspect="1"/>
          </p:cNvPicPr>
          <p:nvPr/>
        </p:nvPicPr>
        <p:blipFill rotWithShape="1">
          <a:blip r:embed="rId5"/>
          <a:srcRect l="12665"/>
          <a:stretch/>
        </p:blipFill>
        <p:spPr>
          <a:xfrm>
            <a:off x="570808" y="5328567"/>
            <a:ext cx="1834342" cy="9516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/>
              <p:cNvSpPr txBox="1"/>
              <p:nvPr/>
            </p:nvSpPr>
            <p:spPr>
              <a:xfrm>
                <a:off x="3352800" y="4706653"/>
                <a:ext cx="8124305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da-DK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da-DK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kumimoji="0" lang="da-DK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  <m:t>𝑚</m:t>
                          </m:r>
                        </m:sub>
                      </m:sSub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𝑒𝑟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𝑑𝑒𝑛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𝑚𝑎𝑔𝑛𝑒𝑡𝑖𝑠𝑘𝑒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𝑚𝑜𝑑𝑠𝑡𝑎𝑛𝑑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,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𝑠𝑜𝑚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𝑜𝑔𝑠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å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𝑏𝑒𝑛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æ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𝑣𝑛𝑒𝑠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da-DK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𝑟𝑒𝑙𝑢𝑘𝑡𝑎𝑛𝑠𝑒𝑛</m:t>
                      </m:r>
                    </m:oMath>
                  </m:oMathPara>
                </a14:m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da-DK" sz="2000" noProof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a-DK" sz="20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da-DK" sz="20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𝑙</m:t>
                    </m:r>
                  </m:oMath>
                </a14:m>
                <a:r>
                  <a:rPr lang="da-DK" sz="2000" noProof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Middellængden af ringen eller længden af stangen</a:t>
                </a:r>
                <a:endParaRPr kumimoji="0" lang="da-DK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a-D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kstfel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4706653"/>
                <a:ext cx="8124305" cy="16312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 4"/>
              <p:cNvSpPr/>
              <p:nvPr/>
            </p:nvSpPr>
            <p:spPr>
              <a:xfrm>
                <a:off x="493221" y="4246198"/>
                <a:ext cx="1105038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𝐵𝑒𝑛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æ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𝑣𝑛𝑒𝑠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𝐴𝑚𝑝𝑒𝑟𝑒𝑣𝑖𝑛𝑑𝑖𝑛𝑔𝑠𝑡𝑎𝑙𝑙𝑒𝑡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]…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𝑘𝑎𝑙𝑑𝑒𝑠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𝑜𝑔𝑠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å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𝑑𝑒𝑛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𝑚𝑎𝑔𝑛𝑒𝑡𝑜𝑚𝑜𝑡𝑜𝑟𝑖𝑠𝑙𝑒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𝑘𝑟𝑎𝑓𝑡</m:t>
                      </m:r>
                      <m:r>
                        <a:rPr lang="da-DK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da-DK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da-DK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da-DK" sz="2000" dirty="0"/>
              </a:p>
            </p:txBody>
          </p:sp>
        </mc:Choice>
        <mc:Fallback xmlns="">
          <p:sp>
            <p:nvSpPr>
              <p:cNvPr id="5" name="Rektange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21" y="4246198"/>
                <a:ext cx="11050386" cy="400110"/>
              </a:xfrm>
              <a:prstGeom prst="rect">
                <a:avLst/>
              </a:prstGeom>
              <a:blipFill>
                <a:blip r:embed="rId7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29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Kredsløb">
  <a:themeElements>
    <a:clrScheme name="Kredsløb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Kredsløb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redsløb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1124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Tw Cen MT</vt:lpstr>
      <vt:lpstr>1_Kredsløb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</dc:title>
  <dc:creator>John Erik Andersen</dc:creator>
  <cp:lastModifiedBy>Simon Tran Agerholm</cp:lastModifiedBy>
  <cp:revision>33</cp:revision>
  <dcterms:created xsi:type="dcterms:W3CDTF">2018-07-24T14:30:50Z</dcterms:created>
  <dcterms:modified xsi:type="dcterms:W3CDTF">2026-01-26T12:51:06Z</dcterms:modified>
</cp:coreProperties>
</file>