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12" r:id="rId3"/>
    <p:sldMasterId id="2147483813" r:id="rId4"/>
  </p:sldMasterIdLst>
  <p:notesMasterIdLst>
    <p:notesMasterId r:id="rId15"/>
  </p:notesMasterIdLst>
  <p:sldIdLst>
    <p:sldId id="283" r:id="rId5"/>
    <p:sldId id="284" r:id="rId6"/>
    <p:sldId id="276" r:id="rId7"/>
    <p:sldId id="277" r:id="rId8"/>
    <p:sldId id="278" r:id="rId9"/>
    <p:sldId id="280" r:id="rId10"/>
    <p:sldId id="279" r:id="rId11"/>
    <p:sldId id="281" r:id="rId12"/>
    <p:sldId id="275" r:id="rId13"/>
    <p:sldId id="282" r:id="rId14"/>
  </p:sldIdLst>
  <p:sldSz cx="12192000" cy="6858000"/>
  <p:notesSz cx="9874250" cy="6724650"/>
  <p:embeddedFontLst>
    <p:embeddedFont>
      <p:font typeface="Cambria Math" panose="02040503050406030204" pitchFamily="18" charset="0"/>
      <p:regular r:id="rId16"/>
    </p:embeddedFont>
  </p:embeddedFontLst>
  <p:defaultTextStyle>
    <a:defPPr>
      <a:defRPr lang="da-DK"/>
    </a:defPPr>
    <a:lvl1pPr marL="0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6433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72866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9298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45731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82164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19">
          <p15:clr>
            <a:srgbClr val="A4A3A4"/>
          </p15:clr>
        </p15:guide>
        <p15:guide id="2" pos="311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20C099-CE18-4AF2-9D26-D16E5AD76FC5}" v="1" dt="2026-01-26T13:00:27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56" y="13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19"/>
        <p:guide pos="311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Tran Agerholm" userId="dd55e2d3-906e-4a4a-90ea-dda6205f875e" providerId="ADAL" clId="{5EFFF862-C165-4C4A-8B20-E280CAF10480}"/>
    <pc:docChg chg="undo custSel addSld delSld modSld sldOrd">
      <pc:chgData name="Simon Tran Agerholm" userId="dd55e2d3-906e-4a4a-90ea-dda6205f875e" providerId="ADAL" clId="{5EFFF862-C165-4C4A-8B20-E280CAF10480}" dt="2026-01-26T13:00:27.053" v="15"/>
      <pc:docMkLst>
        <pc:docMk/>
      </pc:docMkLst>
      <pc:sldChg chg="modSp new mod ord">
        <pc:chgData name="Simon Tran Agerholm" userId="dd55e2d3-906e-4a4a-90ea-dda6205f875e" providerId="ADAL" clId="{5EFFF862-C165-4C4A-8B20-E280CAF10480}" dt="2026-01-26T13:00:27.053" v="15"/>
        <pc:sldMkLst>
          <pc:docMk/>
          <pc:sldMk cId="3504664259" sldId="284"/>
        </pc:sldMkLst>
        <pc:spChg chg="mod">
          <ac:chgData name="Simon Tran Agerholm" userId="dd55e2d3-906e-4a4a-90ea-dda6205f875e" providerId="ADAL" clId="{5EFFF862-C165-4C4A-8B20-E280CAF10480}" dt="2026-01-26T13:00:27.053" v="15"/>
          <ac:spMkLst>
            <pc:docMk/>
            <pc:sldMk cId="3504664259" sldId="284"/>
            <ac:spMk id="3" creationId="{73DB0C1B-9F30-47CE-8B06-C7588E583158}"/>
          </ac:spMkLst>
        </pc:spChg>
        <pc:spChg chg="mod">
          <ac:chgData name="Simon Tran Agerholm" userId="dd55e2d3-906e-4a4a-90ea-dda6205f875e" providerId="ADAL" clId="{5EFFF862-C165-4C4A-8B20-E280CAF10480}" dt="2026-01-26T13:00:19.584" v="14" actId="20577"/>
          <ac:spMkLst>
            <pc:docMk/>
            <pc:sldMk cId="3504664259" sldId="284"/>
            <ac:spMk id="4" creationId="{B905299C-F2F8-94CD-AECA-F7AEAF0DD125}"/>
          </ac:spMkLst>
        </pc:spChg>
      </pc:sldChg>
      <pc:sldChg chg="new del">
        <pc:chgData name="Simon Tran Agerholm" userId="dd55e2d3-906e-4a4a-90ea-dda6205f875e" providerId="ADAL" clId="{5EFFF862-C165-4C4A-8B20-E280CAF10480}" dt="2026-01-26T13:00:13.147" v="1" actId="680"/>
        <pc:sldMkLst>
          <pc:docMk/>
          <pc:sldMk cId="3761859878" sldId="2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313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5592763" y="0"/>
            <a:ext cx="4279900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38FFAB-59D3-46FC-8165-49E4D2BF3BEF}" type="datetimeFigureOut">
              <a:rPr lang="da-DK" smtClean="0"/>
              <a:t>26-01-2026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2921000" y="841375"/>
            <a:ext cx="4032250" cy="2268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987425" y="3236913"/>
            <a:ext cx="7899400" cy="26479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6388100"/>
            <a:ext cx="4278313" cy="336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5592763" y="6388100"/>
            <a:ext cx="4279900" cy="336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489969-2B69-43B5-AA37-97431B5548D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77345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9" b="14030"/>
          <a:stretch/>
        </p:blipFill>
        <p:spPr>
          <a:xfrm>
            <a:off x="0" y="-1"/>
            <a:ext cx="12192000" cy="5145207"/>
          </a:xfrm>
          <a:prstGeom prst="rect">
            <a:avLst/>
          </a:prstGeom>
        </p:spPr>
      </p:pic>
      <p:sp>
        <p:nvSpPr>
          <p:cNvPr id="7" name="Rektangel 6"/>
          <p:cNvSpPr/>
          <p:nvPr/>
        </p:nvSpPr>
        <p:spPr>
          <a:xfrm>
            <a:off x="0" y="5145206"/>
            <a:ext cx="12192000" cy="84034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100"/>
          </a:p>
        </p:txBody>
      </p:sp>
      <p:pic>
        <p:nvPicPr>
          <p:cNvPr id="10" name="Billed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089" y="5739932"/>
            <a:ext cx="1892215" cy="560487"/>
          </a:xfrm>
          <a:prstGeom prst="rect">
            <a:avLst/>
          </a:prstGeom>
        </p:spPr>
      </p:pic>
      <p:sp>
        <p:nvSpPr>
          <p:cNvPr id="3" name="Pladsholder til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336062" y="5499100"/>
            <a:ext cx="8862646" cy="521074"/>
          </a:xfrm>
        </p:spPr>
        <p:txBody>
          <a:bodyPr/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 err="1"/>
              <a:t>Præsentationtitel</a:t>
            </a:r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quarter" idx="11" hasCustomPrompt="1"/>
          </p:nvPr>
        </p:nvSpPr>
        <p:spPr>
          <a:xfrm>
            <a:off x="335486" y="6129338"/>
            <a:ext cx="6979138" cy="450850"/>
          </a:xfrm>
        </p:spPr>
        <p:txBody>
          <a:bodyPr/>
          <a:lstStyle>
            <a:lvl2pPr marL="39114" indent="0">
              <a:buNone/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da-DK" dirty="0"/>
              <a:t>[Dato, sted, forfatter]</a:t>
            </a:r>
          </a:p>
        </p:txBody>
      </p:sp>
    </p:spTree>
    <p:extLst>
      <p:ext uri="{BB962C8B-B14F-4D97-AF65-F5344CB8AC3E}">
        <p14:creationId xmlns:p14="http://schemas.microsoft.com/office/powerpoint/2010/main" val="1721833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ktion 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35202" y="2828921"/>
            <a:ext cx="11521600" cy="901179"/>
          </a:xfrm>
        </p:spPr>
        <p:txBody>
          <a:bodyPr>
            <a:normAutofit/>
          </a:bodyPr>
          <a:lstStyle>
            <a:lvl1pPr algn="ctr">
              <a:defRPr sz="23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SEKTIONS OVERSKRIFT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9" name="Pladsholder til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335204" y="1388729"/>
            <a:ext cx="11522364" cy="1151467"/>
          </a:xfrm>
        </p:spPr>
        <p:txBody>
          <a:bodyPr anchor="ctr">
            <a:noAutofit/>
          </a:bodyPr>
          <a:lstStyle>
            <a:lvl1pPr algn="ctr">
              <a:buNone/>
              <a:defRPr sz="70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a-DK" dirty="0" err="1"/>
              <a:t>Nr</a:t>
            </a:r>
            <a:endParaRPr lang="da-DK" dirty="0"/>
          </a:p>
        </p:txBody>
      </p:sp>
      <p:sp>
        <p:nvSpPr>
          <p:cNvPr id="11" name="Pladsholder til tekst 10"/>
          <p:cNvSpPr>
            <a:spLocks noGrp="1"/>
          </p:cNvSpPr>
          <p:nvPr>
            <p:ph type="body" sz="quarter" idx="14" hasCustomPrompt="1"/>
          </p:nvPr>
        </p:nvSpPr>
        <p:spPr>
          <a:xfrm>
            <a:off x="334433" y="3789051"/>
            <a:ext cx="11523134" cy="2038351"/>
          </a:xfrm>
        </p:spPr>
        <p:txBody>
          <a:bodyPr>
            <a:normAutofit/>
          </a:bodyPr>
          <a:lstStyle>
            <a:lvl1pPr algn="ctr">
              <a:buNone/>
              <a:defRPr lang="da-DK" sz="2100" b="0" i="0" baseline="0" dirty="0">
                <a:solidFill>
                  <a:schemeClr val="bg1">
                    <a:lumMod val="50000"/>
                  </a:schemeClr>
                </a:solidFill>
              </a:defRPr>
            </a:lvl1pPr>
            <a:lvl4pPr>
              <a:buNone/>
              <a:defRPr lang="da-DK" dirty="0"/>
            </a:lvl4pPr>
          </a:lstStyle>
          <a:p>
            <a:pPr lvl="0"/>
            <a:r>
              <a:rPr lang="da-DK" dirty="0"/>
              <a:t>Beskrivende tekst</a:t>
            </a:r>
          </a:p>
        </p:txBody>
      </p:sp>
      <p:sp>
        <p:nvSpPr>
          <p:cNvPr id="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56354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8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5600D1E9-0F01-437B-A299-2C98296059BE}" type="datetime1">
              <a:rPr lang="da-DK" smtClean="0"/>
              <a:t>26-01-2026</a:t>
            </a:fld>
            <a:endParaRPr lang="da-DK" dirty="0"/>
          </a:p>
        </p:txBody>
      </p:sp>
      <p:pic>
        <p:nvPicPr>
          <p:cNvPr id="10" name="Billed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0841" y="258166"/>
            <a:ext cx="1892215" cy="560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hold med text og tynd stre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455251" y="2228841"/>
            <a:ext cx="11161488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427953" y="1628758"/>
            <a:ext cx="11188786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0" y="6312002"/>
            <a:ext cx="1424640" cy="366183"/>
          </a:xfrm>
        </p:spPr>
        <p:txBody>
          <a:bodyPr/>
          <a:lstStyle>
            <a:lvl1pPr>
              <a:defRPr sz="1000" b="1" baseline="0">
                <a:solidFill>
                  <a:srgbClr val="006273"/>
                </a:solidFill>
                <a:latin typeface="Arial" pitchFamily="34" charset="0"/>
              </a:defRPr>
            </a:lvl1pPr>
          </a:lstStyle>
          <a:p>
            <a:fld id="{40963222-71FA-407A-8204-57B3FDB4710D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552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hold med text og tynd streg uden bundstreg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455251" y="2228841"/>
            <a:ext cx="11161488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</a:defRPr>
            </a:lvl1pPr>
            <a:lvl2pPr marL="312919" indent="-281255">
              <a:defRPr sz="1400" baseline="0">
                <a:solidFill>
                  <a:srgbClr val="006273"/>
                </a:solidFill>
              </a:defRPr>
            </a:lvl2pPr>
            <a:lvl3pPr marL="528982" indent="-216063">
              <a:defRPr sz="1400" baseline="0">
                <a:solidFill>
                  <a:srgbClr val="006273"/>
                </a:solidFill>
              </a:defRPr>
            </a:lvl3pPr>
            <a:lvl4pPr marL="735733" indent="-206751">
              <a:defRPr sz="1400" baseline="0">
                <a:solidFill>
                  <a:srgbClr val="006273"/>
                </a:solidFill>
              </a:defRPr>
            </a:lvl4pPr>
            <a:lvl5pPr marL="944346" indent="-208613">
              <a:defRPr sz="1400" baseline="0">
                <a:solidFill>
                  <a:srgbClr val="006273"/>
                </a:solidFill>
              </a:defRPr>
            </a:lvl5pPr>
            <a:lvl6pPr>
              <a:defRPr sz="1400" baseline="0">
                <a:solidFill>
                  <a:srgbClr val="006273"/>
                </a:solidFill>
              </a:defRPr>
            </a:lvl6pPr>
            <a:lvl7pPr>
              <a:defRPr sz="1400" baseline="0">
                <a:solidFill>
                  <a:srgbClr val="006273"/>
                </a:solidFill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427953" y="1628758"/>
            <a:ext cx="11188786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FD7E782-E2CE-4F12-A941-BF1B1ADF60EC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553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98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455251" y="2228841"/>
            <a:ext cx="11161488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427953" y="1628758"/>
            <a:ext cx="11188786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3E7E873-A5F0-42ED-9C12-4AF27B43B209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553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85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C8DCDF03-C58E-442C-BD78-B79D9E402382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3441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880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044F1-D35F-4FBA-A9CA-30950A84B2B5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57684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8FD5-6A63-4385-B408-D2AF15E03D69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12209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A7204-AC3C-42D3-9638-A8CD104D3749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40187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A3B3-AC04-4C57-87F1-2BDCBD7AE331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89784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4C953-CBAF-4F5A-B743-6A15F8C97D26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03357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D2CFE-F868-4FC8-8512-8217FE0B2D9A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334891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CE51-7704-4BB1-BB25-ACAF8064AE65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285039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ABD8-BAF7-4900-AA32-786B8EFD6290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482549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413A5-CF67-41D3-A058-0935F65F8491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785974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B8915-303D-4682-A5AA-6C825FF35B0E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13171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8FA76-EA26-4F38-8F0C-59E25C28877F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848722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257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dsholder til titel 13"/>
          <p:cNvSpPr>
            <a:spLocks noGrp="1"/>
          </p:cNvSpPr>
          <p:nvPr>
            <p:ph type="title"/>
          </p:nvPr>
        </p:nvSpPr>
        <p:spPr>
          <a:xfrm>
            <a:off x="575266" y="275167"/>
            <a:ext cx="11041472" cy="1143000"/>
          </a:xfrm>
          <a:prstGeom prst="rect">
            <a:avLst/>
          </a:prstGeom>
        </p:spPr>
        <p:txBody>
          <a:bodyPr vert="horz" lIns="107287" tIns="53643" rIns="107287" bIns="53643" rtlCol="0" anchor="ctr">
            <a:normAutofit/>
          </a:bodyPr>
          <a:lstStyle/>
          <a:p>
            <a:r>
              <a:rPr lang="da-DK" dirty="0"/>
              <a:t>KLIK FOR AT REDIGERE TITELTYPOGRAFI I MASTEREN</a:t>
            </a:r>
          </a:p>
        </p:txBody>
      </p:sp>
      <p:sp>
        <p:nvSpPr>
          <p:cNvPr id="16" name="Pladsholder til dato 15"/>
          <p:cNvSpPr>
            <a:spLocks noGrp="1"/>
          </p:cNvSpPr>
          <p:nvPr>
            <p:ph type="dt" sz="half" idx="2"/>
          </p:nvPr>
        </p:nvSpPr>
        <p:spPr>
          <a:xfrm>
            <a:off x="456467" y="6356354"/>
            <a:ext cx="311920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l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E8F4ABF4-89E8-4AA4-82ED-B6FBAE04350B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56354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8" name="Pladsholder til diasnummer 17"/>
          <p:cNvSpPr>
            <a:spLocks noGrp="1"/>
          </p:cNvSpPr>
          <p:nvPr>
            <p:ph type="sldNum" sz="quarter" idx="4"/>
          </p:nvPr>
        </p:nvSpPr>
        <p:spPr>
          <a:xfrm>
            <a:off x="8616339" y="6356354"/>
            <a:ext cx="311920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8" name="Pladsholder til tekst 7"/>
          <p:cNvSpPr>
            <a:spLocks noGrp="1"/>
          </p:cNvSpPr>
          <p:nvPr>
            <p:ph type="body" idx="1"/>
          </p:nvPr>
        </p:nvSpPr>
        <p:spPr>
          <a:xfrm>
            <a:off x="575266" y="1600203"/>
            <a:ext cx="11041472" cy="4525433"/>
          </a:xfrm>
          <a:prstGeom prst="rect">
            <a:avLst/>
          </a:prstGeom>
        </p:spPr>
        <p:txBody>
          <a:bodyPr vert="horz" lIns="107287" tIns="53643" rIns="107287" bIns="53643" rtlCol="0">
            <a:noAutofit/>
          </a:bodyPr>
          <a:lstStyle/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 err="1"/>
              <a:t>Level</a:t>
            </a:r>
            <a:r>
              <a:rPr lang="da-DK" dirty="0"/>
              <a:t> 6</a:t>
            </a:r>
          </a:p>
          <a:p>
            <a:pPr lvl="6"/>
            <a:r>
              <a:rPr lang="da-DK" dirty="0" err="1"/>
              <a:t>Level</a:t>
            </a:r>
            <a:r>
              <a:rPr lang="da-DK" dirty="0"/>
              <a:t> 7</a:t>
            </a:r>
          </a:p>
          <a:p>
            <a:pPr lvl="5"/>
            <a:endParaRPr lang="da-D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20" r:id="rId2"/>
    <p:sldLayoutId id="2147483765" r:id="rId3"/>
    <p:sldLayoutId id="2147483768" r:id="rId4"/>
    <p:sldLayoutId id="2147483770" r:id="rId5"/>
    <p:sldLayoutId id="2147483771" r:id="rId6"/>
  </p:sldLayoutIdLst>
  <p:hf hdr="0"/>
  <p:txStyles>
    <p:titleStyle>
      <a:lvl1pPr marL="420951" indent="-420951" algn="l" defTabSz="1072866" rtl="0" eaLnBrk="1" latinLnBrk="0" hangingPunct="1">
        <a:spcBef>
          <a:spcPct val="0"/>
        </a:spcBef>
        <a:buClr>
          <a:schemeClr val="tx2"/>
        </a:buClr>
        <a:buFont typeface="+mj-lt"/>
        <a:buNone/>
        <a:defRPr sz="2800" b="1" kern="1200">
          <a:solidFill>
            <a:srgbClr val="006273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1072866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100" b="1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1pPr>
      <a:lvl2pPr marL="312919" indent="-273805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9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2pPr>
      <a:lvl3pPr marL="52898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3pPr>
      <a:lvl4pPr marL="735733" indent="-206751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4pPr>
      <a:lvl5pPr marL="944346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5pPr>
      <a:lvl6pPr marL="1152958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tabLst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6pPr>
      <a:lvl7pPr marL="136902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7pPr>
      <a:lvl8pPr marL="4023246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59678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6433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72866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9298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45731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82164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18597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55029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91462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340848-2B79-4FF7-9527-4BB01B447CB3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33998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272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1FE8A090-6623-38F8-7556-3F86F0FAB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</a:t>
            </a:fld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3DB0C1B-9F30-47CE-8B06-C7588E58315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a-DK" dirty="0"/>
              <a:t>Spørgsmål til magnetiske kreds + magnetisering af jern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905299C-F2F8-94CD-AECA-F7AEAF0DD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	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A2E09B3-F2C4-51AE-590D-8A1085E58B8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E7E873-A5F0-42ED-9C12-4AF27B43B209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BE7F196-7D82-2A0B-CBF3-33F6E002E6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/>
              <a:t>Simon Tran Agerholm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04664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3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550558" y="1634360"/>
                <a:ext cx="9031043" cy="4555010"/>
              </a:xfrm>
            </p:spPr>
            <p:txBody>
              <a:bodyPr/>
              <a:lstStyle/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r>
                  <a:rPr lang="da-DK" sz="1500" dirty="0">
                    <a:solidFill>
                      <a:schemeClr val="tx1"/>
                    </a:solidFill>
                  </a:rPr>
                  <a:t>Umagnetisk materiale: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16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1600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μ</m:t>
                        </m:r>
                      </m:e>
                      <m:sub>
                        <m:r>
                          <a:rPr lang="da-DK" sz="1600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𝐫</m:t>
                        </m:r>
                      </m:sub>
                    </m:sSub>
                  </m:oMath>
                </a14:m>
                <a:r>
                  <a:rPr lang="da-DK" sz="1600" dirty="0">
                    <a:solidFill>
                      <a:schemeClr val="tx1"/>
                    </a:solidFill>
                  </a:rPr>
                  <a:t> ~ 1 =&gt;	</a:t>
                </a:r>
                <a:r>
                  <a:rPr lang="el-GR" sz="1600" dirty="0">
                    <a:solidFill>
                      <a:schemeClr val="tx1"/>
                    </a:solidFill>
                  </a:rPr>
                  <a:t> μ</a:t>
                </a:r>
                <a:r>
                  <a:rPr lang="da-DK" sz="1600" dirty="0">
                    <a:solidFill>
                      <a:schemeClr val="tx1"/>
                    </a:solidFill>
                  </a:rPr>
                  <a:t> ~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16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1600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μ</m:t>
                        </m:r>
                      </m:e>
                      <m:sub>
                        <m:r>
                          <a:rPr lang="da-DK" sz="1600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a-DK" sz="1500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da-DK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4∙</m:t>
                    </m:r>
                    <m:r>
                      <a:rPr lang="da-DK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da-DK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da-DK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da-DK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−7</m:t>
                        </m:r>
                      </m:sup>
                    </m:sSup>
                    <m:r>
                      <a:rPr lang="da-DK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f>
                      <m:fPr>
                        <m:ctrlPr>
                          <a:rPr lang="da-DK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da-DK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da-DK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da-DK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da-DK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da-DK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r>
                  <a:rPr lang="da-DK" sz="1500" dirty="0">
                    <a:solidFill>
                      <a:schemeClr val="tx1"/>
                    </a:solidFill>
                  </a:rPr>
                  <a:t>Ikke magnetisk materiale:</a:t>
                </a:r>
              </a:p>
              <a:p>
                <a:r>
                  <a:rPr lang="el-GR" sz="1400" dirty="0">
                    <a:solidFill>
                      <a:schemeClr val="tx1"/>
                    </a:solidFill>
                  </a:rPr>
                  <a:t> μ</a:t>
                </a:r>
                <a:r>
                  <a:rPr lang="da-DK" sz="1400" dirty="0">
                    <a:solidFill>
                      <a:schemeClr val="tx1"/>
                    </a:solidFill>
                  </a:rPr>
                  <a:t> er lille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14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1400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μ</m:t>
                        </m:r>
                      </m:e>
                      <m:sub>
                        <m:r>
                          <a:rPr lang="da-DK" sz="1400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𝐫</m:t>
                        </m:r>
                      </m:sub>
                    </m:sSub>
                  </m:oMath>
                </a14:m>
                <a:r>
                  <a:rPr lang="da-DK" sz="1400" dirty="0">
                    <a:solidFill>
                      <a:schemeClr val="tx1"/>
                    </a:solidFill>
                  </a:rPr>
                  <a:t> ~ 1)	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14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a-DK" sz="14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da-DK" sz="14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da-DK" sz="1500" dirty="0">
                    <a:solidFill>
                      <a:schemeClr val="tx1"/>
                    </a:solidFill>
                  </a:rPr>
                  <a:t> er stor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da-DK" sz="16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𝑙</m:t>
                        </m:r>
                      </m:num>
                      <m:den>
                        <m: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𝜇</m:t>
                        </m:r>
                        <m: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den>
                    </m:f>
                    <m:r>
                      <a:rPr lang="da-DK" sz="16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da-DK" sz="1500" dirty="0">
                    <a:solidFill>
                      <a:schemeClr val="tx1"/>
                    </a:solidFill>
                  </a:rPr>
                  <a:t>)</a:t>
                </a:r>
              </a:p>
              <a:p>
                <a:r>
                  <a:rPr lang="da-DK" sz="1500" dirty="0">
                    <a:solidFill>
                      <a:schemeClr val="tx1"/>
                    </a:solidFill>
                  </a:rPr>
                  <a:t>=&gt; </a:t>
                </a:r>
                <a:r>
                  <a:rPr lang="el-GR" sz="1500" dirty="0">
                    <a:solidFill>
                      <a:schemeClr val="tx1"/>
                    </a:solidFill>
                  </a:rPr>
                  <a:t>Φ</a:t>
                </a:r>
                <a:r>
                  <a:rPr lang="da-DK" sz="1500" dirty="0">
                    <a:solidFill>
                      <a:schemeClr val="tx1"/>
                    </a:solidFill>
                  </a:rPr>
                  <a:t> er lille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da-DK" sz="16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da-DK" sz="16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  <m:r>
                      <a:rPr lang="da-DK" sz="16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16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da-DK" sz="16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da-DK" sz="16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16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𝜙</m:t>
                    </m:r>
                  </m:oMath>
                </a14:m>
                <a:r>
                  <a:rPr lang="da-DK" sz="16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 )	</a:t>
                </a:r>
                <a:r>
                  <a:rPr lang="da-DK" sz="1500" dirty="0">
                    <a:solidFill>
                      <a:schemeClr val="tx1"/>
                    </a:solidFill>
                  </a:rPr>
                  <a:t>=&gt; B er lille (</a:t>
                </a:r>
                <a14:m>
                  <m:oMath xmlns:m="http://schemas.openxmlformats.org/officeDocument/2006/math">
                    <m:r>
                      <a:rPr lang="da-DK" sz="1600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da-DK" sz="1600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6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a-DK" sz="1600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Φ</m:t>
                        </m:r>
                      </m:num>
                      <m:den>
                        <m:r>
                          <a:rPr lang="da-DK" sz="16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lang="da-DK" sz="1500" dirty="0">
                    <a:solidFill>
                      <a:schemeClr val="tx1"/>
                    </a:solidFill>
                  </a:rPr>
                  <a:t>)</a:t>
                </a:r>
              </a:p>
              <a:p>
                <a:r>
                  <a:rPr lang="el-GR" sz="1500" dirty="0">
                    <a:solidFill>
                      <a:schemeClr val="tx1"/>
                    </a:solidFill>
                  </a:rPr>
                  <a:t>Φ</a:t>
                </a:r>
                <a:r>
                  <a:rPr lang="da-DK" sz="1500" dirty="0">
                    <a:solidFill>
                      <a:schemeClr val="tx1"/>
                    </a:solidFill>
                  </a:rPr>
                  <a:t> = Magnetisk flux/magnetiske felt [Wb]</a:t>
                </a:r>
              </a:p>
              <a:p>
                <a:r>
                  <a:rPr lang="da-DK" sz="1500" dirty="0">
                    <a:solidFill>
                      <a:schemeClr val="tx1"/>
                    </a:solidFill>
                  </a:rPr>
                  <a:t>B = Fluxtætheden 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𝑾𝒃</m:t>
                        </m:r>
                      </m:num>
                      <m:den>
                        <m:sSup>
                          <m:sSupPr>
                            <m:ctrlPr>
                              <a:rPr lang="da-DK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p>
                            <m:r>
                              <a:rPr lang="da-DK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da-DK" sz="1500" dirty="0">
                    <a:solidFill>
                      <a:schemeClr val="tx1"/>
                    </a:solidFill>
                  </a:rPr>
                  <a:t>] [T] (Tesla)</a:t>
                </a:r>
              </a:p>
              <a:p>
                <a:r>
                  <a:rPr lang="el-GR" sz="1600" dirty="0">
                    <a:solidFill>
                      <a:schemeClr val="tx1"/>
                    </a:solidFill>
                  </a:rPr>
                  <a:t>μ</a:t>
                </a:r>
                <a:r>
                  <a:rPr lang="da-DK" sz="1600" dirty="0">
                    <a:solidFill>
                      <a:schemeClr val="tx1"/>
                    </a:solidFill>
                  </a:rPr>
                  <a:t> = </a:t>
                </a:r>
                <a:r>
                  <a:rPr lang="da-DK" sz="1500" dirty="0">
                    <a:solidFill>
                      <a:schemeClr val="tx1"/>
                    </a:solidFill>
                  </a:rPr>
                  <a:t>permeabilitet 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da-DK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da-DK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da-DK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da-DK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da-DK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da-DK" sz="1500" dirty="0">
                    <a:solidFill>
                      <a:schemeClr val="tx1"/>
                    </a:solidFill>
                  </a:rPr>
                  <a:t>] (lille My)</a:t>
                </a:r>
              </a:p>
              <a:p>
                <a:r>
                  <a:rPr lang="da-DK" sz="1500" dirty="0" err="1">
                    <a:solidFill>
                      <a:schemeClr val="tx1"/>
                    </a:solidFill>
                  </a:rPr>
                  <a:t>Rm</a:t>
                </a:r>
                <a:r>
                  <a:rPr lang="da-DK" sz="1500" dirty="0">
                    <a:solidFill>
                      <a:schemeClr val="tx1"/>
                    </a:solidFill>
                  </a:rPr>
                  <a:t> = Reluktans 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num>
                      <m:den>
                        <m:r>
                          <a:rPr lang="da-DK" sz="1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𝑾𝒃</m:t>
                        </m:r>
                      </m:den>
                    </m:f>
                  </m:oMath>
                </a14:m>
                <a:r>
                  <a:rPr lang="da-DK" sz="1500" dirty="0">
                    <a:solidFill>
                      <a:schemeClr val="tx1"/>
                    </a:solidFill>
                  </a:rPr>
                  <a:t>] 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num>
                      <m:den>
                        <m:r>
                          <a:rPr lang="da-DK" sz="1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da-DK" sz="1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da-DK" sz="1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den>
                    </m:f>
                  </m:oMath>
                </a14:m>
                <a:r>
                  <a:rPr lang="da-DK" sz="1500" dirty="0">
                    <a:solidFill>
                      <a:schemeClr val="tx1"/>
                    </a:solidFill>
                  </a:rPr>
                  <a:t>] 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da-DK" sz="1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den>
                    </m:f>
                  </m:oMath>
                </a14:m>
                <a:r>
                  <a:rPr lang="da-DK" sz="1500" dirty="0">
                    <a:solidFill>
                      <a:schemeClr val="tx1"/>
                    </a:solidFill>
                  </a:rPr>
                  <a:t>] (Henry)</a:t>
                </a:r>
              </a:p>
              <a:p>
                <a:r>
                  <a:rPr lang="da-DK" sz="1500" dirty="0" err="1">
                    <a:solidFill>
                      <a:schemeClr val="tx1"/>
                    </a:solidFill>
                  </a:rPr>
                  <a:t>Ferromagnetisk</a:t>
                </a:r>
                <a:r>
                  <a:rPr lang="da-DK" sz="1500" dirty="0">
                    <a:solidFill>
                      <a:schemeClr val="tx1"/>
                    </a:solidFill>
                  </a:rPr>
                  <a:t> materiale har høj permeabilitet, og dermed lille reluktans.</a:t>
                </a: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r>
                  <a:rPr lang="da-DK" sz="1500" dirty="0" err="1">
                    <a:solidFill>
                      <a:schemeClr val="tx1"/>
                    </a:solidFill>
                  </a:rPr>
                  <a:t>Ferromagnetisk</a:t>
                </a:r>
                <a:r>
                  <a:rPr lang="da-DK" sz="1500" dirty="0">
                    <a:solidFill>
                      <a:schemeClr val="tx1"/>
                    </a:solidFill>
                  </a:rPr>
                  <a:t> materiale: jern, nikkel, </a:t>
                </a:r>
                <a:r>
                  <a:rPr lang="da-DK" sz="1500" dirty="0" err="1">
                    <a:solidFill>
                      <a:schemeClr val="tx1"/>
                    </a:solidFill>
                  </a:rPr>
                  <a:t>cobolt</a:t>
                </a:r>
                <a:r>
                  <a:rPr lang="da-DK" sz="1500" dirty="0">
                    <a:solidFill>
                      <a:schemeClr val="tx1"/>
                    </a:solidFill>
                  </a:rPr>
                  <a:t>.</a:t>
                </a: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550558" y="1634360"/>
                <a:ext cx="9031043" cy="4555010"/>
              </a:xfrm>
              <a:blipFill>
                <a:blip r:embed="rId2"/>
                <a:stretch>
                  <a:fillRect l="-202" b="-415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50558" y="1103241"/>
            <a:ext cx="9090889" cy="480067"/>
          </a:xfrm>
        </p:spPr>
        <p:txBody>
          <a:bodyPr/>
          <a:lstStyle/>
          <a:p>
            <a:r>
              <a:rPr lang="da-DK" dirty="0"/>
              <a:t>Magnetisering af jern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BCEEC97-B94E-428A-9B5D-1FC509879D10}" type="datetime1">
              <a:rPr lang="da-DK" smtClean="0"/>
              <a:t>26-01-2026</a:t>
            </a:fld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CA738D80-CD81-989A-64C7-03C3C60BF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480" y="1900531"/>
            <a:ext cx="2589291" cy="1981477"/>
          </a:xfrm>
          <a:prstGeom prst="rect">
            <a:avLst/>
          </a:prstGeom>
        </p:spPr>
      </p:pic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0057EC0-EDEC-12EC-9836-6B6992150C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</p:spTree>
    <p:extLst>
      <p:ext uri="{BB962C8B-B14F-4D97-AF65-F5344CB8AC3E}">
        <p14:creationId xmlns:p14="http://schemas.microsoft.com/office/powerpoint/2010/main" val="2792731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4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550558" y="1634360"/>
                <a:ext cx="9031043" cy="4555010"/>
              </a:xfrm>
            </p:spPr>
            <p:txBody>
              <a:bodyPr/>
              <a:lstStyle/>
              <a:p>
                <a:r>
                  <a:rPr lang="da-DK" sz="1500" kern="150" dirty="0">
                    <a:solidFill>
                      <a:schemeClr val="tx1"/>
                    </a:solidFill>
                    <a:ea typeface="Calibri" panose="020F0502020204030204" pitchFamily="34" charset="0"/>
                  </a:rPr>
                  <a:t>B = H </a:t>
                </a:r>
                <a14:m>
                  <m:oMath xmlns:m="http://schemas.openxmlformats.org/officeDocument/2006/math"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el-GR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da-DK" sz="1500" kern="150" dirty="0">
                    <a:solidFill>
                      <a:schemeClr val="tx1"/>
                    </a:solidFill>
                    <a:ea typeface="Calibri" panose="020F0502020204030204" pitchFamily="34" charset="0"/>
                  </a:rPr>
                  <a:t>	(ret linje)</a:t>
                </a:r>
              </a:p>
              <a:p>
                <a:r>
                  <a:rPr lang="da-DK" sz="1500" dirty="0">
                    <a:solidFill>
                      <a:schemeClr val="tx1"/>
                    </a:solidFill>
                  </a:rPr>
                  <a:t>Gælder kun, når jernet ikke er gået i mætning.</a:t>
                </a: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r>
                  <a:rPr lang="da-DK" sz="1500" dirty="0">
                    <a:solidFill>
                      <a:schemeClr val="tx1"/>
                    </a:solidFill>
                  </a:rPr>
                  <a:t>Husk: </a:t>
                </a:r>
                <a14:m>
                  <m:oMath xmlns:m="http://schemas.openxmlformats.org/officeDocument/2006/math">
                    <m:r>
                      <a:rPr lang="da-DK" sz="1400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da-DK" sz="1400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4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a-DK" sz="1400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Φ</m:t>
                        </m:r>
                      </m:num>
                      <m:den>
                        <m:r>
                          <a:rPr lang="da-DK" sz="14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den>
                    </m:f>
                    <m:r>
                      <a:rPr lang="da-DK" sz="1400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da-DK" sz="1400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da-DK" sz="1400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𝐨𝐠</m:t>
                    </m:r>
                    <m:r>
                      <a:rPr lang="da-DK" sz="1400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da-DK" sz="1400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𝐇</m:t>
                    </m:r>
                    <m:r>
                      <a:rPr lang="da-DK" sz="1400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4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4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𝐼</m:t>
                        </m:r>
                        <m:r>
                          <a:rPr lang="da-DK" sz="14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r>
                          <a:rPr lang="da-DK" sz="14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𝑁</m:t>
                        </m:r>
                      </m:num>
                      <m:den>
                        <m:r>
                          <a:rPr lang="da-DK" sz="14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𝒍</m:t>
                        </m:r>
                      </m:den>
                    </m:f>
                    <m:r>
                      <a:rPr lang="da-DK" sz="14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da-DK" sz="1500" dirty="0">
                  <a:solidFill>
                    <a:schemeClr val="tx1"/>
                  </a:solidFill>
                </a:endParaRPr>
              </a:p>
              <a:p>
                <a:r>
                  <a:rPr lang="da-DK" sz="1500" dirty="0">
                    <a:solidFill>
                      <a:schemeClr val="tx1"/>
                    </a:solidFill>
                  </a:rPr>
                  <a:t>Herved bliver det fluxen som funktion strømmen.</a:t>
                </a: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r>
                  <a:rPr lang="da-DK" sz="1500" dirty="0">
                    <a:solidFill>
                      <a:schemeClr val="tx1"/>
                    </a:solidFill>
                  </a:rPr>
                  <a:t>Kurven afhænger af materialet (permeabiliteten).</a:t>
                </a: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r>
                  <a:rPr lang="da-DK" sz="1500" dirty="0">
                    <a:solidFill>
                      <a:schemeClr val="tx1"/>
                    </a:solidFill>
                  </a:rPr>
                  <a:t>B = Fluxtætheden 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𝑾𝒃</m:t>
                        </m:r>
                      </m:num>
                      <m:den>
                        <m:sSup>
                          <m:sSupPr>
                            <m:ctrlPr>
                              <a:rPr lang="da-DK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p>
                            <m:r>
                              <a:rPr lang="da-DK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da-DK" sz="1500" dirty="0">
                    <a:solidFill>
                      <a:schemeClr val="tx1"/>
                    </a:solidFill>
                  </a:rPr>
                  <a:t>] [T] (Tesla)</a:t>
                </a:r>
              </a:p>
              <a:p>
                <a:r>
                  <a:rPr lang="el-GR" sz="1500" dirty="0">
                    <a:solidFill>
                      <a:schemeClr val="tx1"/>
                    </a:solidFill>
                  </a:rPr>
                  <a:t>Φ</a:t>
                </a:r>
                <a:r>
                  <a:rPr lang="da-DK" sz="1500" dirty="0">
                    <a:solidFill>
                      <a:schemeClr val="tx1"/>
                    </a:solidFill>
                  </a:rPr>
                  <a:t> = Magnetisk flux/magnetiske felt [Wb]</a:t>
                </a:r>
              </a:p>
              <a:p>
                <a:r>
                  <a:rPr lang="da-DK" sz="1500" dirty="0">
                    <a:solidFill>
                      <a:schemeClr val="tx1"/>
                    </a:solidFill>
                  </a:rPr>
                  <a:t>H = Feltstyrken </a:t>
                </a:r>
                <a:r>
                  <a:rPr lang="da-DK" sz="1800" dirty="0">
                    <a:solidFill>
                      <a:schemeClr val="tx1"/>
                    </a:solidFill>
                  </a:rPr>
                  <a:t>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num>
                      <m:den>
                        <m:r>
                          <a:rPr lang="da-DK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den>
                    </m:f>
                  </m:oMath>
                </a14:m>
                <a:r>
                  <a:rPr lang="da-DK" sz="1800" dirty="0">
                    <a:solidFill>
                      <a:schemeClr val="tx1"/>
                    </a:solidFill>
                  </a:rPr>
                  <a:t>] </a:t>
                </a:r>
                <a:endParaRPr lang="da-DK" sz="15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550558" y="1634360"/>
                <a:ext cx="9031043" cy="4555010"/>
              </a:xfrm>
              <a:blipFill>
                <a:blip r:embed="rId2"/>
                <a:stretch>
                  <a:fillRect l="-67" t="-13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50558" y="1103241"/>
            <a:ext cx="9090889" cy="480067"/>
          </a:xfrm>
        </p:spPr>
        <p:txBody>
          <a:bodyPr/>
          <a:lstStyle/>
          <a:p>
            <a:r>
              <a:rPr lang="da-DK" dirty="0"/>
              <a:t>Magnetisering af jern fortsat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4AB4DB4-D8D0-4B96-80D4-AADAB75AB664}" type="datetime1">
              <a:rPr lang="da-DK" smtClean="0"/>
              <a:t>26-01-2026</a:t>
            </a:fld>
            <a:endParaRPr lang="da-DK" dirty="0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EB8A36C5-5872-F050-8D27-2AE4F2DD4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421" y="1634360"/>
            <a:ext cx="4162951" cy="4555010"/>
          </a:xfrm>
          <a:prstGeom prst="rect">
            <a:avLst/>
          </a:prstGeom>
        </p:spPr>
      </p:pic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1F7D41B-CB35-F73F-A808-1DAC53B62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</p:spTree>
    <p:extLst>
      <p:ext uri="{BB962C8B-B14F-4D97-AF65-F5344CB8AC3E}">
        <p14:creationId xmlns:p14="http://schemas.microsoft.com/office/powerpoint/2010/main" val="2348346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5</a:t>
            </a:fld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quarter" idx="13"/>
          </p:nvPr>
        </p:nvSpPr>
        <p:spPr>
          <a:xfrm>
            <a:off x="1550558" y="1634360"/>
            <a:ext cx="9031043" cy="4555010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da-DK" sz="1500" kern="150" dirty="0">
                <a:solidFill>
                  <a:schemeClr val="tx1"/>
                </a:solidFill>
                <a:ea typeface="Calibri" panose="020F0502020204030204" pitchFamily="34" charset="0"/>
              </a:rPr>
              <a:t>Curie-temperaturen</a:t>
            </a:r>
          </a:p>
          <a:p>
            <a:pPr marL="285750" indent="-285750">
              <a:buFontTx/>
              <a:buChar char="-"/>
            </a:pPr>
            <a:r>
              <a:rPr lang="da-DK" sz="1500" kern="150" dirty="0">
                <a:solidFill>
                  <a:schemeClr val="tx1"/>
                </a:solidFill>
              </a:rPr>
              <a:t>Vibrationer</a:t>
            </a:r>
          </a:p>
          <a:p>
            <a:pPr marL="285750" indent="-285750">
              <a:buFontTx/>
              <a:buChar char="-"/>
            </a:pPr>
            <a:r>
              <a:rPr lang="da-DK" sz="1500" kern="150" dirty="0">
                <a:solidFill>
                  <a:schemeClr val="tx1"/>
                </a:solidFill>
              </a:rPr>
              <a:t>Slag</a:t>
            </a:r>
          </a:p>
          <a:p>
            <a:pPr marL="285750" indent="-285750">
              <a:buFontTx/>
              <a:buChar char="-"/>
            </a:pPr>
            <a:r>
              <a:rPr lang="da-DK" sz="1500" kern="150" dirty="0">
                <a:solidFill>
                  <a:schemeClr val="tx1"/>
                </a:solidFill>
              </a:rPr>
              <a:t>Tiden</a:t>
            </a:r>
          </a:p>
          <a:p>
            <a:pPr marL="285750" indent="-285750">
              <a:buFontTx/>
              <a:buChar char="-"/>
            </a:pPr>
            <a:r>
              <a:rPr lang="da-DK" sz="1500" kern="150" dirty="0">
                <a:solidFill>
                  <a:schemeClr val="tx1"/>
                </a:solidFill>
              </a:rPr>
              <a:t>Elektromagnet (strøm i modsat retning)</a:t>
            </a:r>
          </a:p>
          <a:p>
            <a:pPr marL="285750" indent="-285750">
              <a:buFontTx/>
              <a:buChar char="-"/>
            </a:pPr>
            <a:r>
              <a:rPr lang="da-DK" sz="1500" kern="150" dirty="0">
                <a:solidFill>
                  <a:schemeClr val="tx1"/>
                </a:solidFill>
              </a:rPr>
              <a:t>Stryge stål modsat vej af magnetfelt</a:t>
            </a:r>
          </a:p>
          <a:p>
            <a:pPr marL="285750" indent="-285750">
              <a:buFontTx/>
              <a:buChar char="-"/>
            </a:pPr>
            <a:endParaRPr lang="da-DK" sz="1500" dirty="0">
              <a:solidFill>
                <a:schemeClr val="tx1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50558" y="1103241"/>
            <a:ext cx="9090889" cy="480067"/>
          </a:xfrm>
        </p:spPr>
        <p:txBody>
          <a:bodyPr/>
          <a:lstStyle/>
          <a:p>
            <a:r>
              <a:rPr lang="da-DK" dirty="0"/>
              <a:t>Hvad kan fjerne magnetismen i jern?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E19BD61-B24B-4820-B435-CD7B58F17DBF}" type="datetime1">
              <a:rPr lang="da-DK" smtClean="0"/>
              <a:t>26-01-2026</a:t>
            </a:fld>
            <a:endParaRPr lang="da-DK" dirty="0"/>
          </a:p>
        </p:txBody>
      </p:sp>
      <p:pic>
        <p:nvPicPr>
          <p:cNvPr id="11" name="Billede 10">
            <a:extLst>
              <a:ext uri="{FF2B5EF4-FFF2-40B4-BE49-F238E27FC236}">
                <a16:creationId xmlns:a16="http://schemas.microsoft.com/office/drawing/2014/main" id="{54BAE997-9DDA-CDC2-81BA-8CF55BDB2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018" y="3598356"/>
            <a:ext cx="9236109" cy="2591015"/>
          </a:xfrm>
          <a:prstGeom prst="rect">
            <a:avLst/>
          </a:prstGeom>
        </p:spPr>
      </p:pic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8A703080-26B9-0B39-211C-83392D39B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</p:spTree>
    <p:extLst>
      <p:ext uri="{BB962C8B-B14F-4D97-AF65-F5344CB8AC3E}">
        <p14:creationId xmlns:p14="http://schemas.microsoft.com/office/powerpoint/2010/main" val="4122289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6</a:t>
            </a:fld>
            <a:endParaRPr lang="da-DK" dirty="0"/>
          </a:p>
        </p:txBody>
      </p:sp>
      <p:pic>
        <p:nvPicPr>
          <p:cNvPr id="10" name="Pladsholder til indhold 9">
            <a:extLst>
              <a:ext uri="{FF2B5EF4-FFF2-40B4-BE49-F238E27FC236}">
                <a16:creationId xmlns:a16="http://schemas.microsoft.com/office/drawing/2014/main" id="{BF356D04-4428-C9CB-169F-E863F39EFD6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776808" y="4106568"/>
            <a:ext cx="2061810" cy="2006085"/>
          </a:xfrm>
        </p:spPr>
      </p:pic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87238" y="947491"/>
            <a:ext cx="9090889" cy="480067"/>
          </a:xfrm>
        </p:spPr>
        <p:txBody>
          <a:bodyPr/>
          <a:lstStyle/>
          <a:p>
            <a:r>
              <a:rPr lang="da-DK" dirty="0"/>
              <a:t>Permanente magneter - hvordan ser de ud?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5D05E2E-DE92-4F10-B252-545A5657A35B}" type="datetime1">
              <a:rPr lang="da-DK" smtClean="0"/>
              <a:t>26-01-2026</a:t>
            </a:fld>
            <a:endParaRPr lang="da-DK" dirty="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47F4B113-A49A-27B4-A34C-DF99209DE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398" y="1614346"/>
            <a:ext cx="1850221" cy="2446774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848F36DA-C787-60F5-2733-5193F3141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468" y="3372608"/>
            <a:ext cx="4286250" cy="1123950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10F0C900-EBE1-0487-8CBA-10840A8180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233" y="4433233"/>
            <a:ext cx="4546470" cy="1766721"/>
          </a:xfrm>
          <a:prstGeom prst="rect">
            <a:avLst/>
          </a:prstGeom>
        </p:spPr>
      </p:pic>
      <p:pic>
        <p:nvPicPr>
          <p:cNvPr id="14" name="Billede 13">
            <a:extLst>
              <a:ext uri="{FF2B5EF4-FFF2-40B4-BE49-F238E27FC236}">
                <a16:creationId xmlns:a16="http://schemas.microsoft.com/office/drawing/2014/main" id="{CCB24527-8242-C56F-DBC0-2FB83F9C0A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6052" y="1339253"/>
            <a:ext cx="1817477" cy="1641592"/>
          </a:xfrm>
          <a:prstGeom prst="rect">
            <a:avLst/>
          </a:prstGeom>
        </p:spPr>
      </p:pic>
      <p:pic>
        <p:nvPicPr>
          <p:cNvPr id="16" name="Billede 15">
            <a:extLst>
              <a:ext uri="{FF2B5EF4-FFF2-40B4-BE49-F238E27FC236}">
                <a16:creationId xmlns:a16="http://schemas.microsoft.com/office/drawing/2014/main" id="{CA025BAF-5777-BB57-A1FF-75ED466F5C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9125" y="1303460"/>
            <a:ext cx="2371725" cy="2000250"/>
          </a:xfrm>
          <a:prstGeom prst="rect">
            <a:avLst/>
          </a:prstGeom>
        </p:spPr>
      </p:pic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BC220EE7-C78B-DF42-E286-689A4F069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</p:spTree>
    <p:extLst>
      <p:ext uri="{BB962C8B-B14F-4D97-AF65-F5344CB8AC3E}">
        <p14:creationId xmlns:p14="http://schemas.microsoft.com/office/powerpoint/2010/main" val="770034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7</a:t>
            </a:fld>
            <a:endParaRPr lang="da-DK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87238" y="947491"/>
            <a:ext cx="9090889" cy="480067"/>
          </a:xfrm>
        </p:spPr>
        <p:txBody>
          <a:bodyPr/>
          <a:lstStyle/>
          <a:p>
            <a:r>
              <a:rPr lang="da-DK" dirty="0"/>
              <a:t>Permanente magneter - eksempler på anvendelse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CDABF46-D4F0-468D-B56C-918F6917457B}" type="datetime1">
              <a:rPr lang="da-DK" smtClean="0"/>
              <a:t>26-01-2026</a:t>
            </a:fld>
            <a:endParaRPr lang="da-DK" dirty="0"/>
          </a:p>
        </p:txBody>
      </p:sp>
      <p:pic>
        <p:nvPicPr>
          <p:cNvPr id="12" name="Billede 11">
            <a:extLst>
              <a:ext uri="{FF2B5EF4-FFF2-40B4-BE49-F238E27FC236}">
                <a16:creationId xmlns:a16="http://schemas.microsoft.com/office/drawing/2014/main" id="{D4B0EC36-50AF-23B5-A83D-25089B007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8553" y="1427558"/>
            <a:ext cx="4338880" cy="2425124"/>
          </a:xfrm>
          <a:prstGeom prst="rect">
            <a:avLst/>
          </a:prstGeom>
        </p:spPr>
      </p:pic>
      <p:pic>
        <p:nvPicPr>
          <p:cNvPr id="16" name="Pladsholder til indhold 15">
            <a:extLst>
              <a:ext uri="{FF2B5EF4-FFF2-40B4-BE49-F238E27FC236}">
                <a16:creationId xmlns:a16="http://schemas.microsoft.com/office/drawing/2014/main" id="{BCC21006-011F-9CF3-4A59-6C8D773FEB6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1635130" y="1605854"/>
            <a:ext cx="2647981" cy="2138357"/>
          </a:xfrm>
        </p:spPr>
      </p:pic>
      <p:pic>
        <p:nvPicPr>
          <p:cNvPr id="20" name="Billede 19">
            <a:extLst>
              <a:ext uri="{FF2B5EF4-FFF2-40B4-BE49-F238E27FC236}">
                <a16:creationId xmlns:a16="http://schemas.microsoft.com/office/drawing/2014/main" id="{9EDAD246-B6B7-9670-A89C-6E87DA5802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468"/>
          <a:stretch/>
        </p:blipFill>
        <p:spPr>
          <a:xfrm>
            <a:off x="2055306" y="4096064"/>
            <a:ext cx="6755842" cy="1901673"/>
          </a:xfrm>
          <a:prstGeom prst="rect">
            <a:avLst/>
          </a:prstGeom>
        </p:spPr>
      </p:pic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B963C161-81F9-F47E-008D-14FEE1D9B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</p:spTree>
    <p:extLst>
      <p:ext uri="{BB962C8B-B14F-4D97-AF65-F5344CB8AC3E}">
        <p14:creationId xmlns:p14="http://schemas.microsoft.com/office/powerpoint/2010/main" val="1453632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9EE293EA-C9BA-E760-6241-24E676A8D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757" y="1218563"/>
            <a:ext cx="4117448" cy="5386604"/>
          </a:xfrm>
          <a:prstGeom prst="rect">
            <a:avLst/>
          </a:prstGeom>
        </p:spPr>
      </p:pic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8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550558" y="1634360"/>
                <a:ext cx="9031043" cy="4555010"/>
              </a:xfrm>
            </p:spPr>
            <p:txBody>
              <a:bodyPr/>
              <a:lstStyle/>
              <a:p>
                <a:r>
                  <a:rPr lang="da-DK" sz="1500" dirty="0">
                    <a:solidFill>
                      <a:schemeClr val="tx1"/>
                    </a:solidFill>
                  </a:rPr>
                  <a:t>Formen for </a:t>
                </a:r>
                <a:r>
                  <a:rPr lang="da-DK" sz="1500" dirty="0" err="1">
                    <a:solidFill>
                      <a:schemeClr val="tx1"/>
                    </a:solidFill>
                  </a:rPr>
                  <a:t>hysteresesløjfen</a:t>
                </a:r>
                <a:r>
                  <a:rPr lang="da-DK" sz="1500" dirty="0">
                    <a:solidFill>
                      <a:schemeClr val="tx1"/>
                    </a:solidFill>
                  </a:rPr>
                  <a:t> afhænger af materialet</a:t>
                </a:r>
              </a:p>
              <a:p>
                <a:r>
                  <a:rPr lang="da-DK" sz="1500" kern="150" dirty="0">
                    <a:solidFill>
                      <a:schemeClr val="tx1"/>
                    </a:solidFill>
                    <a:ea typeface="Calibri" panose="020F0502020204030204" pitchFamily="34" charset="0"/>
                  </a:rPr>
                  <a:t>B = H </a:t>
                </a:r>
                <a14:m>
                  <m:oMath xmlns:m="http://schemas.openxmlformats.org/officeDocument/2006/math"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el-GR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4000"/>
                  </a:lnSpc>
                  <a:spcAft>
                    <a:spcPts val="800"/>
                  </a:spcAft>
                </a:pPr>
                <a:r>
                  <a:rPr lang="da-DK" sz="1500" kern="150" dirty="0" err="1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</a:t>
                </a:r>
                <a:r>
                  <a:rPr lang="da-DK" sz="1500" kern="150" baseline="-25000" dirty="0" err="1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</a:t>
                </a:r>
                <a:r>
                  <a:rPr lang="da-DK" sz="15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Remanensen</a:t>
                </a:r>
                <a:br>
                  <a:rPr lang="da-DK" sz="15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da-DK" sz="15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Fluxtætheden efter at magnetiseringen er tilendebragt.</a:t>
                </a:r>
              </a:p>
              <a:p>
                <a:pPr>
                  <a:lnSpc>
                    <a:spcPct val="104000"/>
                  </a:lnSpc>
                  <a:spcAft>
                    <a:spcPts val="800"/>
                  </a:spcAft>
                </a:pPr>
                <a:r>
                  <a:rPr lang="da-DK" sz="15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</a:t>
                </a:r>
                <a:r>
                  <a:rPr lang="da-DK" sz="1500" kern="150" baseline="-25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</a:t>
                </a:r>
                <a:r>
                  <a:rPr lang="da-DK" sz="15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Coercitive feltstyrke</a:t>
                </a:r>
                <a:br>
                  <a:rPr lang="da-DK" sz="15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da-DK" sz="15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Den feltstyrke, som vil afmagnetisere magneten helt.</a:t>
                </a:r>
              </a:p>
              <a:p>
                <a:pPr>
                  <a:lnSpc>
                    <a:spcPct val="104000"/>
                  </a:lnSpc>
                  <a:spcAft>
                    <a:spcPts val="800"/>
                  </a:spcAft>
                </a:pPr>
                <a:r>
                  <a:rPr lang="da-DK" sz="15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(BH)</a:t>
                </a:r>
                <a:r>
                  <a:rPr lang="da-DK" sz="1500" kern="150" baseline="-25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max</a:t>
                </a:r>
                <a:r>
                  <a:rPr lang="da-DK" sz="15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Det maksimale energiprodukt</a:t>
                </a:r>
                <a:br>
                  <a:rPr lang="da-DK" sz="15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da-DK" sz="15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Et mål for magnetens styrke i forhold til</a:t>
                </a:r>
                <a:br>
                  <a:rPr lang="da-DK" sz="15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da-DK" sz="15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magnetens rumfang.</a:t>
                </a: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550558" y="1634360"/>
                <a:ext cx="9031043" cy="4555010"/>
              </a:xfrm>
              <a:blipFill>
                <a:blip r:embed="rId3"/>
                <a:stretch>
                  <a:fillRect l="-67" t="-13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50558" y="1103241"/>
            <a:ext cx="9090889" cy="480067"/>
          </a:xfrm>
        </p:spPr>
        <p:txBody>
          <a:bodyPr/>
          <a:lstStyle/>
          <a:p>
            <a:r>
              <a:rPr lang="da-DK" dirty="0"/>
              <a:t>Magnetiseringskurve - </a:t>
            </a:r>
            <a:r>
              <a:rPr lang="da-DK" dirty="0" err="1"/>
              <a:t>hysteresesløjfen</a:t>
            </a:r>
            <a:endParaRPr lang="da-DK" dirty="0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BE2932E-2AE7-4465-A368-87FB1C85E5B9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2B617866-7EAE-E4F6-B637-AA133122F9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</p:spTree>
    <p:extLst>
      <p:ext uri="{BB962C8B-B14F-4D97-AF65-F5344CB8AC3E}">
        <p14:creationId xmlns:p14="http://schemas.microsoft.com/office/powerpoint/2010/main" val="39934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6E9F3C4D-BC50-CD2F-F678-F1A3DAFD1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9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935CAF5-2A88-3403-7911-9A70D50C4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801" y="1040929"/>
            <a:ext cx="9090889" cy="480067"/>
          </a:xfrm>
        </p:spPr>
        <p:txBody>
          <a:bodyPr/>
          <a:lstStyle/>
          <a:p>
            <a:r>
              <a:rPr lang="da-DK" dirty="0"/>
              <a:t>Feltlinjer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DE1BD1E-B11D-E782-51A8-26EAC6AC294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D8EB831-0503-49E3-AA7E-D2A69FC2B8A1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7" name="Pladsholder til indhold 6">
            <a:extLst>
              <a:ext uri="{FF2B5EF4-FFF2-40B4-BE49-F238E27FC236}">
                <a16:creationId xmlns:a16="http://schemas.microsoft.com/office/drawing/2014/main" id="{C5601AE5-E9F8-3CFA-743C-9EAF570F2E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3981" y="1586044"/>
            <a:ext cx="8984084" cy="4367604"/>
          </a:xfrm>
        </p:spPr>
        <p:txBody>
          <a:bodyPr/>
          <a:lstStyle/>
          <a:p>
            <a:endParaRPr lang="da-DK" kern="100" dirty="0">
              <a:solidFill>
                <a:schemeClr val="tx1"/>
              </a:solidFill>
              <a:ea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da-DK" kern="100" dirty="0">
              <a:solidFill>
                <a:schemeClr val="tx1"/>
              </a:solidFill>
              <a:ea typeface="Calibri" panose="020F0502020204030204" pitchFamily="34" charset="0"/>
            </a:endParaRPr>
          </a:p>
          <a:p>
            <a:pPr marL="342900" indent="-342900">
              <a:buAutoNum type="arabicPeriod"/>
            </a:pPr>
            <a:endParaRPr lang="da-DK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a-DK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a-DK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a-DK" dirty="0">
              <a:solidFill>
                <a:srgbClr val="00B050"/>
              </a:solidFill>
            </a:endParaRPr>
          </a:p>
          <a:p>
            <a:endParaRPr lang="da-DK" dirty="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0D66FFBA-1F5E-0729-9711-70B1CC1AE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808" y="1689896"/>
            <a:ext cx="7569758" cy="4263753"/>
          </a:xfrm>
          <a:prstGeom prst="rect">
            <a:avLst/>
          </a:prstGeom>
        </p:spPr>
      </p:pic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CB8BD001-D00F-FCD8-B08B-B22B8A9B45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</p:spTree>
    <p:extLst>
      <p:ext uri="{BB962C8B-B14F-4D97-AF65-F5344CB8AC3E}">
        <p14:creationId xmlns:p14="http://schemas.microsoft.com/office/powerpoint/2010/main" val="2792432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7E239217-1FB0-C7C4-545A-835CA8D17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811" y="2474991"/>
            <a:ext cx="5585208" cy="3834395"/>
          </a:xfrm>
          <a:prstGeom prst="rect">
            <a:avLst/>
          </a:prstGeom>
        </p:spPr>
      </p:pic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6E9F3C4D-BC50-CD2F-F678-F1A3DAFD1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10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935CAF5-2A88-3403-7911-9A70D50C4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801" y="1040929"/>
            <a:ext cx="9090889" cy="480067"/>
          </a:xfrm>
        </p:spPr>
        <p:txBody>
          <a:bodyPr/>
          <a:lstStyle/>
          <a:p>
            <a:r>
              <a:rPr lang="da-DK" dirty="0"/>
              <a:t>Repetition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DE1BD1E-B11D-E782-51A8-26EAC6AC294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53CF178-B64D-4689-AACF-E7F0EB92D8A5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7" name="Pladsholder til indhold 6">
            <a:extLst>
              <a:ext uri="{FF2B5EF4-FFF2-40B4-BE49-F238E27FC236}">
                <a16:creationId xmlns:a16="http://schemas.microsoft.com/office/drawing/2014/main" id="{C5601AE5-E9F8-3CFA-743C-9EAF570F2E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3981" y="1586044"/>
            <a:ext cx="8984084" cy="4367604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da-DK" b="0" dirty="0">
                <a:solidFill>
                  <a:schemeClr val="tx1"/>
                </a:solidFill>
                <a:latin typeface="+mn-lt"/>
              </a:rPr>
              <a:t>Hvad er fordele og ulemper ved </a:t>
            </a:r>
            <a:r>
              <a:rPr lang="da-DK" b="0" dirty="0" err="1">
                <a:solidFill>
                  <a:schemeClr val="tx1"/>
                </a:solidFill>
                <a:latin typeface="+mn-lt"/>
              </a:rPr>
              <a:t>ferromagnetisk</a:t>
            </a:r>
            <a:r>
              <a:rPr lang="da-DK" b="0" dirty="0">
                <a:solidFill>
                  <a:schemeClr val="tx1"/>
                </a:solidFill>
                <a:latin typeface="+mn-lt"/>
              </a:rPr>
              <a:t> materiale?</a:t>
            </a:r>
          </a:p>
          <a:p>
            <a:pPr marL="342900" indent="-342900">
              <a:buAutoNum type="arabicPeriod"/>
            </a:pPr>
            <a:r>
              <a:rPr lang="da-DK" b="0" dirty="0">
                <a:solidFill>
                  <a:schemeClr val="tx1"/>
                </a:solidFill>
                <a:latin typeface="+mn-lt"/>
              </a:rPr>
              <a:t>Hvad er Curie-temperaturen?</a:t>
            </a:r>
          </a:p>
          <a:p>
            <a:pPr marL="342900" indent="-342900">
              <a:buAutoNum type="arabicPeriod"/>
            </a:pPr>
            <a:r>
              <a:rPr lang="da-DK" b="0" dirty="0">
                <a:solidFill>
                  <a:schemeClr val="tx1"/>
                </a:solidFill>
                <a:latin typeface="+mn-lt"/>
              </a:rPr>
              <a:t>Hvad er remanensen?</a:t>
            </a:r>
          </a:p>
          <a:p>
            <a:pPr marL="342900" indent="-342900">
              <a:buAutoNum type="arabicPeriod"/>
            </a:pPr>
            <a:r>
              <a:rPr lang="da-DK" b="0" dirty="0">
                <a:solidFill>
                  <a:schemeClr val="tx1"/>
                </a:solidFill>
                <a:latin typeface="+mn-lt"/>
              </a:rPr>
              <a:t>Hvad er den coercitive feltstyrke?</a:t>
            </a:r>
          </a:p>
          <a:p>
            <a:pPr marL="342900" indent="-342900">
              <a:buAutoNum type="arabicPeriod"/>
            </a:pPr>
            <a:r>
              <a:rPr lang="da-DK" b="0" dirty="0">
                <a:solidFill>
                  <a:schemeClr val="tx1"/>
                </a:solidFill>
                <a:latin typeface="+mn-lt"/>
              </a:rPr>
              <a:t>Forklar </a:t>
            </a:r>
            <a:r>
              <a:rPr lang="da-DK" b="0" dirty="0" err="1">
                <a:solidFill>
                  <a:schemeClr val="tx1"/>
                </a:solidFill>
                <a:latin typeface="+mn-lt"/>
              </a:rPr>
              <a:t>hysteresesløjfen</a:t>
            </a:r>
            <a:r>
              <a:rPr lang="da-DK" b="0" dirty="0">
                <a:solidFill>
                  <a:schemeClr val="tx1"/>
                </a:solidFill>
                <a:latin typeface="+mn-lt"/>
              </a:rPr>
              <a:t>.</a:t>
            </a:r>
          </a:p>
          <a:p>
            <a:pPr marL="342900" indent="-342900">
              <a:buAutoNum type="arabicPeriod"/>
            </a:pPr>
            <a:endParaRPr lang="da-DK" b="0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buAutoNum type="arabicPeriod"/>
            </a:pPr>
            <a:endParaRPr lang="da-DK" b="0" dirty="0">
              <a:solidFill>
                <a:schemeClr val="tx1"/>
              </a:solidFill>
              <a:latin typeface="+mn-lt"/>
            </a:endParaRPr>
          </a:p>
          <a:p>
            <a:endParaRPr lang="da-DK" kern="100" dirty="0">
              <a:solidFill>
                <a:schemeClr val="tx1"/>
              </a:solidFill>
              <a:ea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da-DK" kern="100" dirty="0">
              <a:solidFill>
                <a:schemeClr val="tx1"/>
              </a:solidFill>
              <a:ea typeface="Calibri" panose="020F0502020204030204" pitchFamily="34" charset="0"/>
            </a:endParaRPr>
          </a:p>
          <a:p>
            <a:pPr marL="342900" indent="-342900">
              <a:buAutoNum type="arabicPeriod"/>
            </a:pPr>
            <a:endParaRPr lang="da-DK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a-DK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a-DK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a-DK" dirty="0">
              <a:solidFill>
                <a:srgbClr val="00B050"/>
              </a:solidFill>
            </a:endParaRPr>
          </a:p>
          <a:p>
            <a:endParaRPr lang="da-DK" dirty="0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18DF9B43-4E25-F0AC-530A-46482D0A1F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</p:spTree>
    <p:extLst>
      <p:ext uri="{BB962C8B-B14F-4D97-AF65-F5344CB8AC3E}">
        <p14:creationId xmlns:p14="http://schemas.microsoft.com/office/powerpoint/2010/main" val="3709525738"/>
      </p:ext>
    </p:extLst>
  </p:cSld>
  <p:clrMapOvr>
    <a:masterClrMapping/>
  </p:clrMapOvr>
</p:sld>
</file>

<file path=ppt/theme/theme1.xml><?xml version="1.0" encoding="utf-8"?>
<a:theme xmlns:a="http://schemas.openxmlformats.org/drawingml/2006/main" name="MARTEC">
  <a:themeElements>
    <a:clrScheme name="Shrpa farver">
      <a:dk1>
        <a:sysClr val="windowText" lastClr="000000"/>
      </a:dk1>
      <a:lt1>
        <a:sysClr val="window" lastClr="FFFFFF"/>
      </a:lt1>
      <a:dk2>
        <a:srgbClr val="0080DB"/>
      </a:dk2>
      <a:lt2>
        <a:srgbClr val="FFFFFF"/>
      </a:lt2>
      <a:accent1>
        <a:srgbClr val="BDCCD4"/>
      </a:accent1>
      <a:accent2>
        <a:srgbClr val="756A86"/>
      </a:accent2>
      <a:accent3>
        <a:srgbClr val="CCCCCC"/>
      </a:accent3>
      <a:accent4>
        <a:srgbClr val="727A8F"/>
      </a:accent4>
      <a:accent5>
        <a:srgbClr val="84C5CB"/>
      </a:accent5>
      <a:accent6>
        <a:srgbClr val="C8DFD8"/>
      </a:accent6>
      <a:hlink>
        <a:srgbClr val="0080DB"/>
      </a:hlink>
      <a:folHlink>
        <a:srgbClr val="808080"/>
      </a:folHlink>
    </a:clrScheme>
    <a:fontScheme name="Shrp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rtec - powerpoint skabelon_v4.potx" id="{7FFBE45C-995A-4409-9C30-AEA82B7B07D3}" vid="{4AC428D2-6199-44D7-8EC8-CD674AB0AFCC}"/>
    </a:ext>
  </a:extLst>
</a:theme>
</file>

<file path=ppt/theme/theme2.xml><?xml version="1.0" encoding="utf-8"?>
<a:theme xmlns:a="http://schemas.openxmlformats.org/drawingml/2006/main" name="Office 2013 – 2022 Tema">
  <a:themeElements>
    <a:clrScheme name="Office 2013 – 2022 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 T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 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5C8CDECDFE604A9828CFDC608EFB56" ma:contentTypeVersion="13" ma:contentTypeDescription="Opret et nyt dokument." ma:contentTypeScope="" ma:versionID="e5786a71ccba6fd5eae826ad368fd2a7">
  <xsd:schema xmlns:xsd="http://www.w3.org/2001/XMLSchema" xmlns:xs="http://www.w3.org/2001/XMLSchema" xmlns:p="http://schemas.microsoft.com/office/2006/metadata/properties" xmlns:ns2="52776432-5f6f-4461-a773-af4277ea9cc4" xmlns:ns3="b112c056-f141-4248-a46f-e5f0219ad1a7" targetNamespace="http://schemas.microsoft.com/office/2006/metadata/properties" ma:root="true" ma:fieldsID="772453836f661fba2ac2fe97a8e00cb1" ns2:_="" ns3:_="">
    <xsd:import namespace="52776432-5f6f-4461-a773-af4277ea9cc4"/>
    <xsd:import namespace="b112c056-f141-4248-a46f-e5f0219ad1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76432-5f6f-4461-a773-af4277ea9c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illedmærker" ma:readOnly="false" ma:fieldId="{5cf76f15-5ced-4ddc-b409-7134ff3c332f}" ma:taxonomyMulti="true" ma:sspId="6bcb8b38-6e7a-4c58-8596-3803d9a7ba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12c056-f141-4248-a46f-e5f0219ad1a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c1d1a0f5-b42e-4dcc-a771-72dc4fda9f68}" ma:internalName="TaxCatchAll" ma:showField="CatchAllData" ma:web="b112c056-f141-4248-a46f-e5f0219ad1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21D4FC6-5314-47E2-8E33-C829A6B27E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5F3D52-A52C-4896-89E6-5CA3F6A438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776432-5f6f-4461-a773-af4277ea9cc4"/>
    <ds:schemaRef ds:uri="b112c056-f141-4248-a46f-e5f0219ad1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Præsentation</Template>
  <TotalTime>4729</TotalTime>
  <Words>399</Words>
  <Application>Microsoft Office PowerPoint</Application>
  <PresentationFormat>Widescreen</PresentationFormat>
  <Paragraphs>92</Paragraphs>
  <Slides>10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2</vt:i4>
      </vt:variant>
      <vt:variant>
        <vt:lpstr>Slidetitler</vt:lpstr>
      </vt:variant>
      <vt:variant>
        <vt:i4>10</vt:i4>
      </vt:variant>
    </vt:vector>
  </HeadingPairs>
  <TitlesOfParts>
    <vt:vector size="17" baseType="lpstr">
      <vt:lpstr>Cambria Math</vt:lpstr>
      <vt:lpstr>Calibri</vt:lpstr>
      <vt:lpstr>Arial</vt:lpstr>
      <vt:lpstr>Aptos</vt:lpstr>
      <vt:lpstr>Calibri Light</vt:lpstr>
      <vt:lpstr>MARTEC</vt:lpstr>
      <vt:lpstr>Office 2013 – 2022 Tema</vt:lpstr>
      <vt:lpstr>PowerPoint-præsentation</vt:lpstr>
      <vt:lpstr>Opgaver </vt:lpstr>
      <vt:lpstr>Magnetisering af jern</vt:lpstr>
      <vt:lpstr>Magnetisering af jern fortsat</vt:lpstr>
      <vt:lpstr>Hvad kan fjerne magnetismen i jern?</vt:lpstr>
      <vt:lpstr>Permanente magneter - hvordan ser de ud?</vt:lpstr>
      <vt:lpstr>Permanente magneter - eksempler på anvendelse</vt:lpstr>
      <vt:lpstr>Magnetiseringskurve - hysteresesløjfen</vt:lpstr>
      <vt:lpstr>Feltlinjer</vt:lpstr>
      <vt:lpstr>Repetition</vt:lpstr>
    </vt:vector>
  </TitlesOfParts>
  <Company>MARTEC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Simon Tran Agerholm</dc:creator>
  <cp:lastModifiedBy>Simon Tran Agerholm</cp:lastModifiedBy>
  <cp:revision>170</cp:revision>
  <dcterms:created xsi:type="dcterms:W3CDTF">2020-04-01T11:50:27Z</dcterms:created>
  <dcterms:modified xsi:type="dcterms:W3CDTF">2026-01-26T13:00:29Z</dcterms:modified>
</cp:coreProperties>
</file>