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4"/>
  </p:sldMasterIdLst>
  <p:sldIdLst>
    <p:sldId id="275" r:id="rId5"/>
    <p:sldId id="276" r:id="rId6"/>
    <p:sldId id="257" r:id="rId7"/>
    <p:sldId id="267" r:id="rId8"/>
    <p:sldId id="271" r:id="rId9"/>
    <p:sldId id="269" r:id="rId10"/>
    <p:sldId id="272" r:id="rId11"/>
    <p:sldId id="273" r:id="rId12"/>
    <p:sldId id="274" r:id="rId13"/>
  </p:sldIdLst>
  <p:sldSz cx="9906000" cy="6858000" type="A4"/>
  <p:notesSz cx="9874250" cy="6724650"/>
  <p:embeddedFontLst>
    <p:embeddedFont>
      <p:font typeface="Bradley Hand ITC" panose="03070402050302030203" pitchFamily="66" charset="0"/>
      <p:regular r:id="rId14"/>
    </p:embeddedFont>
    <p:embeddedFont>
      <p:font typeface="Cambria Math" panose="02040503050406030204" pitchFamily="18" charset="0"/>
      <p:regular r:id="rId15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B074AF-8411-497D-9772-13AE5466DB0E}" v="1" dt="2026-08-11T11:35:48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284" y="13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undo custSel addSld modSld">
      <pc:chgData name="Simon Tran Agerholm" userId="dd55e2d3-906e-4a4a-90ea-dda6205f875e" providerId="ADAL" clId="{5EFFF862-C165-4C4A-8B20-E280CAF10480}" dt="2026-08-11T11:35:48.479" v="68" actId="20577"/>
      <pc:docMkLst>
        <pc:docMk/>
      </pc:docMkLst>
      <pc:sldChg chg="modSp">
        <pc:chgData name="Simon Tran Agerholm" userId="dd55e2d3-906e-4a4a-90ea-dda6205f875e" providerId="ADAL" clId="{5EFFF862-C165-4C4A-8B20-E280CAF10480}" dt="2026-08-11T11:35:48.479" v="68" actId="20577"/>
        <pc:sldMkLst>
          <pc:docMk/>
          <pc:sldMk cId="1275124746" sldId="273"/>
        </pc:sldMkLst>
        <pc:spChg chg="mod">
          <ac:chgData name="Simon Tran Agerholm" userId="dd55e2d3-906e-4a4a-90ea-dda6205f875e" providerId="ADAL" clId="{5EFFF862-C165-4C4A-8B20-E280CAF10480}" dt="2026-08-11T11:35:48.479" v="68" actId="20577"/>
          <ac:spMkLst>
            <pc:docMk/>
            <pc:sldMk cId="1275124746" sldId="273"/>
            <ac:spMk id="3" creationId="{9AB878D2-77FF-2156-8857-AF112BF518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67710" y="1451928"/>
            <a:ext cx="8970890" cy="4737441"/>
          </a:xfrm>
        </p:spPr>
        <p:txBody>
          <a:bodyPr/>
          <a:lstStyle/>
          <a:p>
            <a:r>
              <a:rPr lang="da-DK" sz="2100" dirty="0"/>
              <a:t> 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8445645-8C01-3306-4402-B5E4D796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01" y="1104933"/>
            <a:ext cx="9090889" cy="480067"/>
          </a:xfrm>
        </p:spPr>
        <p:txBody>
          <a:bodyPr/>
          <a:lstStyle/>
          <a:p>
            <a:r>
              <a:rPr lang="da-DK" sz="3600" dirty="0"/>
              <a:t>Specifik resistans og ledningsevne</a:t>
            </a:r>
          </a:p>
        </p:txBody>
      </p:sp>
      <p:sp>
        <p:nvSpPr>
          <p:cNvPr id="14" name="Pladsholder til tekst 2">
            <a:extLst>
              <a:ext uri="{FF2B5EF4-FFF2-40B4-BE49-F238E27FC236}">
                <a16:creationId xmlns:a16="http://schemas.microsoft.com/office/drawing/2014/main" id="{0FC8537A-EE90-25AB-853A-FA0733352C8C}"/>
              </a:ext>
            </a:extLst>
          </p:cNvPr>
          <p:cNvSpPr txBox="1">
            <a:spLocks/>
          </p:cNvSpPr>
          <p:nvPr/>
        </p:nvSpPr>
        <p:spPr>
          <a:xfrm>
            <a:off x="467400" y="5412170"/>
            <a:ext cx="5670550" cy="450850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defPPr>
              <a:defRPr lang="da-DK"/>
            </a:defPPr>
            <a:lvl1pPr marL="0" algn="l" defTabSz="1072866" rtl="0" eaLnBrk="1" latinLnBrk="0" hangingPunct="1">
              <a:defRPr sz="1000" b="1" kern="120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36433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/>
              <a:t>Simon Tran Agerholm forår 2025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0335B4F2-22C0-4F23-EEDB-0560F3441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844" y="2259277"/>
            <a:ext cx="6014088" cy="233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6648449-0889-9F68-6503-16C51D0F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FFB585-21AD-E8FC-1F39-00BEA0C86E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/>
              <a:t>1.11 + 1.12 + 1.13 + 1.14 + 1.15 + 1.16 + 1.17 + 1.18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3E0D7CD-A8F9-C1BA-06C9-EA8CF72A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2B19762-5836-CC37-6B47-514005AC9E6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A3D2F30-F204-7359-F0BF-FA8C64F18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20366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67710" y="1451928"/>
                <a:ext cx="8970890" cy="4737441"/>
              </a:xfrm>
            </p:spPr>
            <p:txBody>
              <a:bodyPr/>
              <a:lstStyle/>
              <a:p>
                <a:r>
                  <a:rPr lang="da-DK" dirty="0"/>
                  <a:t>Modstanden i lederen afhænger af materialet. Se bog 1 side 363.</a:t>
                </a:r>
              </a:p>
              <a:p>
                <a:r>
                  <a:rPr lang="da-DK" dirty="0"/>
                  <a:t>Der anvendes typisk kobber- eller aluminiumsledere.</a:t>
                </a:r>
              </a:p>
              <a:p>
                <a:endParaRPr lang="da-DK" dirty="0"/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Modstanden beregnes: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da-DK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a-DK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da-DK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da-DK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a-DK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da-DK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da-DK" sz="1800" kern="100" dirty="0">
                  <a:solidFill>
                    <a:srgbClr val="00B05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dirty="0"/>
                  <a:t>R	resistensen [</a:t>
                </a:r>
                <a:r>
                  <a:rPr lang="el-GR" dirty="0"/>
                  <a:t>Ω</a:t>
                </a:r>
                <a:r>
                  <a:rPr lang="da-DK" dirty="0"/>
                  <a:t>]</a:t>
                </a:r>
              </a:p>
              <a:p>
                <a:r>
                  <a:rPr lang="da-DK" dirty="0"/>
                  <a:t>ρ (rho)	den specifikke modstand (resistivitet) [</a:t>
                </a:r>
                <a14:m>
                  <m:oMath xmlns:m="http://schemas.openxmlformats.org/officeDocument/2006/math">
                    <m:r>
                      <a:rPr lang="da-DK" sz="1800" b="1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𝛀</m:t>
                    </m:r>
                    <m:r>
                      <a:rPr lang="da-DK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da-DK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𝒎𝒎</m:t>
                        </m:r>
                      </m:e>
                      <m:sup>
                        <m:r>
                          <a:rPr lang="da-DK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da-DK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da-DK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da-DK" dirty="0"/>
                  <a:t>] eller [</a:t>
                </a:r>
                <a14:m>
                  <m:oMath xmlns:m="http://schemas.openxmlformats.org/officeDocument/2006/math"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𝛀</m:t>
                    </m:r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p>
                        <m: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da-DK" dirty="0"/>
                  <a:t>] </a:t>
                </a:r>
              </a:p>
              <a:p>
                <a:r>
                  <a:rPr lang="da-DK" dirty="0"/>
                  <a:t>	Tabelværdi typisk ved 20 °C</a:t>
                </a:r>
              </a:p>
              <a:p>
                <a:r>
                  <a:rPr lang="da-DK" dirty="0">
                    <a:latin typeface="Bradley Hand ITC" panose="03070402050302030203" pitchFamily="66" charset="0"/>
                  </a:rPr>
                  <a:t>l</a:t>
                </a:r>
                <a:r>
                  <a:rPr lang="da-DK" dirty="0"/>
                  <a:t>	Længden af lederen [m]</a:t>
                </a:r>
              </a:p>
              <a:p>
                <a:r>
                  <a:rPr lang="da-DK" dirty="0"/>
                  <a:t>S	Tværsnittet af lederen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𝒎𝒎</m:t>
                        </m:r>
                      </m:e>
                      <m:sup>
                        <m:r>
                          <a:rPr lang="da-DK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da-DK" dirty="0"/>
                  <a:t>]</a:t>
                </a:r>
              </a:p>
              <a:p>
                <a:endParaRPr lang="da-DK" dirty="0"/>
              </a:p>
              <a:p>
                <a:r>
                  <a:rPr lang="da-DK" dirty="0">
                    <a:solidFill>
                      <a:srgbClr val="FF0000"/>
                    </a:solidFill>
                  </a:rPr>
                  <a:t>BEMÆRK: Unøjagtig ved vekselspænding</a:t>
                </a:r>
              </a:p>
              <a:p>
                <a:r>
                  <a:rPr lang="da-DK" dirty="0">
                    <a:solidFill>
                      <a:schemeClr val="tx1"/>
                    </a:solidFill>
                  </a:rPr>
                  <a:t>Se denne: https://phet.colorado.edu/en/simulations/filter?subjects=electricity-magnets-and-circuits&amp;type=html,prototype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67710" y="1451928"/>
                <a:ext cx="8970890" cy="4737441"/>
              </a:xfrm>
              <a:blipFill>
                <a:blip r:embed="rId2"/>
                <a:stretch>
                  <a:fillRect l="-408" t="-515" b="-34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369891" y="971861"/>
            <a:ext cx="9090889" cy="480067"/>
          </a:xfrm>
        </p:spPr>
        <p:txBody>
          <a:bodyPr/>
          <a:lstStyle/>
          <a:p>
            <a:r>
              <a:rPr lang="da-DK" dirty="0"/>
              <a:t>Specifik modstand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407557" y="1634360"/>
            <a:ext cx="9031043" cy="4555010"/>
          </a:xfrm>
        </p:spPr>
        <p:txBody>
          <a:bodyPr/>
          <a:lstStyle/>
          <a:p>
            <a:r>
              <a:rPr lang="da-DK" dirty="0">
                <a:solidFill>
                  <a:srgbClr val="00B050"/>
                </a:solidFill>
              </a:rPr>
              <a:t>Skema side 359 i 6. udgave </a:t>
            </a:r>
            <a:r>
              <a:rPr lang="da-DK" dirty="0">
                <a:solidFill>
                  <a:srgbClr val="0070C0"/>
                </a:solidFill>
              </a:rPr>
              <a:t>(side 363 i 7. udgave) (side 385 i 8. udgave) </a:t>
            </a:r>
            <a:r>
              <a:rPr lang="da-DK" dirty="0">
                <a:solidFill>
                  <a:srgbClr val="00B050"/>
                </a:solidFill>
              </a:rPr>
              <a:t>i bog 1:</a:t>
            </a:r>
          </a:p>
          <a:p>
            <a:endParaRPr lang="da-DK" u="sng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  <a:p>
            <a:endParaRPr lang="da-DK" sz="1500" dirty="0">
              <a:solidFill>
                <a:srgbClr val="00B0F0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Aflæsning af den specifikke modstand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85A12B4F-8182-490A-49C5-7E58311702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97" y="2051308"/>
            <a:ext cx="7057234" cy="44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Nedadgående pil 5">
            <a:extLst>
              <a:ext uri="{FF2B5EF4-FFF2-40B4-BE49-F238E27FC236}">
                <a16:creationId xmlns:a16="http://schemas.microsoft.com/office/drawing/2014/main" id="{9ABA9996-F873-6734-3338-A30471456383}"/>
              </a:ext>
            </a:extLst>
          </p:cNvPr>
          <p:cNvSpPr/>
          <p:nvPr/>
        </p:nvSpPr>
        <p:spPr>
          <a:xfrm rot="10800000">
            <a:off x="6229059" y="5982058"/>
            <a:ext cx="326222" cy="4146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830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93987" y="1557031"/>
                <a:ext cx="8686800" cy="4631031"/>
              </a:xfrm>
            </p:spPr>
            <p:txBody>
              <a:bodyPr/>
              <a:lstStyle/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dirty="0">
                    <a:solidFill>
                      <a:schemeClr val="tx2">
                        <a:lumMod val="50000"/>
                      </a:schemeClr>
                    </a:solidFill>
                    <a:latin typeface="+mn-lt"/>
                  </a:rPr>
                  <a:t>4 x 10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18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8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𝑚𝑚</m:t>
                        </m:r>
                      </m:e>
                      <m:sup>
                        <m:r>
                          <a:rPr lang="da-DK" sz="18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dirty="0">
                    <a:solidFill>
                      <a:schemeClr val="tx2">
                        <a:lumMod val="50000"/>
                      </a:schemeClr>
                    </a:solidFill>
                    <a:latin typeface="+mn-lt"/>
                  </a:rPr>
                  <a:t> installationskabel (kobber):</a:t>
                </a: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r>
                  <a:rPr lang="da-DK" dirty="0">
                    <a:solidFill>
                      <a:schemeClr val="tx2">
                        <a:lumMod val="50000"/>
                      </a:schemeClr>
                    </a:solidFill>
                    <a:latin typeface="+mn-lt"/>
                  </a:rPr>
                  <a:t>Hvor stor er resistansen, hvis kablet er 300 meter langt?</a:t>
                </a:r>
              </a:p>
              <a:p>
                <a:endParaRPr lang="da-DK" dirty="0">
                  <a:solidFill>
                    <a:schemeClr val="tx2">
                      <a:lumMod val="50000"/>
                    </a:schemeClr>
                  </a:solidFill>
                  <a:latin typeface="+mn-lt"/>
                </a:endParaRPr>
              </a:p>
              <a:p>
                <a:r>
                  <a:rPr lang="da-DK" dirty="0">
                    <a:solidFill>
                      <a:srgbClr val="00B050"/>
                    </a:solidFill>
                    <a:latin typeface="+mn-lt"/>
                  </a:rPr>
                  <a:t>BEMÆRK altid enheder, når du aflæser i en tabel.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					</a:t>
                </a: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93987" y="1557031"/>
                <a:ext cx="8686800" cy="4631031"/>
              </a:xfrm>
              <a:blipFill>
                <a:blip r:embed="rId2"/>
                <a:stretch>
                  <a:fillRect l="-4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076964"/>
            <a:ext cx="9090889" cy="480067"/>
          </a:xfrm>
        </p:spPr>
        <p:txBody>
          <a:bodyPr/>
          <a:lstStyle/>
          <a:p>
            <a:r>
              <a:rPr lang="da-DK" dirty="0"/>
              <a:t>Kabel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DE4A14C5-BA36-16FD-BBB9-509ED29E3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178" y="1671398"/>
            <a:ext cx="1028594" cy="4402297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7A0A9901-CE97-4056-DEF8-DF653651B991}"/>
                  </a:ext>
                </a:extLst>
              </p:cNvPr>
              <p:cNvSpPr txBox="1"/>
              <p:nvPr/>
            </p:nvSpPr>
            <p:spPr>
              <a:xfrm>
                <a:off x="4675240" y="3440316"/>
                <a:ext cx="4736774" cy="4928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a-DK" sz="1800" dirty="0">
                    <a:solidFill>
                      <a:srgbClr val="0080DB">
                        <a:lumMod val="50000"/>
                      </a:srgb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a-DK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da-DK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da-DK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da-DK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num>
                      <m:den>
                        <m:r>
                          <a:rPr lang="da-DK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den>
                    </m:f>
                    <m:r>
                      <a:rPr lang="da-DK" sz="1800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a-DK" sz="1800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⇒ </m:t>
                    </m:r>
                    <m:r>
                      <a:rPr lang="da-DK" sz="1800" b="1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da-DK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da-DK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l-GR" sz="180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1800" i="1" kern="10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  <m:r>
                          <a:rPr lang="da-DK" sz="1800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da-DK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𝑚𝑚</m:t>
                        </m:r>
                        <m:r>
                          <a:rPr lang="da-DK" sz="1800" i="1" kern="100" baseline="30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da-DK" sz="18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r>
                      <a:rPr lang="da-DK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da-DK" sz="1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sz="1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𝑚𝑚</m:t>
                        </m:r>
                        <m:r>
                          <a:rPr lang="da-DK" sz="1800" b="0" i="1" kern="100" baseline="300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da-DK" sz="1800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⇒     </m:t>
                    </m:r>
                    <m:r>
                      <a:rPr lang="da-DK" sz="1800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da-DK" sz="1800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da-DK" sz="1800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da-DK" sz="1800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da-DK" sz="1800" dirty="0"/>
              </a:p>
            </p:txBody>
          </p:sp>
        </mc:Choice>
        <mc:Fallback xmlns="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7A0A9901-CE97-4056-DEF8-DF653651B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240" y="3440316"/>
                <a:ext cx="4736774" cy="492892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37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</p:spPr>
            <p:txBody>
              <a:bodyPr/>
              <a:lstStyle/>
              <a:p>
                <a:r>
                  <a:rPr lang="da-DK" dirty="0"/>
                  <a:t>Den specifikke ledningsevne er næsten det samme som specifik modstand – bare omvendt! Bruges så godt som næsten ikke i elektroteknik.</a:t>
                </a:r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sz="1800" i="1" kern="10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dirty="0">
                    <a:solidFill>
                      <a:srgbClr val="00B050"/>
                    </a:solidFill>
                  </a:rPr>
                  <a:t>Ledningsevnen beregnes: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da-DK" dirty="0"/>
                  <a:t>		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		 </a:t>
                </a:r>
                <a14:m>
                  <m:oMath xmlns:m="http://schemas.openxmlformats.org/officeDocument/2006/math">
                    <m:r>
                      <a:rPr lang="da-DK" b="1" i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da-DK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1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1" i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da-DK" b="1" i="0">
                            <a:latin typeface="Cambria Math" panose="02040503050406030204" pitchFamily="18" charset="0"/>
                          </a:rPr>
                          <m:t>𝐑</m:t>
                        </m:r>
                      </m:den>
                    </m:f>
                    <m:r>
                      <a:rPr lang="da-DK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1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1" i="0">
                            <a:latin typeface="Cambria Math" panose="02040503050406030204" pitchFamily="18" charset="0"/>
                          </a:rPr>
                          <m:t>𝐈</m:t>
                        </m:r>
                      </m:num>
                      <m:den>
                        <m:r>
                          <a:rPr lang="da-DK" b="1" i="0">
                            <a:latin typeface="Cambria Math" panose="02040503050406030204" pitchFamily="18" charset="0"/>
                          </a:rPr>
                          <m:t>𝐔</m:t>
                        </m:r>
                      </m:den>
                    </m:f>
                  </m:oMath>
                </a14:m>
                <a:endParaRPr lang="da-DK" dirty="0"/>
              </a:p>
              <a:p>
                <a:endParaRPr lang="da-DK" dirty="0"/>
              </a:p>
              <a:p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da-DK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da-DK" b="1" i="0" smtClean="0">
                        <a:latin typeface="Cambria Math" panose="02040503050406030204" pitchFamily="18" charset="0"/>
                      </a:rPr>
                      <m:t>               </m:t>
                    </m:r>
                  </m:oMath>
                </a14:m>
                <a:r>
                  <a:rPr lang="da-DK" sz="1500" dirty="0"/>
                  <a:t>den specifikke ledningsevne (konduktivitet) [</a:t>
                </a:r>
                <a14:m>
                  <m:oMath xmlns:m="http://schemas.openxmlformats.org/officeDocument/2006/math">
                    <m:r>
                      <a:rPr lang="da-DK" sz="1500" b="1" i="0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𝐦</m:t>
                    </m:r>
                    <m:r>
                      <a:rPr lang="da-DK" sz="15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da-DK" sz="15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da-DK" sz="15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𝛀</m:t>
                    </m:r>
                    <m:r>
                      <a:rPr lang="da-DK" sz="15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da-DK" sz="15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5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𝒎𝒎</m:t>
                        </m:r>
                      </m:e>
                      <m:sup>
                        <m:r>
                          <a:rPr lang="da-DK" sz="15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da-DK" sz="15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da-DK" sz="1500" dirty="0"/>
                  <a:t>] eller [</a:t>
                </a:r>
                <a14:m>
                  <m:oMath xmlns:m="http://schemas.openxmlformats.org/officeDocument/2006/math">
                    <m:r>
                      <a:rPr lang="da-DK" sz="1500" b="1" i="0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𝐦</m:t>
                    </m:r>
                    <m:r>
                      <a:rPr lang="da-DK" sz="1500" b="1" i="0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/(</m:t>
                    </m:r>
                    <m:r>
                      <a:rPr lang="da-DK" sz="15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𝛀</m:t>
                    </m:r>
                    <m:r>
                      <a:rPr lang="da-DK" sz="15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da-DK" sz="15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5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p>
                        <m:r>
                          <a:rPr lang="da-DK" sz="15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da-DK" sz="1500" b="1" i="1" kern="10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da-DK" sz="1500" dirty="0"/>
                  <a:t>] </a:t>
                </a:r>
              </a:p>
              <a:p>
                <a:r>
                  <a:rPr lang="da-DK" dirty="0"/>
                  <a:t>ρ (rho)	den specifikke modstand (resistivitet) [</a:t>
                </a:r>
                <a14:m>
                  <m:oMath xmlns:m="http://schemas.openxmlformats.org/officeDocument/2006/math"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𝛀</m:t>
                    </m:r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𝒎𝒎</m:t>
                        </m:r>
                      </m:e>
                      <m:sup>
                        <m: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da-DK" dirty="0"/>
                  <a:t>] eller [</a:t>
                </a:r>
                <a14:m>
                  <m:oMath xmlns:m="http://schemas.openxmlformats.org/officeDocument/2006/math"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𝛀</m:t>
                    </m:r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sSup>
                      <m:sSupPr>
                        <m:ctrlP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p>
                        <m: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da-DK" dirty="0"/>
                  <a:t>] </a:t>
                </a:r>
              </a:p>
              <a:p>
                <a:r>
                  <a:rPr lang="da-DK" dirty="0"/>
                  <a:t>	Tabelværdi typisk ved 20 °C</a:t>
                </a:r>
              </a:p>
              <a:p>
                <a:r>
                  <a:rPr lang="da-DK" dirty="0"/>
                  <a:t>G	Konduktansen [S] S ~ Siemens</a:t>
                </a:r>
              </a:p>
              <a:p>
                <a:r>
                  <a:rPr lang="da-DK" dirty="0">
                    <a:latin typeface="Bradley Hand ITC" panose="03070402050302030203" pitchFamily="66" charset="0"/>
                  </a:rPr>
                  <a:t>l</a:t>
                </a:r>
                <a:r>
                  <a:rPr lang="da-DK" dirty="0"/>
                  <a:t>	Længden af lederen [m]</a:t>
                </a:r>
              </a:p>
              <a:p>
                <a:r>
                  <a:rPr lang="da-DK" dirty="0"/>
                  <a:t>S	Tværsnittet af lederen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𝒎𝒎</m:t>
                        </m:r>
                      </m:e>
                      <m:sup>
                        <m:r>
                          <a:rPr lang="da-DK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da-DK" dirty="0"/>
                  <a:t>]</a:t>
                </a: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u="sng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  <a:p>
                <a:endParaRPr lang="da-DK" sz="15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07557" y="1634360"/>
                <a:ext cx="9031043" cy="4555010"/>
              </a:xfrm>
              <a:blipFill>
                <a:blip r:embed="rId2"/>
                <a:stretch>
                  <a:fillRect l="-405" t="-535" b="-44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07557" y="1103240"/>
            <a:ext cx="9090889" cy="480067"/>
          </a:xfrm>
        </p:spPr>
        <p:txBody>
          <a:bodyPr/>
          <a:lstStyle/>
          <a:p>
            <a:r>
              <a:rPr lang="da-DK" dirty="0"/>
              <a:t>Ledningsevne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130636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64D248F-B71E-8AE9-2592-B11ED358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3F2BE4-F87B-377A-34F4-C424668D48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 dirty="0"/>
              <a:t>Kedelvandsbehandling – I dampkedler er der strenge krav til ledningsevnen, så der for eksempel ikke dannes kedelsten eller korrosion.</a:t>
            </a:r>
          </a:p>
          <a:p>
            <a:endParaRPr lang="da-DK" dirty="0"/>
          </a:p>
          <a:p>
            <a:r>
              <a:rPr lang="da-DK" dirty="0"/>
              <a:t>Magnetiske flowmålere, hvor der genereres et magnetisk felt på tværs af målerør, som væsken løber igennem.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E6BD876-76A5-E7DB-EBB8-954694FF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Anvendelse af ledningsevne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348E838-36D5-1D93-08D8-3D201DC85BD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4F5C275-1D54-8BFF-65D0-DC54E6AB7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8058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CBE5C3DA-F2BF-0E0D-D245-78E46D69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AB878D2-77FF-2156-8857-AF112BF5186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8645" y="1448735"/>
                <a:ext cx="9068709" cy="3960529"/>
              </a:xfrm>
            </p:spPr>
            <p:txBody>
              <a:bodyPr/>
              <a:lstStyle/>
              <a:p>
                <a:r>
                  <a:rPr lang="da-DK" u="sng" dirty="0"/>
                  <a:t>Opgave 1</a:t>
                </a:r>
              </a:p>
              <a:p>
                <a:r>
                  <a:rPr lang="da-DK" dirty="0"/>
                  <a:t>En kobberleder er 1 km lang og har tværsnittet 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𝐦𝐦</m:t>
                        </m:r>
                      </m:e>
                      <m:sup>
                        <m: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da-DK" dirty="0"/>
                  <a:t>.</a:t>
                </a:r>
              </a:p>
              <a:p>
                <a:r>
                  <a:rPr lang="da-DK" dirty="0"/>
                  <a:t>Beregn lederens resistans.</a:t>
                </a:r>
              </a:p>
              <a:p>
                <a:endParaRPr lang="da-DK" dirty="0"/>
              </a:p>
              <a:p>
                <a:r>
                  <a:rPr lang="da-DK" u="sng" dirty="0"/>
                  <a:t>Opgave 2</a:t>
                </a:r>
              </a:p>
              <a:p>
                <a:r>
                  <a:rPr lang="da-DK" dirty="0"/>
                  <a:t>En kobber ledning har tværsnittet 10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𝐦𝐦</m:t>
                        </m:r>
                      </m:e>
                      <m:sup>
                        <m: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da-DK" dirty="0"/>
                  <a:t> og resistansen 80 m</a:t>
                </a:r>
                <a14:m>
                  <m:oMath xmlns:m="http://schemas.openxmlformats.org/officeDocument/2006/math"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𝛀</m:t>
                    </m:r>
                  </m:oMath>
                </a14:m>
                <a:r>
                  <a:rPr lang="da-DK" dirty="0"/>
                  <a:t>.</a:t>
                </a:r>
              </a:p>
              <a:p>
                <a:r>
                  <a:rPr lang="da-DK" dirty="0"/>
                  <a:t>Beregn længden af ledningen.</a:t>
                </a:r>
              </a:p>
              <a:p>
                <a:endParaRPr lang="da-DK" dirty="0"/>
              </a:p>
              <a:p>
                <a:r>
                  <a:rPr lang="da-DK" u="sng" dirty="0"/>
                  <a:t>Opgave 3</a:t>
                </a:r>
              </a:p>
              <a:p>
                <a:r>
                  <a:rPr lang="da-DK" dirty="0"/>
                  <a:t>En aluminiumsleder har resistansen 740 m</a:t>
                </a:r>
                <a14:m>
                  <m:oMath xmlns:m="http://schemas.openxmlformats.org/officeDocument/2006/math">
                    <m:r>
                      <a:rPr lang="da-DK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𝛀</m:t>
                    </m:r>
                  </m:oMath>
                </a14:m>
                <a:r>
                  <a:rPr lang="da-DK" dirty="0"/>
                  <a:t> og længden 500 m.</a:t>
                </a:r>
              </a:p>
              <a:p>
                <a:r>
                  <a:rPr lang="da-DK" dirty="0"/>
                  <a:t>Beregn tværsnittet af lederen.</a:t>
                </a:r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AB878D2-77FF-2156-8857-AF112BF51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8645" y="1448735"/>
                <a:ext cx="9068709" cy="3960529"/>
              </a:xfrm>
              <a:blipFill>
                <a:blip r:embed="rId2"/>
                <a:stretch>
                  <a:fillRect l="-403" t="-77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>
            <a:extLst>
              <a:ext uri="{FF2B5EF4-FFF2-40B4-BE49-F238E27FC236}">
                <a16:creationId xmlns:a16="http://schemas.microsoft.com/office/drawing/2014/main" id="{4572744B-4827-830F-EDC8-58175135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895227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DEFFB6E-247C-4A4A-72DA-D281E84224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D54B639-CAF8-699A-70EA-72E071D7C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512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CBE5C3DA-F2BF-0E0D-D245-78E46D69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AB878D2-77FF-2156-8857-AF112BF518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sz="quarter" idx="13"/>
              </p:nvPr>
            </p:nvSpPr>
            <p:spPr>
              <a:xfrm>
                <a:off x="418645" y="1448735"/>
                <a:ext cx="9068709" cy="3960529"/>
              </a:xfrm>
            </p:spPr>
            <p:txBody>
              <a:bodyPr/>
              <a:lstStyle/>
              <a:p>
                <a:r>
                  <a:rPr lang="da-DK" u="sng" dirty="0"/>
                  <a:t>Opgave 4</a:t>
                </a:r>
              </a:p>
              <a:p>
                <a:r>
                  <a:rPr lang="da-DK" dirty="0"/>
                  <a:t>Beregn den specifikke ledningsevne for aluminium.</a:t>
                </a:r>
              </a:p>
              <a:p>
                <a:endParaRPr lang="da-DK" dirty="0"/>
              </a:p>
              <a:p>
                <a:r>
                  <a:rPr lang="da-DK" u="sng" dirty="0"/>
                  <a:t>Opgave 5</a:t>
                </a:r>
              </a:p>
              <a:p>
                <a:r>
                  <a:rPr lang="da-DK" dirty="0"/>
                  <a:t>En 700 m lang kobberleder leder har tværsnittet 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𝐦𝐦</m:t>
                        </m:r>
                      </m:e>
                      <m:sup>
                        <m:r>
                          <a:rPr lang="da-DK" b="1" i="0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da-DK" dirty="0"/>
                  <a:t>.</a:t>
                </a:r>
              </a:p>
              <a:p>
                <a:r>
                  <a:rPr lang="da-DK" dirty="0"/>
                  <a:t>Beregn konduktansen.</a:t>
                </a:r>
              </a:p>
              <a:p>
                <a:endParaRPr lang="da-DK" b="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AB878D2-77FF-2156-8857-AF112BF51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8645" y="1448735"/>
                <a:ext cx="9068709" cy="3960529"/>
              </a:xfrm>
              <a:blipFill>
                <a:blip r:embed="rId2"/>
                <a:stretch>
                  <a:fillRect l="-403" t="-77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>
            <a:extLst>
              <a:ext uri="{FF2B5EF4-FFF2-40B4-BE49-F238E27FC236}">
                <a16:creationId xmlns:a16="http://schemas.microsoft.com/office/drawing/2014/main" id="{4572744B-4827-830F-EDC8-58175135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895227"/>
            <a:ext cx="9090889" cy="480067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DEFFB6E-247C-4A4A-72DA-D281E84224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11-08-2026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D54B639-CAF8-699A-70EA-72E071D7C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40424007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35" ma:contentTypeDescription="Opret et nyt dokument." ma:contentTypeScope="" ma:versionID="f8973732321d220ec44c1e26f28d774a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f2b0f69eda9c5210bf281163aa08d5e7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22" nillable="true" ma:displayName="Notebook Type" ma:internalName="NotebookType">
      <xsd:simpleType>
        <xsd:restriction base="dms:Text"/>
      </xsd:simpleType>
    </xsd:element>
    <xsd:element name="FolderType" ma:index="23" nillable="true" ma:displayName="Folder Type" ma:internalName="FolderType">
      <xsd:simpleType>
        <xsd:restriction base="dms:Text"/>
      </xsd:simpleType>
    </xsd:element>
    <xsd:element name="CultureName" ma:index="24" nillable="true" ma:displayName="Culture Name" ma:internalName="CultureName">
      <xsd:simpleType>
        <xsd:restriction base="dms:Text"/>
      </xsd:simpleType>
    </xsd:element>
    <xsd:element name="AppVersion" ma:index="25" nillable="true" ma:displayName="App Version" ma:internalName="AppVersion">
      <xsd:simpleType>
        <xsd:restriction base="dms:Text"/>
      </xsd:simpleType>
    </xsd:element>
    <xsd:element name="TeamsChannelId" ma:index="26" nillable="true" ma:displayName="Teams Channel Id" ma:internalName="TeamsChannelId">
      <xsd:simpleType>
        <xsd:restriction base="dms:Text"/>
      </xsd:simpleType>
    </xsd:element>
    <xsd:element name="Owner" ma:index="2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8" nillable="true" ma:displayName="Math Settings" ma:internalName="Math_Settings">
      <xsd:simpleType>
        <xsd:restriction base="dms:Text"/>
      </xsd:simpleType>
    </xsd:element>
    <xsd:element name="DefaultSectionNames" ma:index="2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6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7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8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9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40" nillable="true" ma:displayName="Is Collaboration Space Locked" ma:internalName="Is_Collaboration_Space_Locked">
      <xsd:simpleType>
        <xsd:restriction base="dms:Boolean"/>
      </xsd:simpleType>
    </xsd:element>
    <xsd:element name="IsNotebookLocked" ma:index="41" nillable="true" ma:displayName="Is Notebook Locked" ma:internalName="IsNotebookLocked">
      <xsd:simpleType>
        <xsd:restriction base="dms:Boolean"/>
      </xsd:simpleType>
    </xsd:element>
    <xsd:element name="Teams_Channel_Section_Location" ma:index="42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b219d03-91f1-46b5-9cdc-4a273eee06fd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776432-5f6f-4461-a773-af4277ea9cc4">
      <Terms xmlns="http://schemas.microsoft.com/office/infopath/2007/PartnerControls"/>
    </lcf76f155ced4ddcb4097134ff3c332f>
    <TaxCatchAll xmlns="b112c056-f141-4248-a46f-e5f0219ad1a7" xsi:nil="true"/>
    <Owner xmlns="52776432-5f6f-4461-a773-af4277ea9cc4">
      <UserInfo>
        <DisplayName/>
        <AccountId xsi:nil="true"/>
        <AccountType/>
      </UserInfo>
    </Owner>
    <Students xmlns="52776432-5f6f-4461-a773-af4277ea9cc4">
      <UserInfo>
        <DisplayName/>
        <AccountId xsi:nil="true"/>
        <AccountType/>
      </UserInfo>
    </Students>
    <Student_Groups xmlns="52776432-5f6f-4461-a773-af4277ea9cc4">
      <UserInfo>
        <DisplayName/>
        <AccountId xsi:nil="true"/>
        <AccountType/>
      </UserInfo>
    </Student_Groups>
    <LMS_Mappings xmlns="52776432-5f6f-4461-a773-af4277ea9cc4" xsi:nil="true"/>
    <Has_Teacher_Only_SectionGroup xmlns="52776432-5f6f-4461-a773-af4277ea9cc4" xsi:nil="true"/>
    <CultureName xmlns="52776432-5f6f-4461-a773-af4277ea9cc4" xsi:nil="true"/>
    <AppVersion xmlns="52776432-5f6f-4461-a773-af4277ea9cc4" xsi:nil="true"/>
    <Invited_Teachers xmlns="52776432-5f6f-4461-a773-af4277ea9cc4" xsi:nil="true"/>
    <Invited_Students xmlns="52776432-5f6f-4461-a773-af4277ea9cc4" xsi:nil="true"/>
    <DefaultSectionNames xmlns="52776432-5f6f-4461-a773-af4277ea9cc4" xsi:nil="true"/>
    <Math_Settings xmlns="52776432-5f6f-4461-a773-af4277ea9cc4" xsi:nil="true"/>
    <Templates xmlns="52776432-5f6f-4461-a773-af4277ea9cc4" xsi:nil="true"/>
    <Self_Registration_Enabled xmlns="52776432-5f6f-4461-a773-af4277ea9cc4" xsi:nil="true"/>
    <Teachers xmlns="52776432-5f6f-4461-a773-af4277ea9cc4">
      <UserInfo>
        <DisplayName/>
        <AccountId xsi:nil="true"/>
        <AccountType/>
      </UserInfo>
    </Teachers>
    <Is_Collaboration_Space_Locked xmlns="52776432-5f6f-4461-a773-af4277ea9cc4" xsi:nil="true"/>
    <Teams_Channel_Section_Location xmlns="52776432-5f6f-4461-a773-af4277ea9cc4" xsi:nil="true"/>
    <Distribution_Groups xmlns="52776432-5f6f-4461-a773-af4277ea9cc4" xsi:nil="true"/>
    <NotebookType xmlns="52776432-5f6f-4461-a773-af4277ea9cc4" xsi:nil="true"/>
    <FolderType xmlns="52776432-5f6f-4461-a773-af4277ea9cc4" xsi:nil="true"/>
    <TeamsChannelId xmlns="52776432-5f6f-4461-a773-af4277ea9cc4" xsi:nil="true"/>
    <IsNotebookLocked xmlns="52776432-5f6f-4461-a773-af4277ea9cc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9F705A-D0A0-4E3C-9669-7671A1124B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5EEC67-798A-4B51-9FDD-BFF1F37B7727}">
  <ds:schemaRefs>
    <ds:schemaRef ds:uri="http://schemas.microsoft.com/office/2006/metadata/properties"/>
    <ds:schemaRef ds:uri="http://schemas.microsoft.com/office/infopath/2007/PartnerControls"/>
    <ds:schemaRef ds:uri="52776432-5f6f-4461-a773-af4277ea9cc4"/>
    <ds:schemaRef ds:uri="b112c056-f141-4248-a46f-e5f0219ad1a7"/>
  </ds:schemaRefs>
</ds:datastoreItem>
</file>

<file path=customXml/itemProps3.xml><?xml version="1.0" encoding="utf-8"?>
<ds:datastoreItem xmlns:ds="http://schemas.openxmlformats.org/officeDocument/2006/customXml" ds:itemID="{6B0A7121-A3B5-4D65-84A8-B45282E6A2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4297</TotalTime>
  <Words>527</Words>
  <Application>Microsoft Office PowerPoint</Application>
  <PresentationFormat>A4-papir (210 x 297 mm)</PresentationFormat>
  <Paragraphs>121</Paragraphs>
  <Slides>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4" baseType="lpstr">
      <vt:lpstr>Calibri</vt:lpstr>
      <vt:lpstr>Cambria Math</vt:lpstr>
      <vt:lpstr>Bradley Hand ITC</vt:lpstr>
      <vt:lpstr>Arial</vt:lpstr>
      <vt:lpstr>MARTEC</vt:lpstr>
      <vt:lpstr>Specifik resistans og ledningsevne</vt:lpstr>
      <vt:lpstr>Opgaver</vt:lpstr>
      <vt:lpstr>Specifik modstand</vt:lpstr>
      <vt:lpstr>Aflæsning af den specifikke modstand</vt:lpstr>
      <vt:lpstr>Kabel</vt:lpstr>
      <vt:lpstr>Ledningsevne</vt:lpstr>
      <vt:lpstr>Anvendelse af ledningsevne</vt:lpstr>
      <vt:lpstr>Eksempel</vt:lpstr>
      <vt:lpstr>Eksempel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135</cp:revision>
  <dcterms:created xsi:type="dcterms:W3CDTF">2020-04-01T11:50:27Z</dcterms:created>
  <dcterms:modified xsi:type="dcterms:W3CDTF">2026-08-11T11:35:58Z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0x0101004A5C8CDECDFE604A9828CFDC608EFB56</vt:lpwstr>
  </property>
</Properties>
</file>