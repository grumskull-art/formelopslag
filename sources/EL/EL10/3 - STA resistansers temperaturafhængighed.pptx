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712" r:id="rId4"/>
  </p:sldMasterIdLst>
  <p:sldIdLst>
    <p:sldId id="275" r:id="rId5"/>
    <p:sldId id="277" r:id="rId6"/>
    <p:sldId id="257" r:id="rId7"/>
    <p:sldId id="272" r:id="rId8"/>
    <p:sldId id="267" r:id="rId9"/>
    <p:sldId id="271" r:id="rId10"/>
    <p:sldId id="269" r:id="rId11"/>
    <p:sldId id="273" r:id="rId12"/>
    <p:sldId id="276" r:id="rId13"/>
    <p:sldId id="274" r:id="rId14"/>
  </p:sldIdLst>
  <p:sldSz cx="9906000" cy="6858000" type="A4"/>
  <p:notesSz cx="9874250" cy="6724650"/>
  <p:embeddedFontLst>
    <p:embeddedFont>
      <p:font typeface="Cambria Math" panose="02040503050406030204" pitchFamily="18" charset="0"/>
      <p:regular r:id="rId15"/>
    </p:embeddedFont>
  </p:embeddedFontLst>
  <p:defaultTextStyle>
    <a:defPPr>
      <a:defRPr lang="da-DK"/>
    </a:defPPr>
    <a:lvl1pPr marL="0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6433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72866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9298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45731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82164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18597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55029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91462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19">
          <p15:clr>
            <a:srgbClr val="A4A3A4"/>
          </p15:clr>
        </p15:guide>
        <p15:guide id="2" pos="311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94" d="100"/>
          <a:sy n="94" d="100"/>
        </p:scale>
        <p:origin x="810" y="8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19"/>
        <p:guide pos="311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Tran Agerholm" userId="dd55e2d3-906e-4a4a-90ea-dda6205f875e" providerId="ADAL" clId="{5EFFF862-C165-4C4A-8B20-E280CAF10480}"/>
    <pc:docChg chg="undo redo custSel addSld delSld modSld sldOrd">
      <pc:chgData name="Simon Tran Agerholm" userId="dd55e2d3-906e-4a4a-90ea-dda6205f875e" providerId="ADAL" clId="{5EFFF862-C165-4C4A-8B20-E280CAF10480}" dt="2026-08-24T11:54:15.232" v="81" actId="20577"/>
      <pc:docMkLst>
        <pc:docMk/>
      </pc:docMkLst>
      <pc:sldChg chg="modSp mod">
        <pc:chgData name="Simon Tran Agerholm" userId="dd55e2d3-906e-4a4a-90ea-dda6205f875e" providerId="ADAL" clId="{5EFFF862-C165-4C4A-8B20-E280CAF10480}" dt="2026-08-24T11:54:15.232" v="81" actId="20577"/>
        <pc:sldMkLst>
          <pc:docMk/>
          <pc:sldMk cId="419341152" sldId="275"/>
        </pc:sldMkLst>
        <pc:spChg chg="mod">
          <ac:chgData name="Simon Tran Agerholm" userId="dd55e2d3-906e-4a4a-90ea-dda6205f875e" providerId="ADAL" clId="{5EFFF862-C165-4C4A-8B20-E280CAF10480}" dt="2026-08-24T11:54:15.232" v="81" actId="20577"/>
          <ac:spMkLst>
            <pc:docMk/>
            <pc:sldMk cId="419341152" sldId="275"/>
            <ac:spMk id="14" creationId="{0FC8537A-EE90-25AB-853A-FA0733352C8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9" b="14030"/>
          <a:stretch/>
        </p:blipFill>
        <p:spPr>
          <a:xfrm>
            <a:off x="0" y="-1"/>
            <a:ext cx="9906000" cy="5145207"/>
          </a:xfrm>
          <a:prstGeom prst="rect">
            <a:avLst/>
          </a:prstGeom>
        </p:spPr>
      </p:pic>
      <p:sp>
        <p:nvSpPr>
          <p:cNvPr id="7" name="Rektangel 6"/>
          <p:cNvSpPr/>
          <p:nvPr/>
        </p:nvSpPr>
        <p:spPr>
          <a:xfrm>
            <a:off x="0" y="5145206"/>
            <a:ext cx="9906000" cy="84034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10" name="Billed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384" y="5739931"/>
            <a:ext cx="1537425" cy="560487"/>
          </a:xfrm>
          <a:prstGeom prst="rect">
            <a:avLst/>
          </a:prstGeom>
        </p:spPr>
      </p:pic>
      <p:sp>
        <p:nvSpPr>
          <p:cNvPr id="3" name="Pladsholder til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273050" y="5499100"/>
            <a:ext cx="7200900" cy="521074"/>
          </a:xfrm>
        </p:spPr>
        <p:txBody>
          <a:bodyPr/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 err="1"/>
              <a:t>Præsentationtitel</a:t>
            </a:r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quarter" idx="11" hasCustomPrompt="1"/>
          </p:nvPr>
        </p:nvSpPr>
        <p:spPr>
          <a:xfrm>
            <a:off x="272582" y="6129338"/>
            <a:ext cx="5670550" cy="450850"/>
          </a:xfrm>
        </p:spPr>
        <p:txBody>
          <a:bodyPr/>
          <a:lstStyle>
            <a:lvl2pPr marL="39114" indent="0">
              <a:buNone/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da-DK" dirty="0"/>
              <a:t>[Dato, sted, forfatter]</a:t>
            </a:r>
          </a:p>
        </p:txBody>
      </p:sp>
    </p:spTree>
    <p:extLst>
      <p:ext uri="{BB962C8B-B14F-4D97-AF65-F5344CB8AC3E}">
        <p14:creationId xmlns:p14="http://schemas.microsoft.com/office/powerpoint/2010/main" val="1721833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ktion 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2352" y="2828920"/>
            <a:ext cx="9361300" cy="901179"/>
          </a:xfrm>
        </p:spPr>
        <p:txBody>
          <a:bodyPr>
            <a:normAutofit/>
          </a:bodyPr>
          <a:lstStyle>
            <a:lvl1pPr algn="ctr">
              <a:defRPr sz="23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SEKTIONS OVERSKRIFT</a:t>
            </a: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9" name="Pladsholder til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272353" y="1388728"/>
            <a:ext cx="9361921" cy="1151467"/>
          </a:xfrm>
        </p:spPr>
        <p:txBody>
          <a:bodyPr anchor="ctr">
            <a:noAutofit/>
          </a:bodyPr>
          <a:lstStyle>
            <a:lvl1pPr algn="ctr">
              <a:buNone/>
              <a:defRPr sz="700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a-DK" dirty="0" err="1"/>
              <a:t>Nr</a:t>
            </a:r>
            <a:endParaRPr lang="da-DK" dirty="0"/>
          </a:p>
        </p:txBody>
      </p:sp>
      <p:sp>
        <p:nvSpPr>
          <p:cNvPr id="11" name="Pladsholder til tekst 10"/>
          <p:cNvSpPr>
            <a:spLocks noGrp="1"/>
          </p:cNvSpPr>
          <p:nvPr>
            <p:ph type="body" sz="quarter" idx="14" hasCustomPrompt="1"/>
          </p:nvPr>
        </p:nvSpPr>
        <p:spPr>
          <a:xfrm>
            <a:off x="271727" y="3789050"/>
            <a:ext cx="9362546" cy="2038351"/>
          </a:xfrm>
        </p:spPr>
        <p:txBody>
          <a:bodyPr>
            <a:normAutofit/>
          </a:bodyPr>
          <a:lstStyle>
            <a:lvl1pPr algn="ctr">
              <a:buNone/>
              <a:defRPr lang="da-DK" sz="2100" b="0" i="0" baseline="0" dirty="0">
                <a:solidFill>
                  <a:schemeClr val="bg1">
                    <a:lumMod val="50000"/>
                  </a:schemeClr>
                </a:solidFill>
              </a:defRPr>
            </a:lvl1pPr>
            <a:lvl4pPr>
              <a:buNone/>
              <a:defRPr lang="da-DK" dirty="0"/>
            </a:lvl4pPr>
          </a:lstStyle>
          <a:p>
            <a:pPr lvl="0"/>
            <a:r>
              <a:rPr lang="da-DK" dirty="0"/>
              <a:t>Beskrivende tekst</a:t>
            </a:r>
          </a:p>
        </p:txBody>
      </p:sp>
      <p:sp>
        <p:nvSpPr>
          <p:cNvPr id="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56353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8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24-08-2026</a:t>
            </a:fld>
            <a:endParaRPr lang="da-DK" dirty="0"/>
          </a:p>
        </p:txBody>
      </p:sp>
      <p:pic>
        <p:nvPicPr>
          <p:cNvPr id="10" name="Billed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308" y="258165"/>
            <a:ext cx="1537425" cy="560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hold med text og tynd stre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369891" y="2228840"/>
            <a:ext cx="9068709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347711" y="1628757"/>
            <a:ext cx="9090889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1157520" cy="366183"/>
          </a:xfrm>
        </p:spPr>
        <p:txBody>
          <a:bodyPr/>
          <a:lstStyle>
            <a:lvl1pPr>
              <a:defRPr sz="1000" b="1" baseline="0">
                <a:solidFill>
                  <a:srgbClr val="006273"/>
                </a:solidFill>
                <a:latin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24-08-2026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198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20059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hold med text og tynd streg uden bundstreg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369891" y="2228840"/>
            <a:ext cx="9068709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</a:defRPr>
            </a:lvl1pPr>
            <a:lvl2pPr marL="312919" indent="-281255">
              <a:defRPr sz="1400" baseline="0">
                <a:solidFill>
                  <a:srgbClr val="006273"/>
                </a:solidFill>
              </a:defRPr>
            </a:lvl2pPr>
            <a:lvl3pPr marL="528982" indent="-216063">
              <a:defRPr sz="1400" baseline="0">
                <a:solidFill>
                  <a:srgbClr val="006273"/>
                </a:solidFill>
              </a:defRPr>
            </a:lvl3pPr>
            <a:lvl4pPr marL="735733" indent="-206751">
              <a:defRPr sz="1400" baseline="0">
                <a:solidFill>
                  <a:srgbClr val="006273"/>
                </a:solidFill>
              </a:defRPr>
            </a:lvl4pPr>
            <a:lvl5pPr marL="944346" indent="-208613">
              <a:defRPr sz="1400" baseline="0">
                <a:solidFill>
                  <a:srgbClr val="006273"/>
                </a:solidFill>
              </a:defRPr>
            </a:lvl5pPr>
            <a:lvl6pPr>
              <a:defRPr sz="1400" baseline="0">
                <a:solidFill>
                  <a:srgbClr val="006273"/>
                </a:solidFill>
              </a:defRPr>
            </a:lvl6pPr>
            <a:lvl7pPr>
              <a:defRPr sz="1400" baseline="0">
                <a:solidFill>
                  <a:srgbClr val="006273"/>
                </a:solidFill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347711" y="1628757"/>
            <a:ext cx="9090889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24-08-2026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199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498528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369891" y="2228840"/>
            <a:ext cx="9068709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347711" y="1628757"/>
            <a:ext cx="9090889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24-08-2026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199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85682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24-08-2026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420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880721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dsholder til titel 13"/>
          <p:cNvSpPr>
            <a:spLocks noGrp="1"/>
          </p:cNvSpPr>
          <p:nvPr>
            <p:ph type="title"/>
          </p:nvPr>
        </p:nvSpPr>
        <p:spPr>
          <a:xfrm>
            <a:off x="467404" y="275167"/>
            <a:ext cx="8971196" cy="1143000"/>
          </a:xfrm>
          <a:prstGeom prst="rect">
            <a:avLst/>
          </a:prstGeom>
        </p:spPr>
        <p:txBody>
          <a:bodyPr vert="horz" lIns="107287" tIns="53643" rIns="107287" bIns="53643" rtlCol="0" anchor="ctr">
            <a:normAutofit/>
          </a:bodyPr>
          <a:lstStyle/>
          <a:p>
            <a:r>
              <a:rPr lang="da-DK" dirty="0"/>
              <a:t>KLIK FOR AT REDIGERE TITELTYPOGRAFI I MASTEREN</a:t>
            </a:r>
          </a:p>
        </p:txBody>
      </p:sp>
      <p:sp>
        <p:nvSpPr>
          <p:cNvPr id="16" name="Pladsholder til dato 15"/>
          <p:cNvSpPr>
            <a:spLocks noGrp="1"/>
          </p:cNvSpPr>
          <p:nvPr>
            <p:ph type="dt" sz="half" idx="2"/>
          </p:nvPr>
        </p:nvSpPr>
        <p:spPr>
          <a:xfrm>
            <a:off x="370879" y="6356353"/>
            <a:ext cx="253435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l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708341F-0F0E-47FB-8512-CCC8C3F1C977}" type="datetime1">
              <a:rPr lang="da-DK" smtClean="0"/>
              <a:pPr/>
              <a:t>24-08-2026</a:t>
            </a:fld>
            <a:endParaRPr lang="da-DK" dirty="0"/>
          </a:p>
        </p:txBody>
      </p:sp>
      <p:sp>
        <p:nvSpPr>
          <p:cNvPr id="1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56353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da-DK" dirty="0"/>
          </a:p>
        </p:txBody>
      </p:sp>
      <p:sp>
        <p:nvSpPr>
          <p:cNvPr id="18" name="Pladsholder til diasnummer 17"/>
          <p:cNvSpPr>
            <a:spLocks noGrp="1"/>
          </p:cNvSpPr>
          <p:nvPr>
            <p:ph type="sldNum" sz="quarter" idx="4"/>
          </p:nvPr>
        </p:nvSpPr>
        <p:spPr>
          <a:xfrm>
            <a:off x="7000775" y="6356353"/>
            <a:ext cx="253435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8" name="Pladsholder til tekst 7"/>
          <p:cNvSpPr>
            <a:spLocks noGrp="1"/>
          </p:cNvSpPr>
          <p:nvPr>
            <p:ph type="body" idx="1"/>
          </p:nvPr>
        </p:nvSpPr>
        <p:spPr>
          <a:xfrm>
            <a:off x="467404" y="1600202"/>
            <a:ext cx="8971196" cy="4525433"/>
          </a:xfrm>
          <a:prstGeom prst="rect">
            <a:avLst/>
          </a:prstGeom>
        </p:spPr>
        <p:txBody>
          <a:bodyPr vert="horz" lIns="107287" tIns="53643" rIns="107287" bIns="53643" rtlCol="0">
            <a:noAutofit/>
          </a:bodyPr>
          <a:lstStyle/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 err="1"/>
              <a:t>Level</a:t>
            </a:r>
            <a:r>
              <a:rPr lang="da-DK" dirty="0"/>
              <a:t> 6</a:t>
            </a:r>
          </a:p>
          <a:p>
            <a:pPr lvl="6"/>
            <a:r>
              <a:rPr lang="da-DK" dirty="0" err="1"/>
              <a:t>Level</a:t>
            </a:r>
            <a:r>
              <a:rPr lang="da-DK" dirty="0"/>
              <a:t> 7</a:t>
            </a:r>
          </a:p>
          <a:p>
            <a:pPr lvl="5"/>
            <a:endParaRPr lang="da-DK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20" r:id="rId2"/>
    <p:sldLayoutId id="2147483765" r:id="rId3"/>
    <p:sldLayoutId id="2147483768" r:id="rId4"/>
    <p:sldLayoutId id="2147483770" r:id="rId5"/>
    <p:sldLayoutId id="2147483771" r:id="rId6"/>
  </p:sldLayoutIdLst>
  <p:hf hdr="0"/>
  <p:txStyles>
    <p:titleStyle>
      <a:lvl1pPr marL="420951" indent="-420951" algn="l" defTabSz="1072866" rtl="0" eaLnBrk="1" latinLnBrk="0" hangingPunct="1">
        <a:spcBef>
          <a:spcPct val="0"/>
        </a:spcBef>
        <a:buClr>
          <a:schemeClr val="tx2"/>
        </a:buClr>
        <a:buFont typeface="+mj-lt"/>
        <a:buNone/>
        <a:defRPr sz="2800" b="1" kern="1200">
          <a:solidFill>
            <a:srgbClr val="006273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0" indent="0" algn="l" defTabSz="1072866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100" b="1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1pPr>
      <a:lvl2pPr marL="312919" indent="-273805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9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2pPr>
      <a:lvl3pPr marL="52898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3pPr>
      <a:lvl4pPr marL="735733" indent="-206751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4pPr>
      <a:lvl5pPr marL="944346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5pPr>
      <a:lvl6pPr marL="1152958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tabLst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6pPr>
      <a:lvl7pPr marL="136902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7pPr>
      <a:lvl8pPr marL="4023246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59678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6433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72866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9298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45731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82164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18597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55029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91462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</a:t>
            </a:fld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quarter" idx="13"/>
          </p:nvPr>
        </p:nvSpPr>
        <p:spPr>
          <a:xfrm>
            <a:off x="467710" y="1451928"/>
            <a:ext cx="8970890" cy="4737441"/>
          </a:xfrm>
        </p:spPr>
        <p:txBody>
          <a:bodyPr/>
          <a:lstStyle/>
          <a:p>
            <a:endParaRPr lang="da-DK" sz="2100" dirty="0"/>
          </a:p>
          <a:p>
            <a:endParaRPr lang="da-DK" dirty="0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24-08-2026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88445645-8C01-3306-4402-B5E4D796F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01" y="1104933"/>
            <a:ext cx="9090889" cy="480067"/>
          </a:xfrm>
        </p:spPr>
        <p:txBody>
          <a:bodyPr/>
          <a:lstStyle/>
          <a:p>
            <a:r>
              <a:rPr lang="da-DK" sz="3600" dirty="0"/>
              <a:t>Resistansers temperaturafhængighed</a:t>
            </a:r>
          </a:p>
        </p:txBody>
      </p:sp>
      <p:sp>
        <p:nvSpPr>
          <p:cNvPr id="14" name="Pladsholder til tekst 2">
            <a:extLst>
              <a:ext uri="{FF2B5EF4-FFF2-40B4-BE49-F238E27FC236}">
                <a16:creationId xmlns:a16="http://schemas.microsoft.com/office/drawing/2014/main" id="{0FC8537A-EE90-25AB-853A-FA0733352C8C}"/>
              </a:ext>
            </a:extLst>
          </p:cNvPr>
          <p:cNvSpPr txBox="1">
            <a:spLocks/>
          </p:cNvSpPr>
          <p:nvPr/>
        </p:nvSpPr>
        <p:spPr>
          <a:xfrm>
            <a:off x="467400" y="5412170"/>
            <a:ext cx="5670550" cy="450850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defPPr>
              <a:defRPr lang="da-DK"/>
            </a:defPPr>
            <a:lvl1pPr marL="0" algn="l" defTabSz="1072866" rtl="0" eaLnBrk="1" latinLnBrk="0" hangingPunct="1">
              <a:defRPr sz="1000" b="1" kern="120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36433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1800" dirty="0"/>
              <a:t>Simon Tran </a:t>
            </a:r>
            <a:r>
              <a:rPr lang="da-DK" sz="1800"/>
              <a:t>Agerholm efterår 2026</a:t>
            </a:r>
            <a:endParaRPr lang="da-DK" sz="1800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68796F54-DEE3-EEE8-DEB5-1B468B964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52" y="1781073"/>
            <a:ext cx="3416300" cy="3295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41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C1CC7-5359-2DA9-10D7-782C5EACC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4DE89B87-075A-834D-769D-DDA3D487F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</a:t>
            </a:fld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F88445C-0885-89CC-70E1-B019001C3E7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710" y="1451928"/>
            <a:ext cx="8970890" cy="4737441"/>
          </a:xfrm>
        </p:spPr>
        <p:txBody>
          <a:bodyPr/>
          <a:lstStyle/>
          <a:p>
            <a:r>
              <a:rPr lang="da-DK" dirty="0"/>
              <a:t>1.16 + 1.17a og b + 1.18 + 1.22 + 1.23 + 1.24 + 1.25 + 1.26 </a:t>
            </a:r>
          </a:p>
          <a:p>
            <a:r>
              <a:rPr lang="da-DK" dirty="0"/>
              <a:t>+ Opgaver modstandstemperaturkoefficient (Ligger i teams under lektionen)</a:t>
            </a:r>
            <a:endParaRPr lang="da-DK" dirty="0">
              <a:solidFill>
                <a:srgbClr val="FF0000"/>
              </a:solidFill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538D84C-A313-0E05-B0A4-A72E24326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891" y="971861"/>
            <a:ext cx="9090889" cy="480067"/>
          </a:xfrm>
        </p:spPr>
        <p:txBody>
          <a:bodyPr/>
          <a:lstStyle/>
          <a:p>
            <a:r>
              <a:rPr lang="da-DK" dirty="0"/>
              <a:t>Opgaver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AE3B88CD-CA4D-4619-2F30-4B34A3A951B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24-08-2026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7B4E3BAA-F196-4A8D-3A0B-FE1EBE71C0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</p:spTree>
    <p:extLst>
      <p:ext uri="{BB962C8B-B14F-4D97-AF65-F5344CB8AC3E}">
        <p14:creationId xmlns:p14="http://schemas.microsoft.com/office/powerpoint/2010/main" val="339895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3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67710" y="1451928"/>
                <a:ext cx="8970890" cy="4737441"/>
              </a:xfrm>
            </p:spPr>
            <p:txBody>
              <a:bodyPr/>
              <a:lstStyle/>
              <a:p>
                <a:endParaRPr lang="da-DK" sz="2100" dirty="0"/>
              </a:p>
              <a:p>
                <a:r>
                  <a:rPr lang="da-DK" sz="2100" dirty="0"/>
                  <a:t>Typisk stiger modstanden, når temperaturen øges. Dog forholder det sig omvendt for glødetråden (se tabel).</a:t>
                </a:r>
              </a:p>
              <a:p>
                <a:endParaRPr lang="da-DK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da-DK" sz="1800" b="1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a-DK" sz="1800" b="1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da-DK" sz="1800" b="1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𝑻</m:t>
                          </m:r>
                        </m:sub>
                      </m:sSub>
                      <m:r>
                        <a:rPr lang="da-DK" sz="1800" b="1" i="1" kern="10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sz="1800" b="1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a-DK" sz="1800" b="1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da-DK" sz="1800" b="1" i="1" kern="100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sub>
                      </m:sSub>
                      <m:r>
                        <a:rPr lang="da-DK" sz="1800" b="1" i="1" kern="10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sz="1800" b="1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a-DK" sz="1800" b="1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da-DK" sz="1800" b="1" i="1" kern="100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sub>
                      </m:sSub>
                      <m:r>
                        <a:rPr lang="da-DK" sz="1800" b="1" i="1" kern="10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da-DK" sz="1800" b="1" i="1" kern="10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𝜶</m:t>
                      </m:r>
                      <m:r>
                        <a:rPr lang="da-DK" sz="1800" b="1" i="1" kern="10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∙(</m:t>
                      </m:r>
                      <m:r>
                        <a:rPr lang="da-DK" sz="1800" b="1" i="1" kern="10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𝑻</m:t>
                      </m:r>
                      <m:r>
                        <a:rPr lang="da-DK" sz="1800" b="1" i="1" kern="10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da-DK" sz="1800" b="1" i="1" kern="10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𝒕</m:t>
                      </m:r>
                      <m:r>
                        <a:rPr lang="da-DK" sz="1800" b="1" i="1" kern="10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da-DK" sz="1800" i="1" kern="100" dirty="0">
                  <a:solidFill>
                    <a:srgbClr val="00B05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sz="1800" kern="100" dirty="0">
                  <a:solidFill>
                    <a:srgbClr val="00B05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da-DK" b="0" dirty="0">
                    <a:solidFill>
                      <a:srgbClr val="00B050"/>
                    </a:solidFill>
                  </a:rPr>
                  <a:t>T	Den aktuelle temperatur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b="0" i="1" kern="1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a-DK" b="0" i="1" kern="1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da-DK" b="0" i="1" kern="1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da-DK" b="0" dirty="0">
                    <a:solidFill>
                      <a:srgbClr val="00B050"/>
                    </a:solidFill>
                  </a:rPr>
                  <a:t>	Resistansen ved temperaturen T [</a:t>
                </a:r>
                <a:r>
                  <a:rPr lang="el-GR" b="0" dirty="0">
                    <a:solidFill>
                      <a:srgbClr val="00B050"/>
                    </a:solidFill>
                  </a:rPr>
                  <a:t>Ω</a:t>
                </a:r>
                <a:r>
                  <a:rPr lang="da-DK" b="0" dirty="0">
                    <a:solidFill>
                      <a:srgbClr val="00B050"/>
                    </a:solidFill>
                  </a:rPr>
                  <a:t>]</a:t>
                </a:r>
                <a:br>
                  <a:rPr lang="da-DK" b="0" dirty="0">
                    <a:solidFill>
                      <a:srgbClr val="00B050"/>
                    </a:solidFill>
                  </a:rPr>
                </a:br>
                <a:r>
                  <a:rPr lang="da-DK" b="0" dirty="0">
                    <a:solidFill>
                      <a:srgbClr val="00B050"/>
                    </a:solidFill>
                  </a:rPr>
                  <a:t>t	Den temperaturen, hvor modstanden er kendt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sz="1800" b="0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a-DK" sz="1800" b="0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da-DK" sz="1800" b="0" i="1" kern="100" smtClean="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da-DK" b="0" dirty="0">
                    <a:solidFill>
                      <a:srgbClr val="00B050"/>
                    </a:solidFill>
                  </a:rPr>
                  <a:t>	Resistansen ved temperaturen t [</a:t>
                </a:r>
                <a:r>
                  <a:rPr lang="el-GR" b="0" dirty="0">
                    <a:solidFill>
                      <a:srgbClr val="00B050"/>
                    </a:solidFill>
                  </a:rPr>
                  <a:t>Ω</a:t>
                </a:r>
                <a:r>
                  <a:rPr lang="da-DK" b="0" dirty="0">
                    <a:solidFill>
                      <a:srgbClr val="00B050"/>
                    </a:solidFill>
                  </a:rPr>
                  <a:t>]</a:t>
                </a:r>
              </a:p>
              <a:p>
                <a14:m>
                  <m:oMath xmlns:m="http://schemas.openxmlformats.org/officeDocument/2006/math">
                    <m:r>
                      <a:rPr lang="da-DK" sz="1800" b="0" i="1" kern="100" smtClean="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da-DK" b="0" dirty="0">
                    <a:solidFill>
                      <a:srgbClr val="00B050"/>
                    </a:solidFill>
                  </a:rPr>
                  <a:t>	Modstandstemperaturkoefficienten 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°</m:t>
                        </m:r>
                        <m:r>
                          <a:rPr lang="da-DK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da-DK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da-DK" b="0" dirty="0">
                    <a:solidFill>
                      <a:srgbClr val="00B050"/>
                    </a:solidFill>
                  </a:rPr>
                  <a:t>]</a:t>
                </a:r>
              </a:p>
              <a:p>
                <a:endParaRPr lang="da-DK" dirty="0"/>
              </a:p>
              <a:p>
                <a:r>
                  <a:rPr lang="da-DK" dirty="0"/>
                  <a:t>Ved 20 °C er </a:t>
                </a:r>
                <a14:m>
                  <m:oMath xmlns:m="http://schemas.openxmlformats.org/officeDocument/2006/math">
                    <m:r>
                      <a:rPr lang="da-DK" sz="1800" b="1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𝜶</m:t>
                    </m:r>
                  </m:oMath>
                </a14:m>
                <a:r>
                  <a:rPr lang="da-DK" dirty="0"/>
                  <a:t> = 0,004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b="1" i="1">
                            <a:latin typeface="Cambria Math" panose="02040503050406030204" pitchFamily="18" charset="0"/>
                          </a:rPr>
                          <m:t>°</m:t>
                        </m:r>
                        <m:r>
                          <a:rPr lang="da-DK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p>
                        <m:r>
                          <a:rPr lang="da-DK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a-DK" b="1" i="1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da-DK" dirty="0"/>
                  <a:t> for kobber og 0,0037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°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p>
                        <m:r>
                          <a:rPr lang="da-DK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da-DK" dirty="0"/>
                  <a:t> for aluminium. </a:t>
                </a:r>
              </a:p>
              <a:p>
                <a:r>
                  <a:rPr lang="da-DK" dirty="0">
                    <a:solidFill>
                      <a:srgbClr val="FF0000"/>
                    </a:solidFill>
                  </a:rPr>
                  <a:t>Bemærk når 20 bruges som indeks, er beregningen ved 20 °C.</a:t>
                </a:r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67710" y="1451928"/>
                <a:ext cx="8970890" cy="4737441"/>
              </a:xfrm>
              <a:blipFill>
                <a:blip r:embed="rId2"/>
                <a:stretch>
                  <a:fillRect l="-680" r="-952" b="-12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369891" y="971861"/>
            <a:ext cx="9090889" cy="480067"/>
          </a:xfrm>
        </p:spPr>
        <p:txBody>
          <a:bodyPr/>
          <a:lstStyle/>
          <a:p>
            <a:r>
              <a:rPr lang="da-DK" dirty="0"/>
              <a:t>Resistansers temperaturafhængighed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24-08-2026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</p:spTree>
    <p:extLst>
      <p:ext uri="{BB962C8B-B14F-4D97-AF65-F5344CB8AC3E}">
        <p14:creationId xmlns:p14="http://schemas.microsoft.com/office/powerpoint/2010/main" val="85598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4</a:t>
            </a:fld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quarter" idx="13"/>
          </p:nvPr>
        </p:nvSpPr>
        <p:spPr>
          <a:xfrm>
            <a:off x="407557" y="1634360"/>
            <a:ext cx="9031043" cy="4555010"/>
          </a:xfrm>
        </p:spPr>
        <p:txBody>
          <a:bodyPr/>
          <a:lstStyle/>
          <a:p>
            <a:r>
              <a:rPr lang="da-DK" dirty="0">
                <a:solidFill>
                  <a:srgbClr val="00B050"/>
                </a:solidFill>
              </a:rPr>
              <a:t>Skema side 359 i 6. udgave </a:t>
            </a:r>
            <a:r>
              <a:rPr lang="da-DK" dirty="0">
                <a:solidFill>
                  <a:srgbClr val="0070C0"/>
                </a:solidFill>
              </a:rPr>
              <a:t>(side 363 i 7. udgave) </a:t>
            </a:r>
            <a:r>
              <a:rPr lang="da-DK" dirty="0">
                <a:solidFill>
                  <a:srgbClr val="00B050"/>
                </a:solidFill>
              </a:rPr>
              <a:t>i bog 1:</a:t>
            </a:r>
          </a:p>
          <a:p>
            <a:endParaRPr lang="da-DK" sz="1500" dirty="0">
              <a:solidFill>
                <a:srgbClr val="00B0F0"/>
              </a:solidFill>
            </a:endParaRPr>
          </a:p>
          <a:p>
            <a:endParaRPr lang="da-DK" sz="1500" dirty="0">
              <a:solidFill>
                <a:srgbClr val="00B0F0"/>
              </a:solidFill>
            </a:endParaRPr>
          </a:p>
          <a:p>
            <a:endParaRPr lang="da-DK" sz="1500" dirty="0">
              <a:solidFill>
                <a:srgbClr val="00B0F0"/>
              </a:solidFill>
            </a:endParaRPr>
          </a:p>
          <a:p>
            <a:endParaRPr lang="da-DK" sz="1500" dirty="0">
              <a:solidFill>
                <a:srgbClr val="00B0F0"/>
              </a:solidFill>
            </a:endParaRPr>
          </a:p>
          <a:p>
            <a:endParaRPr lang="da-DK" sz="1500" dirty="0">
              <a:solidFill>
                <a:srgbClr val="00B0F0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407557" y="1103240"/>
            <a:ext cx="9090889" cy="480067"/>
          </a:xfrm>
        </p:spPr>
        <p:txBody>
          <a:bodyPr/>
          <a:lstStyle/>
          <a:p>
            <a:r>
              <a:rPr lang="da-DK" dirty="0"/>
              <a:t>Aflæsning af modstandstemperaturkoefficienten ved 20 °C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24-08-2026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85A12B4F-8182-490A-49C5-7E58311702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79" y="1981199"/>
            <a:ext cx="7057234" cy="440290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Nedadgående pil 5">
            <a:extLst>
              <a:ext uri="{FF2B5EF4-FFF2-40B4-BE49-F238E27FC236}">
                <a16:creationId xmlns:a16="http://schemas.microsoft.com/office/drawing/2014/main" id="{9ABA9996-F873-6734-3338-A30471456383}"/>
              </a:ext>
            </a:extLst>
          </p:cNvPr>
          <p:cNvSpPr/>
          <p:nvPr/>
        </p:nvSpPr>
        <p:spPr>
          <a:xfrm rot="10800000">
            <a:off x="6895715" y="5969479"/>
            <a:ext cx="326222" cy="4146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20730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5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07557" y="1634360"/>
                <a:ext cx="9031043" cy="4555010"/>
              </a:xfrm>
            </p:spPr>
            <p:txBody>
              <a:bodyPr/>
              <a:lstStyle/>
              <a:p>
                <a:r>
                  <a:rPr lang="da-DK" sz="2100" dirty="0"/>
                  <a:t>Temperaturændringen i modstanden kan beregnes, når modstanden kendes før og efter temperaturstigningen:</a:t>
                </a:r>
              </a:p>
              <a:p>
                <a:endParaRPr lang="da-DK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da-DK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da-DK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da-DK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da-DK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da-DK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da-DK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b>
                          </m:sSub>
                          <m:r>
                            <a:rPr lang="da-DK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a-DK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da-DK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a-DK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da-DK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da-DK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da-DK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</m:den>
                      </m:f>
                    </m:oMath>
                  </m:oMathPara>
                </a14:m>
                <a:endParaRPr lang="da-DK" i="1" dirty="0"/>
              </a:p>
              <a:p>
                <a:endParaRPr lang="da-DK" sz="1800" kern="100" dirty="0">
                  <a:solidFill>
                    <a:srgbClr val="00B05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da-DK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da-DK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da-DK" sz="1800" b="0" kern="100" dirty="0">
                    <a:solidFill>
                      <a:srgbClr val="00B050"/>
                    </a:solidFill>
                    <a:effectLst/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	Temperaturændringen [</a:t>
                </a:r>
                <a:r>
                  <a:rPr lang="da-DK" b="0" dirty="0">
                    <a:solidFill>
                      <a:srgbClr val="00B050"/>
                    </a:solidFill>
                    <a:latin typeface="+mn-lt"/>
                  </a:rPr>
                  <a:t>°C</a:t>
                </a:r>
                <a:r>
                  <a:rPr lang="da-DK" sz="1800" b="0" kern="100" dirty="0">
                    <a:solidFill>
                      <a:srgbClr val="00B050"/>
                    </a:solidFill>
                    <a:effectLst/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]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sz="1800" b="0" i="0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1800" b="0" i="0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a-DK" sz="1800" b="0" i="0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da-DK" b="0" dirty="0">
                    <a:solidFill>
                      <a:srgbClr val="00B050"/>
                    </a:solidFill>
                    <a:latin typeface="+mn-lt"/>
                  </a:rPr>
                  <a:t>	Resistansen ved temperaturen T [</a:t>
                </a:r>
                <a:r>
                  <a:rPr lang="el-GR" b="0" dirty="0">
                    <a:solidFill>
                      <a:srgbClr val="00B050"/>
                    </a:solidFill>
                    <a:latin typeface="+mn-lt"/>
                  </a:rPr>
                  <a:t>Ω</a:t>
                </a:r>
                <a:r>
                  <a:rPr lang="da-DK" b="0" dirty="0">
                    <a:solidFill>
                      <a:srgbClr val="00B050"/>
                    </a:solidFill>
                    <a:latin typeface="+mn-lt"/>
                  </a:rPr>
                  <a:t>]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sz="1800" b="0" i="0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1800" b="0" i="0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a-DK" sz="1800" b="0" i="0" kern="100" smtClean="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da-DK" b="0" dirty="0">
                    <a:solidFill>
                      <a:srgbClr val="00B050"/>
                    </a:solidFill>
                    <a:latin typeface="+mn-lt"/>
                  </a:rPr>
                  <a:t>	Resistansen ved 20 °C [</a:t>
                </a:r>
                <a:r>
                  <a:rPr lang="el-GR" b="0" dirty="0">
                    <a:solidFill>
                      <a:srgbClr val="00B050"/>
                    </a:solidFill>
                    <a:latin typeface="+mn-lt"/>
                  </a:rPr>
                  <a:t>Ω</a:t>
                </a:r>
                <a:r>
                  <a:rPr lang="da-DK" b="0" dirty="0">
                    <a:solidFill>
                      <a:srgbClr val="00B050"/>
                    </a:solidFill>
                    <a:latin typeface="+mn-lt"/>
                  </a:rPr>
                  <a:t>]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 sz="1800" b="0" i="0" kern="100" smtClean="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α</m:t>
                    </m:r>
                  </m:oMath>
                </a14:m>
                <a:r>
                  <a:rPr lang="da-DK" b="0" dirty="0">
                    <a:solidFill>
                      <a:srgbClr val="00B050"/>
                    </a:solidFill>
                    <a:latin typeface="+mn-lt"/>
                  </a:rPr>
                  <a:t>	Modstandstemperaturkoefficienten 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b="0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b="0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°</m:t>
                        </m:r>
                        <m:r>
                          <m:rPr>
                            <m:sty m:val="p"/>
                          </m:rPr>
                          <a:rPr lang="da-DK" b="0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da-DK" b="0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da-DK" b="0" dirty="0">
                    <a:solidFill>
                      <a:srgbClr val="00B050"/>
                    </a:solidFill>
                    <a:latin typeface="+mn-lt"/>
                  </a:rPr>
                  <a:t>]</a:t>
                </a:r>
              </a:p>
              <a:p>
                <a:r>
                  <a:rPr lang="da-DK" b="0" dirty="0">
                    <a:solidFill>
                      <a:srgbClr val="00B050"/>
                    </a:solidFill>
                    <a:latin typeface="+mn-lt"/>
                  </a:rPr>
                  <a:t>T	Den aktuelle temperatur</a:t>
                </a:r>
                <a:br>
                  <a:rPr lang="da-DK" b="0" dirty="0">
                    <a:solidFill>
                      <a:srgbClr val="00B050"/>
                    </a:solidFill>
                    <a:latin typeface="+mn-lt"/>
                  </a:rPr>
                </a:br>
                <a:r>
                  <a:rPr lang="da-DK" b="0" dirty="0">
                    <a:solidFill>
                      <a:srgbClr val="00B050"/>
                    </a:solidFill>
                  </a:rPr>
                  <a:t>t	Den temperaturen, hvor modstanden er kendt</a:t>
                </a:r>
                <a:endParaRPr lang="da-DK" b="0" dirty="0">
                  <a:solidFill>
                    <a:srgbClr val="00B050"/>
                  </a:solidFill>
                  <a:latin typeface="+mn-lt"/>
                </a:endParaRPr>
              </a:p>
              <a:p>
                <a:endParaRPr lang="da-DK" dirty="0"/>
              </a:p>
              <a:p>
                <a:r>
                  <a:rPr lang="da-DK" dirty="0"/>
                  <a:t>Ved 20 °C er </a:t>
                </a:r>
                <a14:m>
                  <m:oMath xmlns:m="http://schemas.openxmlformats.org/officeDocument/2006/math">
                    <m:r>
                      <a:rPr lang="da-DK" sz="1800" b="1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𝜶</m:t>
                    </m:r>
                  </m:oMath>
                </a14:m>
                <a:r>
                  <a:rPr lang="da-DK" dirty="0"/>
                  <a:t> = 0,004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b="1" i="1">
                            <a:latin typeface="Cambria Math" panose="02040503050406030204" pitchFamily="18" charset="0"/>
                          </a:rPr>
                          <m:t>°</m:t>
                        </m:r>
                        <m:r>
                          <a:rPr lang="da-DK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p>
                        <m:r>
                          <a:rPr lang="da-DK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a-DK" b="1" i="1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da-DK" dirty="0"/>
                  <a:t> for kobber og 0,0037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°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p>
                        <m:r>
                          <a:rPr lang="da-DK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da-DK" dirty="0"/>
                  <a:t> for aluminium. </a:t>
                </a: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07557" y="1634360"/>
                <a:ext cx="9031043" cy="4555010"/>
              </a:xfrm>
              <a:blipFill>
                <a:blip r:embed="rId2"/>
                <a:stretch>
                  <a:fillRect l="-675" t="-669" b="-200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407557" y="1103240"/>
            <a:ext cx="9090889" cy="480067"/>
          </a:xfrm>
        </p:spPr>
        <p:txBody>
          <a:bodyPr/>
          <a:lstStyle/>
          <a:p>
            <a:r>
              <a:rPr lang="da-DK" dirty="0"/>
              <a:t>Temperaturændring i modstanden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24-08-2026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</p:spTree>
    <p:extLst>
      <p:ext uri="{BB962C8B-B14F-4D97-AF65-F5344CB8AC3E}">
        <p14:creationId xmlns:p14="http://schemas.microsoft.com/office/powerpoint/2010/main" val="4058301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6</a:t>
            </a:fld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quarter" idx="13"/>
          </p:nvPr>
        </p:nvSpPr>
        <p:spPr>
          <a:xfrm>
            <a:off x="493987" y="1557031"/>
            <a:ext cx="8686800" cy="4631031"/>
          </a:xfrm>
        </p:spPr>
        <p:txBody>
          <a:bodyPr/>
          <a:lstStyle/>
          <a:p>
            <a:endParaRPr lang="da-DK" sz="1500" dirty="0">
              <a:solidFill>
                <a:schemeClr val="tx1"/>
              </a:solidFill>
            </a:endParaRPr>
          </a:p>
          <a:p>
            <a:r>
              <a:rPr lang="da-DK" dirty="0">
                <a:solidFill>
                  <a:srgbClr val="00B050"/>
                </a:solidFill>
              </a:rPr>
              <a:t>Pt100 føler (RTD) – Platinum resistor</a:t>
            </a:r>
          </a:p>
          <a:p>
            <a:r>
              <a:rPr lang="da-DK" dirty="0">
                <a:solidFill>
                  <a:srgbClr val="00B050"/>
                </a:solidFill>
              </a:rPr>
              <a:t>Pt100 føleren er robust og nøjagtig.</a:t>
            </a:r>
          </a:p>
          <a:p>
            <a:r>
              <a:rPr lang="da-DK" dirty="0">
                <a:solidFill>
                  <a:srgbClr val="0070C0"/>
                </a:solidFill>
              </a:rPr>
              <a:t>Princip: Føleren består af en spole af metal, hvis modstand har en veldefineret temperaturafhængighed.</a:t>
            </a:r>
          </a:p>
          <a:p>
            <a:r>
              <a:rPr lang="da-DK" dirty="0">
                <a:solidFill>
                  <a:srgbClr val="0070C0"/>
                </a:solidFill>
              </a:rPr>
              <a:t>100 Ohms modstand ved 0 °C – heraf navnet.</a:t>
            </a:r>
          </a:p>
          <a:p>
            <a:endParaRPr lang="da-DK" sz="1500" dirty="0">
              <a:solidFill>
                <a:srgbClr val="00B050"/>
              </a:solidFill>
            </a:endParaRPr>
          </a:p>
          <a:p>
            <a:r>
              <a:rPr lang="da-DK" sz="1500" dirty="0">
                <a:solidFill>
                  <a:srgbClr val="00B050"/>
                </a:solidFill>
              </a:rPr>
              <a:t>Lineær karakteristik:</a:t>
            </a:r>
          </a:p>
          <a:p>
            <a:endParaRPr lang="da-DK" sz="1500" dirty="0">
              <a:solidFill>
                <a:schemeClr val="tx1"/>
              </a:solidFill>
            </a:endParaRPr>
          </a:p>
          <a:p>
            <a:endParaRPr lang="da-DK" sz="1500" dirty="0">
              <a:solidFill>
                <a:schemeClr val="tx1"/>
              </a:solidFill>
            </a:endParaRPr>
          </a:p>
          <a:p>
            <a:endParaRPr lang="da-DK" sz="1500" dirty="0">
              <a:solidFill>
                <a:schemeClr val="tx1"/>
              </a:solidFill>
            </a:endParaRPr>
          </a:p>
          <a:p>
            <a:endParaRPr lang="da-DK" sz="1500" dirty="0">
              <a:solidFill>
                <a:schemeClr val="tx1"/>
              </a:solidFill>
            </a:endParaRPr>
          </a:p>
          <a:p>
            <a:endParaRPr lang="da-DK" sz="1500" dirty="0">
              <a:solidFill>
                <a:schemeClr val="tx1"/>
              </a:solidFill>
            </a:endParaRPr>
          </a:p>
          <a:p>
            <a:endParaRPr lang="da-DK" sz="1500" dirty="0">
              <a:solidFill>
                <a:schemeClr val="tx1"/>
              </a:solidFill>
            </a:endParaRPr>
          </a:p>
          <a:p>
            <a:endParaRPr lang="da-DK" sz="1500" dirty="0">
              <a:solidFill>
                <a:schemeClr val="tx1"/>
              </a:solidFill>
            </a:endParaRPr>
          </a:p>
          <a:p>
            <a:endParaRPr lang="da-DK" sz="1500" dirty="0">
              <a:solidFill>
                <a:schemeClr val="tx1"/>
              </a:solidFill>
            </a:endParaRPr>
          </a:p>
          <a:p>
            <a:endParaRPr lang="da-DK" sz="1500" dirty="0">
              <a:solidFill>
                <a:schemeClr val="tx1"/>
              </a:solidFill>
            </a:endParaRPr>
          </a:p>
          <a:p>
            <a:endParaRPr lang="da-DK" sz="1500" dirty="0">
              <a:solidFill>
                <a:schemeClr val="tx1"/>
              </a:solidFill>
            </a:endParaRPr>
          </a:p>
          <a:p>
            <a:endParaRPr lang="da-DK" sz="1500" dirty="0">
              <a:solidFill>
                <a:schemeClr val="tx1"/>
              </a:solidFill>
            </a:endParaRPr>
          </a:p>
          <a:p>
            <a:endParaRPr lang="da-DK" sz="1500" dirty="0">
              <a:solidFill>
                <a:schemeClr val="tx1"/>
              </a:solidFill>
            </a:endParaRPr>
          </a:p>
          <a:p>
            <a:endParaRPr lang="da-DK" sz="1500" dirty="0">
              <a:solidFill>
                <a:schemeClr val="tx1"/>
              </a:solidFill>
            </a:endParaRPr>
          </a:p>
          <a:p>
            <a:endParaRPr lang="da-DK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407557" y="1076964"/>
            <a:ext cx="9090889" cy="480067"/>
          </a:xfrm>
        </p:spPr>
        <p:txBody>
          <a:bodyPr/>
          <a:lstStyle/>
          <a:p>
            <a:r>
              <a:rPr lang="da-DK" dirty="0"/>
              <a:t>Anvendelse, Pt100 følere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24-08-2026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pic>
        <p:nvPicPr>
          <p:cNvPr id="12" name="Billede 11">
            <a:extLst>
              <a:ext uri="{FF2B5EF4-FFF2-40B4-BE49-F238E27FC236}">
                <a16:creationId xmlns:a16="http://schemas.microsoft.com/office/drawing/2014/main" id="{8450DA35-6C0F-0C73-03D2-86498F9E1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707" y="3671113"/>
            <a:ext cx="3323455" cy="2479026"/>
          </a:xfrm>
          <a:prstGeom prst="rect">
            <a:avLst/>
          </a:prstGeom>
        </p:spPr>
      </p:pic>
      <p:pic>
        <p:nvPicPr>
          <p:cNvPr id="13" name="Billede 12">
            <a:extLst>
              <a:ext uri="{FF2B5EF4-FFF2-40B4-BE49-F238E27FC236}">
                <a16:creationId xmlns:a16="http://schemas.microsoft.com/office/drawing/2014/main" id="{A41EAED1-604A-2699-0C67-DC761A9A1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22" y="4066858"/>
            <a:ext cx="3700217" cy="236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376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7</a:t>
            </a:fld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quarter" idx="13"/>
          </p:nvPr>
        </p:nvSpPr>
        <p:spPr>
          <a:xfrm>
            <a:off x="407557" y="1634360"/>
            <a:ext cx="9031043" cy="4555010"/>
          </a:xfrm>
        </p:spPr>
        <p:txBody>
          <a:bodyPr/>
          <a:lstStyle/>
          <a:p>
            <a:r>
              <a:rPr lang="da-DK" kern="100" dirty="0">
                <a:ea typeface="Calibri" panose="020F0502020204030204" pitchFamily="34" charset="0"/>
              </a:rPr>
              <a:t>PTC og NTC er komponenter, som anvendes til termisk beskyttelse af elektriske komponenter. </a:t>
            </a:r>
            <a:endParaRPr lang="da-DK" kern="100" dirty="0">
              <a:effectLst/>
              <a:ea typeface="Calibri" panose="020F0502020204030204" pitchFamily="34" charset="0"/>
            </a:endParaRPr>
          </a:p>
          <a:p>
            <a:endParaRPr lang="da-DK" sz="1800" i="1" kern="1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da-DK" dirty="0">
                <a:solidFill>
                  <a:srgbClr val="00B0F0"/>
                </a:solidFill>
              </a:rPr>
              <a:t>Disse er billigere end Pt100 følere og ikke helt så nøjagtige.</a:t>
            </a:r>
          </a:p>
          <a:p>
            <a:r>
              <a:rPr lang="da-DK" dirty="0">
                <a:solidFill>
                  <a:srgbClr val="00B0F0"/>
                </a:solidFill>
              </a:rPr>
              <a:t>NTC Negative Temperatur </a:t>
            </a:r>
            <a:r>
              <a:rPr lang="da-DK" dirty="0" err="1">
                <a:solidFill>
                  <a:srgbClr val="00B0F0"/>
                </a:solidFill>
              </a:rPr>
              <a:t>Coefficient</a:t>
            </a:r>
            <a:r>
              <a:rPr lang="da-DK" dirty="0">
                <a:solidFill>
                  <a:srgbClr val="00B0F0"/>
                </a:solidFill>
              </a:rPr>
              <a:t>.</a:t>
            </a:r>
            <a:br>
              <a:rPr lang="da-DK" dirty="0">
                <a:solidFill>
                  <a:srgbClr val="00B0F0"/>
                </a:solidFill>
              </a:rPr>
            </a:br>
            <a:r>
              <a:rPr lang="da-DK" dirty="0">
                <a:solidFill>
                  <a:srgbClr val="00B0F0"/>
                </a:solidFill>
              </a:rPr>
              <a:t>PTC Positive Temperatur </a:t>
            </a:r>
            <a:r>
              <a:rPr lang="da-DK" dirty="0" err="1">
                <a:solidFill>
                  <a:srgbClr val="00B0F0"/>
                </a:solidFill>
              </a:rPr>
              <a:t>Coefficient</a:t>
            </a:r>
            <a:r>
              <a:rPr lang="da-DK" dirty="0">
                <a:solidFill>
                  <a:srgbClr val="00B0F0"/>
                </a:solidFill>
              </a:rPr>
              <a:t>.</a:t>
            </a:r>
          </a:p>
          <a:p>
            <a:r>
              <a:rPr lang="da-DK" dirty="0" err="1">
                <a:solidFill>
                  <a:srgbClr val="00B050"/>
                </a:solidFill>
              </a:rPr>
              <a:t>Ul</a:t>
            </a:r>
            <a:r>
              <a:rPr lang="da-DK" sz="1800" dirty="0" err="1">
                <a:solidFill>
                  <a:srgbClr val="00B050"/>
                </a:solidFill>
              </a:rPr>
              <a:t>ineær</a:t>
            </a:r>
            <a:r>
              <a:rPr lang="da-DK" sz="1800" dirty="0">
                <a:solidFill>
                  <a:srgbClr val="00B050"/>
                </a:solidFill>
              </a:rPr>
              <a:t> karakteristik:</a:t>
            </a:r>
          </a:p>
          <a:p>
            <a:endParaRPr lang="da-DK" dirty="0">
              <a:solidFill>
                <a:srgbClr val="00B0F0"/>
              </a:solidFill>
            </a:endParaRPr>
          </a:p>
          <a:p>
            <a:endParaRPr lang="da-DK" dirty="0">
              <a:solidFill>
                <a:srgbClr val="00B0F0"/>
              </a:solidFill>
            </a:endParaRPr>
          </a:p>
          <a:p>
            <a:endParaRPr lang="da-DK" u="sng" dirty="0">
              <a:solidFill>
                <a:srgbClr val="00B0F0"/>
              </a:solidFill>
            </a:endParaRPr>
          </a:p>
          <a:p>
            <a:endParaRPr lang="da-DK" u="sng" dirty="0">
              <a:solidFill>
                <a:srgbClr val="00B0F0"/>
              </a:solidFill>
            </a:endParaRPr>
          </a:p>
          <a:p>
            <a:endParaRPr lang="da-DK" sz="1500" dirty="0">
              <a:solidFill>
                <a:srgbClr val="00B0F0"/>
              </a:solidFill>
            </a:endParaRPr>
          </a:p>
          <a:p>
            <a:endParaRPr lang="da-DK" sz="1500" dirty="0">
              <a:solidFill>
                <a:srgbClr val="00B0F0"/>
              </a:solidFill>
            </a:endParaRPr>
          </a:p>
          <a:p>
            <a:endParaRPr lang="da-DK" sz="1500" dirty="0">
              <a:solidFill>
                <a:srgbClr val="00B0F0"/>
              </a:solidFill>
            </a:endParaRPr>
          </a:p>
          <a:p>
            <a:endParaRPr lang="da-DK" sz="1500" dirty="0">
              <a:solidFill>
                <a:srgbClr val="00B0F0"/>
              </a:solidFill>
            </a:endParaRPr>
          </a:p>
          <a:p>
            <a:endParaRPr lang="da-DK" sz="1500" dirty="0">
              <a:solidFill>
                <a:srgbClr val="00B0F0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407557" y="1103240"/>
            <a:ext cx="9090889" cy="480067"/>
          </a:xfrm>
        </p:spPr>
        <p:txBody>
          <a:bodyPr/>
          <a:lstStyle/>
          <a:p>
            <a:r>
              <a:rPr lang="da-DK" dirty="0"/>
              <a:t>Anvendelse, PTC og NTC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24-08-2026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E85FEA3C-3008-305C-8E09-EB51E7480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00" y="3855894"/>
            <a:ext cx="3799205" cy="2456180"/>
          </a:xfrm>
          <a:prstGeom prst="rect">
            <a:avLst/>
          </a:prstGeom>
        </p:spPr>
      </p:pic>
      <p:pic>
        <p:nvPicPr>
          <p:cNvPr id="12" name="Billede 11">
            <a:extLst>
              <a:ext uri="{FF2B5EF4-FFF2-40B4-BE49-F238E27FC236}">
                <a16:creationId xmlns:a16="http://schemas.microsoft.com/office/drawing/2014/main" id="{F86354B3-9AC3-9C51-2F6A-568EABC85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335" y="2941768"/>
            <a:ext cx="3445279" cy="3184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362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EAE4B06D-6068-CA8D-E4CA-B6C2175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8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AC52FA4-B616-63C2-D226-ED9427803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11" y="980638"/>
            <a:ext cx="9090889" cy="480067"/>
          </a:xfrm>
        </p:spPr>
        <p:txBody>
          <a:bodyPr/>
          <a:lstStyle/>
          <a:p>
            <a:r>
              <a:rPr lang="da-DK" dirty="0"/>
              <a:t>Eksempel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ED036D4-8C8D-A527-FF9E-74E2903EE2D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24-08-2026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7B86761D-8394-726E-8682-2B43422239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ladsholder til indhold 8">
                <a:extLst>
                  <a:ext uri="{FF2B5EF4-FFF2-40B4-BE49-F238E27FC236}">
                    <a16:creationId xmlns:a16="http://schemas.microsoft.com/office/drawing/2014/main" id="{852AD0CB-23EC-4362-E29D-03EE583098EE}"/>
                  </a:ext>
                </a:extLst>
              </p:cNvPr>
              <p:cNvSpPr txBox="1">
                <a:spLocks noGrp="1"/>
              </p:cNvSpPr>
              <p:nvPr>
                <p:ph sz="quarter" idx="13"/>
              </p:nvPr>
            </p:nvSpPr>
            <p:spPr>
              <a:xfrm>
                <a:off x="369888" y="2228850"/>
                <a:ext cx="9069387" cy="39608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da-DK" sz="18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Modstanden i en motorvikling af kobber, er 420 </a:t>
                </a:r>
                <a:r>
                  <a:rPr kumimoji="0" lang="el-G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rPr>
                  <a:t>Ω </a:t>
                </a:r>
                <a:r>
                  <a:rPr kumimoji="0" lang="da-DK" sz="18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i kold tilstand, 20 </a:t>
                </a:r>
                <a:r>
                  <a:rPr kumimoji="0" lang="da-DK" sz="18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rPr>
                  <a:t>°C.</a:t>
                </a:r>
              </a:p>
              <a:p>
                <a:r>
                  <a:rPr kumimoji="0" lang="da-DK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Under drift stiger mods</a:t>
                </a:r>
                <a:r>
                  <a:rPr lang="da-DK" dirty="0">
                    <a:solidFill>
                      <a:prstClr val="black"/>
                    </a:solidFill>
                  </a:rPr>
                  <a:t>tanden til 475 </a:t>
                </a:r>
                <a:r>
                  <a:rPr kumimoji="0" lang="el-G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rPr>
                  <a:t>Ω</a:t>
                </a:r>
                <a:r>
                  <a:rPr kumimoji="0" lang="da-DK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rPr>
                  <a:t>.</a:t>
                </a:r>
              </a:p>
              <a:p>
                <a:r>
                  <a:rPr lang="da-DK" dirty="0"/>
                  <a:t>Hvad er t</a:t>
                </a:r>
                <a:r>
                  <a:rPr lang="da-DK" dirty="0">
                    <a:ea typeface="+mn-ea"/>
                    <a:cs typeface="+mn-cs"/>
                  </a:rPr>
                  <a:t>emperaturstigningen i viklingen ?</a:t>
                </a:r>
                <a:endParaRPr lang="da-DK" dirty="0"/>
              </a:p>
              <a:p>
                <a:endParaRPr kumimoji="0" lang="da-DK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</a:endParaRPr>
              </a:p>
              <a:p>
                <a:endParaRPr kumimoji="0" lang="da-DK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0" lang="da-DK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∆</m:t>
                      </m:r>
                      <m:r>
                        <a:rPr kumimoji="0" lang="da-DK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𝑇</m:t>
                      </m:r>
                      <m:r>
                        <a:rPr kumimoji="0" lang="da-DK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da-DK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da-DK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da-DK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da-DK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sub>
                          </m:sSub>
                          <m:r>
                            <a:rPr kumimoji="0" lang="da-DK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da-DK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da-DK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da-DK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da-DK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da-DK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da-DK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  <m:r>
                            <a:rPr kumimoji="0" lang="da-DK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∙</m:t>
                          </m:r>
                          <m:r>
                            <a:rPr kumimoji="0" lang="da-DK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𝛼</m:t>
                          </m:r>
                        </m:den>
                      </m:f>
                      <m:r>
                        <a:rPr kumimoji="0" lang="da-DK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⇒    </m:t>
                      </m:r>
                      <m:r>
                        <a:rPr lang="da-DK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da-DK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da-DK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475−420</m:t>
                          </m:r>
                        </m:num>
                        <m:den>
                          <m:r>
                            <a:rPr lang="da-DK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420∙0,004</m:t>
                          </m:r>
                        </m:den>
                      </m:f>
                      <m:r>
                        <a:rPr lang="da-DK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⇒</m:t>
                      </m:r>
                      <m:r>
                        <a:rPr lang="da-DK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da-DK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da-DK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da-DK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da-DK" i="0" dirty="0"/>
                        <m:t> 32,7 °C</m:t>
                      </m:r>
                    </m:oMath>
                  </m:oMathPara>
                </a14:m>
                <a:endParaRPr lang="da-DK" dirty="0">
                  <a:solidFill>
                    <a:prstClr val="black"/>
                  </a:solidFill>
                </a:endParaRPr>
              </a:p>
              <a:p>
                <a:endParaRPr lang="da-DK" dirty="0">
                  <a:solidFill>
                    <a:prstClr val="black"/>
                  </a:solidFill>
                </a:endParaRPr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9" name="Pladsholder til indhold 8">
                <a:extLst>
                  <a:ext uri="{FF2B5EF4-FFF2-40B4-BE49-F238E27FC236}">
                    <a16:creationId xmlns:a16="http://schemas.microsoft.com/office/drawing/2014/main" id="{852AD0CB-23EC-4362-E29D-03EE583098E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369888" y="2228850"/>
                <a:ext cx="9069387" cy="3960813"/>
              </a:xfrm>
              <a:prstGeom prst="rect">
                <a:avLst/>
              </a:prstGeom>
              <a:blipFill>
                <a:blip r:embed="rId2"/>
                <a:stretch>
                  <a:fillRect l="-403" t="-77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6720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2418C-8861-A249-6B4B-1E62C156B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20E3A78C-E9DE-08C5-D248-0732AEFA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9</a:t>
            </a:fld>
            <a:endParaRPr lang="da-DK" dirty="0"/>
          </a:p>
        </p:txBody>
      </p:sp>
      <p:pic>
        <p:nvPicPr>
          <p:cNvPr id="8" name="Pladsholder til indhold 7">
            <a:extLst>
              <a:ext uri="{FF2B5EF4-FFF2-40B4-BE49-F238E27FC236}">
                <a16:creationId xmlns:a16="http://schemas.microsoft.com/office/drawing/2014/main" id="{2EC1E3B4-FFCE-1D2D-153A-F53F060D85B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27161" y="1624489"/>
            <a:ext cx="4892616" cy="4518496"/>
          </a:xfr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A9E59F59-08FA-C3FD-CDF6-162CB576A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11" y="980638"/>
            <a:ext cx="9090889" cy="480067"/>
          </a:xfrm>
        </p:spPr>
        <p:txBody>
          <a:bodyPr/>
          <a:lstStyle/>
          <a:p>
            <a:r>
              <a:rPr lang="da-DK" dirty="0"/>
              <a:t>Eksempler fra ældre bog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B5D500A0-4D08-902B-9FE8-37407CF4FA1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24-08-2026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20943B32-A7B4-C3FA-9D2B-825705FC08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</p:spTree>
    <p:extLst>
      <p:ext uri="{BB962C8B-B14F-4D97-AF65-F5344CB8AC3E}">
        <p14:creationId xmlns:p14="http://schemas.microsoft.com/office/powerpoint/2010/main" val="3222074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EAE4B06D-6068-CA8D-E4CA-B6C2175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10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AC52FA4-B616-63C2-D226-ED9427803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11" y="980638"/>
            <a:ext cx="9090889" cy="480067"/>
          </a:xfrm>
        </p:spPr>
        <p:txBody>
          <a:bodyPr/>
          <a:lstStyle/>
          <a:p>
            <a:r>
              <a:rPr lang="da-DK" dirty="0"/>
              <a:t>Eksempler fra ældre bog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ED036D4-8C8D-A527-FF9E-74E2903EE2D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24-08-2026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7B86761D-8394-726E-8682-2B43422239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pic>
        <p:nvPicPr>
          <p:cNvPr id="10" name="Pladsholder til indhold 9">
            <a:extLst>
              <a:ext uri="{FF2B5EF4-FFF2-40B4-BE49-F238E27FC236}">
                <a16:creationId xmlns:a16="http://schemas.microsoft.com/office/drawing/2014/main" id="{9BE2C92C-E9B9-C693-069F-39FAEEA5AC4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07084" y="1460705"/>
            <a:ext cx="5450684" cy="4446718"/>
          </a:xfrm>
        </p:spPr>
      </p:pic>
    </p:spTree>
    <p:extLst>
      <p:ext uri="{BB962C8B-B14F-4D97-AF65-F5344CB8AC3E}">
        <p14:creationId xmlns:p14="http://schemas.microsoft.com/office/powerpoint/2010/main" val="468034194"/>
      </p:ext>
    </p:extLst>
  </p:cSld>
  <p:clrMapOvr>
    <a:masterClrMapping/>
  </p:clrMapOvr>
</p:sld>
</file>

<file path=ppt/theme/theme1.xml><?xml version="1.0" encoding="utf-8"?>
<a:theme xmlns:a="http://schemas.openxmlformats.org/drawingml/2006/main" name="MARTEC">
  <a:themeElements>
    <a:clrScheme name="Shrpa farver">
      <a:dk1>
        <a:sysClr val="windowText" lastClr="000000"/>
      </a:dk1>
      <a:lt1>
        <a:sysClr val="window" lastClr="FFFFFF"/>
      </a:lt1>
      <a:dk2>
        <a:srgbClr val="0080DB"/>
      </a:dk2>
      <a:lt2>
        <a:srgbClr val="FFFFFF"/>
      </a:lt2>
      <a:accent1>
        <a:srgbClr val="BDCCD4"/>
      </a:accent1>
      <a:accent2>
        <a:srgbClr val="756A86"/>
      </a:accent2>
      <a:accent3>
        <a:srgbClr val="CCCCCC"/>
      </a:accent3>
      <a:accent4>
        <a:srgbClr val="727A8F"/>
      </a:accent4>
      <a:accent5>
        <a:srgbClr val="84C5CB"/>
      </a:accent5>
      <a:accent6>
        <a:srgbClr val="C8DFD8"/>
      </a:accent6>
      <a:hlink>
        <a:srgbClr val="0080DB"/>
      </a:hlink>
      <a:folHlink>
        <a:srgbClr val="808080"/>
      </a:folHlink>
    </a:clrScheme>
    <a:fontScheme name="Shrp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rtec - powerpoint skabelon_v4.potx" id="{7FFBE45C-995A-4409-9C30-AEA82B7B07D3}" vid="{4AC428D2-6199-44D7-8EC8-CD674AB0AFC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2776432-5f6f-4461-a773-af4277ea9cc4">
      <Terms xmlns="http://schemas.microsoft.com/office/infopath/2007/PartnerControls"/>
    </lcf76f155ced4ddcb4097134ff3c332f>
    <TaxCatchAll xmlns="b112c056-f141-4248-a46f-e5f0219ad1a7" xsi:nil="true"/>
    <Owner xmlns="52776432-5f6f-4461-a773-af4277ea9cc4">
      <UserInfo>
        <DisplayName/>
        <AccountId xsi:nil="true"/>
        <AccountType/>
      </UserInfo>
    </Owner>
    <Students xmlns="52776432-5f6f-4461-a773-af4277ea9cc4">
      <UserInfo>
        <DisplayName/>
        <AccountId xsi:nil="true"/>
        <AccountType/>
      </UserInfo>
    </Students>
    <Student_Groups xmlns="52776432-5f6f-4461-a773-af4277ea9cc4">
      <UserInfo>
        <DisplayName/>
        <AccountId xsi:nil="true"/>
        <AccountType/>
      </UserInfo>
    </Student_Groups>
    <LMS_Mappings xmlns="52776432-5f6f-4461-a773-af4277ea9cc4" xsi:nil="true"/>
    <Has_Teacher_Only_SectionGroup xmlns="52776432-5f6f-4461-a773-af4277ea9cc4" xsi:nil="true"/>
    <CultureName xmlns="52776432-5f6f-4461-a773-af4277ea9cc4" xsi:nil="true"/>
    <AppVersion xmlns="52776432-5f6f-4461-a773-af4277ea9cc4" xsi:nil="true"/>
    <Invited_Teachers xmlns="52776432-5f6f-4461-a773-af4277ea9cc4" xsi:nil="true"/>
    <Invited_Students xmlns="52776432-5f6f-4461-a773-af4277ea9cc4" xsi:nil="true"/>
    <DefaultSectionNames xmlns="52776432-5f6f-4461-a773-af4277ea9cc4" xsi:nil="true"/>
    <Math_Settings xmlns="52776432-5f6f-4461-a773-af4277ea9cc4" xsi:nil="true"/>
    <Templates xmlns="52776432-5f6f-4461-a773-af4277ea9cc4" xsi:nil="true"/>
    <Self_Registration_Enabled xmlns="52776432-5f6f-4461-a773-af4277ea9cc4" xsi:nil="true"/>
    <Teachers xmlns="52776432-5f6f-4461-a773-af4277ea9cc4">
      <UserInfo>
        <DisplayName/>
        <AccountId xsi:nil="true"/>
        <AccountType/>
      </UserInfo>
    </Teachers>
    <Is_Collaboration_Space_Locked xmlns="52776432-5f6f-4461-a773-af4277ea9cc4" xsi:nil="true"/>
    <Teams_Channel_Section_Location xmlns="52776432-5f6f-4461-a773-af4277ea9cc4" xsi:nil="true"/>
    <Distribution_Groups xmlns="52776432-5f6f-4461-a773-af4277ea9cc4" xsi:nil="true"/>
    <NotebookType xmlns="52776432-5f6f-4461-a773-af4277ea9cc4" xsi:nil="true"/>
    <FolderType xmlns="52776432-5f6f-4461-a773-af4277ea9cc4" xsi:nil="true"/>
    <TeamsChannelId xmlns="52776432-5f6f-4461-a773-af4277ea9cc4" xsi:nil="true"/>
    <IsNotebookLocked xmlns="52776432-5f6f-4461-a773-af4277ea9cc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A5C8CDECDFE604A9828CFDC608EFB56" ma:contentTypeVersion="35" ma:contentTypeDescription="Opret et nyt dokument." ma:contentTypeScope="" ma:versionID="f8973732321d220ec44c1e26f28d774a">
  <xsd:schema xmlns:xsd="http://www.w3.org/2001/XMLSchema" xmlns:xs="http://www.w3.org/2001/XMLSchema" xmlns:p="http://schemas.microsoft.com/office/2006/metadata/properties" xmlns:ns2="52776432-5f6f-4461-a773-af4277ea9cc4" xmlns:ns3="b112c056-f141-4248-a46f-e5f0219ad1a7" targetNamespace="http://schemas.microsoft.com/office/2006/metadata/properties" ma:root="true" ma:fieldsID="f2b0f69eda9c5210bf281163aa08d5e7" ns2:_="" ns3:_="">
    <xsd:import namespace="52776432-5f6f-4461-a773-af4277ea9cc4"/>
    <xsd:import namespace="b112c056-f141-4248-a46f-e5f0219ad1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776432-5f6f-4461-a773-af4277ea9c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Billedmærker" ma:readOnly="false" ma:fieldId="{5cf76f15-5ced-4ddc-b409-7134ff3c332f}" ma:taxonomyMulti="true" ma:sspId="6bcb8b38-6e7a-4c58-8596-3803d9a7ba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NotebookType" ma:index="22" nillable="true" ma:displayName="Notebook Type" ma:internalName="NotebookType">
      <xsd:simpleType>
        <xsd:restriction base="dms:Text"/>
      </xsd:simpleType>
    </xsd:element>
    <xsd:element name="FolderType" ma:index="23" nillable="true" ma:displayName="Folder Type" ma:internalName="FolderType">
      <xsd:simpleType>
        <xsd:restriction base="dms:Text"/>
      </xsd:simpleType>
    </xsd:element>
    <xsd:element name="CultureName" ma:index="24" nillable="true" ma:displayName="Culture Name" ma:internalName="CultureName">
      <xsd:simpleType>
        <xsd:restriction base="dms:Text"/>
      </xsd:simpleType>
    </xsd:element>
    <xsd:element name="AppVersion" ma:index="25" nillable="true" ma:displayName="App Version" ma:internalName="AppVersion">
      <xsd:simpleType>
        <xsd:restriction base="dms:Text"/>
      </xsd:simpleType>
    </xsd:element>
    <xsd:element name="TeamsChannelId" ma:index="26" nillable="true" ma:displayName="Teams Channel Id" ma:internalName="TeamsChannelId">
      <xsd:simpleType>
        <xsd:restriction base="dms:Text"/>
      </xsd:simpleType>
    </xsd:element>
    <xsd:element name="Owner" ma:index="27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8" nillable="true" ma:displayName="Math Settings" ma:internalName="Math_Settings">
      <xsd:simpleType>
        <xsd:restriction base="dms:Text"/>
      </xsd:simpleType>
    </xsd:element>
    <xsd:element name="DefaultSectionNames" ma:index="29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30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31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32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3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4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5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6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7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8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9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40" nillable="true" ma:displayName="Is Collaboration Space Locked" ma:internalName="Is_Collaboration_Space_Locked">
      <xsd:simpleType>
        <xsd:restriction base="dms:Boolean"/>
      </xsd:simpleType>
    </xsd:element>
    <xsd:element name="IsNotebookLocked" ma:index="41" nillable="true" ma:displayName="Is Notebook Locked" ma:internalName="IsNotebookLocked">
      <xsd:simpleType>
        <xsd:restriction base="dms:Boolean"/>
      </xsd:simpleType>
    </xsd:element>
    <xsd:element name="Teams_Channel_Section_Location" ma:index="42" nillable="true" ma:displayName="Teams Channel Section Location" ma:internalName="Teams_Channel_Section_Loca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12c056-f141-4248-a46f-e5f0219ad1a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5b219d03-91f1-46b5-9cdc-4a273eee06fd}" ma:internalName="TaxCatchAll" ma:showField="CatchAllData" ma:web="b112c056-f141-4248-a46f-e5f0219ad1a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F45A9C-48BA-4EE7-B9B2-1FF30B551B5B}">
  <ds:schemaRefs>
    <ds:schemaRef ds:uri="http://schemas.microsoft.com/office/2006/metadata/properties"/>
    <ds:schemaRef ds:uri="http://schemas.microsoft.com/office/infopath/2007/PartnerControls"/>
    <ds:schemaRef ds:uri="52776432-5f6f-4461-a773-af4277ea9cc4"/>
    <ds:schemaRef ds:uri="b112c056-f141-4248-a46f-e5f0219ad1a7"/>
  </ds:schemaRefs>
</ds:datastoreItem>
</file>

<file path=customXml/itemProps2.xml><?xml version="1.0" encoding="utf-8"?>
<ds:datastoreItem xmlns:ds="http://schemas.openxmlformats.org/officeDocument/2006/customXml" ds:itemID="{B6F01935-D3A2-485E-BA3D-655D8514CF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776432-5f6f-4461-a773-af4277ea9cc4"/>
    <ds:schemaRef ds:uri="b112c056-f141-4248-a46f-e5f0219ad1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7219D09-AE1F-4321-B850-D1B889EFB8A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Præsentation</Template>
  <TotalTime>4953</TotalTime>
  <Words>457</Words>
  <Application>Microsoft Office PowerPoint</Application>
  <PresentationFormat>A4-papir (210 x 297 mm)</PresentationFormat>
  <Paragraphs>110</Paragraphs>
  <Slides>10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10</vt:i4>
      </vt:variant>
    </vt:vector>
  </HeadingPairs>
  <TitlesOfParts>
    <vt:vector size="14" baseType="lpstr">
      <vt:lpstr>Calibri</vt:lpstr>
      <vt:lpstr>Arial</vt:lpstr>
      <vt:lpstr>Cambria Math</vt:lpstr>
      <vt:lpstr>MARTEC</vt:lpstr>
      <vt:lpstr>Resistansers temperaturafhængighed</vt:lpstr>
      <vt:lpstr>Opgaver</vt:lpstr>
      <vt:lpstr>Resistansers temperaturafhængighed</vt:lpstr>
      <vt:lpstr>Aflæsning af modstandstemperaturkoefficienten ved 20 °C</vt:lpstr>
      <vt:lpstr>Temperaturændring i modstanden</vt:lpstr>
      <vt:lpstr>Anvendelse, Pt100 følere</vt:lpstr>
      <vt:lpstr>Anvendelse, PTC og NTC</vt:lpstr>
      <vt:lpstr>Eksempel</vt:lpstr>
      <vt:lpstr>Eksempler fra ældre bog</vt:lpstr>
      <vt:lpstr>Eksempler fra ældre bog</vt:lpstr>
    </vt:vector>
  </TitlesOfParts>
  <Company>MARTEC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Simon Tran Agerholm</dc:creator>
  <cp:lastModifiedBy>Simon Tran Agerholm</cp:lastModifiedBy>
  <cp:revision>127</cp:revision>
  <dcterms:created xsi:type="dcterms:W3CDTF">2020-04-01T11:50:27Z</dcterms:created>
  <dcterms:modified xsi:type="dcterms:W3CDTF">2026-08-24T11:54:15Z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0x0101004A5C8CDECDFE604A9828CFDC608EFB56</vt:lpwstr>
  </property>
</Properties>
</file>