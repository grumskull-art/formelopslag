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sldIdLst>
    <p:sldId id="257" r:id="rId5"/>
    <p:sldId id="275" r:id="rId6"/>
    <p:sldId id="273" r:id="rId7"/>
    <p:sldId id="276" r:id="rId8"/>
    <p:sldId id="258" r:id="rId9"/>
    <p:sldId id="267" r:id="rId10"/>
    <p:sldId id="274" r:id="rId11"/>
    <p:sldId id="271" r:id="rId12"/>
    <p:sldId id="266" r:id="rId13"/>
    <p:sldId id="269" r:id="rId14"/>
    <p:sldId id="272" r:id="rId15"/>
  </p:sldIdLst>
  <p:sldSz cx="9906000" cy="6858000" type="A4"/>
  <p:notesSz cx="9874250" cy="6724650"/>
  <p:embeddedFontLst>
    <p:embeddedFont>
      <p:font typeface="Amasis MT Pro Black" panose="02040A04050005020304" pitchFamily="18" charset="0"/>
      <p:bold r:id="rId16"/>
      <p:boldItalic r:id="rId17"/>
    </p:embeddedFont>
    <p:embeddedFont>
      <p:font typeface="Cambria Math" panose="02040503050406030204" pitchFamily="18" charset="0"/>
      <p:regular r:id="rId18"/>
    </p:embeddedFont>
    <p:embeddedFont>
      <p:font typeface="Segoe UI Symbol" panose="020B0502040204020203" pitchFamily="34" charset="0"/>
      <p:regular r:id="rId19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662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undo redo custSel addSld modSld sldOrd">
      <pc:chgData name="Simon Tran Agerholm" userId="dd55e2d3-906e-4a4a-90ea-dda6205f875e" providerId="ADAL" clId="{5EFFF862-C165-4C4A-8B20-E280CAF10480}" dt="2026-08-13T06:21:44.048" v="366" actId="20577"/>
      <pc:docMkLst>
        <pc:docMk/>
      </pc:docMkLst>
      <pc:sldChg chg="modSp mod">
        <pc:chgData name="Simon Tran Agerholm" userId="dd55e2d3-906e-4a4a-90ea-dda6205f875e" providerId="ADAL" clId="{5EFFF862-C165-4C4A-8B20-E280CAF10480}" dt="2026-08-13T06:21:44.048" v="366" actId="20577"/>
        <pc:sldMkLst>
          <pc:docMk/>
          <pc:sldMk cId="85598206" sldId="257"/>
        </pc:sldMkLst>
        <pc:spChg chg="mod">
          <ac:chgData name="Simon Tran Agerholm" userId="dd55e2d3-906e-4a4a-90ea-dda6205f875e" providerId="ADAL" clId="{5EFFF862-C165-4C4A-8B20-E280CAF10480}" dt="2026-08-13T06:21:44.048" v="366" actId="20577"/>
          <ac:spMkLst>
            <pc:docMk/>
            <pc:sldMk cId="85598206" sldId="257"/>
            <ac:spMk id="14" creationId="{0FC8537A-EE90-25AB-853A-FA0733352C8C}"/>
          </ac:spMkLst>
        </pc:spChg>
      </pc:sldChg>
      <pc:sldChg chg="addSp delSp modSp add mod ord modClrScheme modAnim chgLayout">
        <pc:chgData name="Simon Tran Agerholm" userId="dd55e2d3-906e-4a4a-90ea-dda6205f875e" providerId="ADAL" clId="{5EFFF862-C165-4C4A-8B20-E280CAF10480}" dt="2026-08-03T11:03:56.022" v="354" actId="20577"/>
        <pc:sldMkLst>
          <pc:docMk/>
          <pc:sldMk cId="628322057" sldId="276"/>
        </pc:sldMkLst>
        <pc:spChg chg="mod">
          <ac:chgData name="Simon Tran Agerholm" userId="dd55e2d3-906e-4a4a-90ea-dda6205f875e" providerId="ADAL" clId="{5EFFF862-C165-4C4A-8B20-E280CAF10480}" dt="2026-08-03T11:01:28.946" v="194" actId="26606"/>
          <ac:spMkLst>
            <pc:docMk/>
            <pc:sldMk cId="628322057" sldId="276"/>
            <ac:spMk id="2" creationId="{2C555A79-248C-72FC-404F-D92CE23AEFF3}"/>
          </ac:spMkLst>
        </pc:spChg>
        <pc:spChg chg="mod">
          <ac:chgData name="Simon Tran Agerholm" userId="dd55e2d3-906e-4a4a-90ea-dda6205f875e" providerId="ADAL" clId="{5EFFF862-C165-4C4A-8B20-E280CAF10480}" dt="2026-08-03T11:03:56.022" v="354" actId="20577"/>
          <ac:spMkLst>
            <pc:docMk/>
            <pc:sldMk cId="628322057" sldId="276"/>
            <ac:spMk id="3" creationId="{97ECDEC6-BF8A-D1B8-590E-458B1F9174AD}"/>
          </ac:spMkLst>
        </pc:spChg>
        <pc:spChg chg="mod">
          <ac:chgData name="Simon Tran Agerholm" userId="dd55e2d3-906e-4a4a-90ea-dda6205f875e" providerId="ADAL" clId="{5EFFF862-C165-4C4A-8B20-E280CAF10480}" dt="2026-08-03T11:02:09.358" v="220" actId="20577"/>
          <ac:spMkLst>
            <pc:docMk/>
            <pc:sldMk cId="628322057" sldId="276"/>
            <ac:spMk id="4" creationId="{634413DD-70CD-35EA-F32F-95537B578957}"/>
          </ac:spMkLst>
        </pc:spChg>
        <pc:spChg chg="mod">
          <ac:chgData name="Simon Tran Agerholm" userId="dd55e2d3-906e-4a4a-90ea-dda6205f875e" providerId="ADAL" clId="{5EFFF862-C165-4C4A-8B20-E280CAF10480}" dt="2026-08-03T11:01:28.946" v="194" actId="26606"/>
          <ac:spMkLst>
            <pc:docMk/>
            <pc:sldMk cId="628322057" sldId="276"/>
            <ac:spMk id="5" creationId="{10A422C2-427D-5BC7-BCC1-4A7003B9010C}"/>
          </ac:spMkLst>
        </pc:spChg>
        <pc:spChg chg="mod">
          <ac:chgData name="Simon Tran Agerholm" userId="dd55e2d3-906e-4a4a-90ea-dda6205f875e" providerId="ADAL" clId="{5EFFF862-C165-4C4A-8B20-E280CAF10480}" dt="2026-08-03T11:01:28.946" v="194" actId="26606"/>
          <ac:spMkLst>
            <pc:docMk/>
            <pc:sldMk cId="628322057" sldId="276"/>
            <ac:spMk id="6" creationId="{C9314643-4A49-944A-93A9-7B90D7A86333}"/>
          </ac:spMkLst>
        </pc:spChg>
        <pc:picChg chg="add mod">
          <ac:chgData name="Simon Tran Agerholm" userId="dd55e2d3-906e-4a4a-90ea-dda6205f875e" providerId="ADAL" clId="{5EFFF862-C165-4C4A-8B20-E280CAF10480}" dt="2026-08-03T11:01:38.008" v="197" actId="1076"/>
          <ac:picMkLst>
            <pc:docMk/>
            <pc:sldMk cId="628322057" sldId="276"/>
            <ac:picMk id="9" creationId="{589FF399-7776-EDBF-8177-925A5E5986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67710" y="1451928"/>
            <a:ext cx="8970890" cy="4737441"/>
          </a:xfrm>
        </p:spPr>
        <p:txBody>
          <a:bodyPr/>
          <a:lstStyle/>
          <a:p>
            <a:endParaRPr lang="da-DK" sz="2100" dirty="0"/>
          </a:p>
          <a:p>
            <a:endParaRPr lang="da-DK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8445645-8C01-3306-4402-B5E4D796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01" y="1104933"/>
            <a:ext cx="9090889" cy="480067"/>
          </a:xfrm>
        </p:spPr>
        <p:txBody>
          <a:bodyPr/>
          <a:lstStyle/>
          <a:p>
            <a:r>
              <a:rPr lang="da-DK" sz="3600" dirty="0"/>
              <a:t>Definition af elektriske begreber</a:t>
            </a:r>
          </a:p>
        </p:txBody>
      </p:sp>
      <p:sp>
        <p:nvSpPr>
          <p:cNvPr id="14" name="Pladsholder til tekst 2">
            <a:extLst>
              <a:ext uri="{FF2B5EF4-FFF2-40B4-BE49-F238E27FC236}">
                <a16:creationId xmlns:a16="http://schemas.microsoft.com/office/drawing/2014/main" id="{0FC8537A-EE90-25AB-853A-FA0733352C8C}"/>
              </a:ext>
            </a:extLst>
          </p:cNvPr>
          <p:cNvSpPr txBox="1">
            <a:spLocks/>
          </p:cNvSpPr>
          <p:nvPr/>
        </p:nvSpPr>
        <p:spPr>
          <a:xfrm>
            <a:off x="409293" y="5738519"/>
            <a:ext cx="5670550" cy="450850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defPPr>
              <a:defRPr lang="da-DK"/>
            </a:defPPr>
            <a:lvl1pPr marL="0" algn="l" defTabSz="1072866" rtl="0" eaLnBrk="1" latinLnBrk="0" hangingPunct="1">
              <a:defRPr sz="1000" b="1" kern="120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36433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/>
              <a:t>Simon Tran </a:t>
            </a:r>
            <a:r>
              <a:rPr lang="da-DK" sz="1800"/>
              <a:t>Agerholm efterår 2026</a:t>
            </a:r>
            <a:endParaRPr lang="da-DK" sz="180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00381DD7-307D-1ACB-1535-6932DBC1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382" y="1726946"/>
            <a:ext cx="5071533" cy="367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474E5F4E-7C04-A4BE-E535-74B91007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90FE9A-A2A5-DBF5-BB59-EDAC3CEDFC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1.1 + 1.2 + 1.3 + 1.4 + 1.5 + 1.6 + 1.7 + 1.9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C1F2980-DC32-08E9-3E33-11395534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11" y="954989"/>
            <a:ext cx="9090889" cy="480067"/>
          </a:xfrm>
        </p:spPr>
        <p:txBody>
          <a:bodyPr/>
          <a:lstStyle/>
          <a:p>
            <a:r>
              <a:rPr lang="da-DK" dirty="0"/>
              <a:t>Opgaver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C58A8D2-6192-0D34-6542-9589BC97E76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F6C52A8-821F-7825-7FF0-51AA8DC34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31758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67710" y="1451928"/>
            <a:ext cx="8970890" cy="4737441"/>
          </a:xfrm>
        </p:spPr>
        <p:txBody>
          <a:bodyPr/>
          <a:lstStyle/>
          <a:p>
            <a:endParaRPr lang="da-DK" sz="2100" dirty="0"/>
          </a:p>
          <a:p>
            <a:r>
              <a:rPr lang="da-DK" sz="2100" dirty="0"/>
              <a:t>Spænding U [V] (</a:t>
            </a:r>
            <a:r>
              <a:rPr lang="da-DK" sz="2100" dirty="0">
                <a:solidFill>
                  <a:schemeClr val="tx2"/>
                </a:solidFill>
              </a:rPr>
              <a:t>volt</a:t>
            </a:r>
            <a:r>
              <a:rPr lang="da-DK" sz="2100" dirty="0"/>
              <a:t>)</a:t>
            </a:r>
          </a:p>
          <a:p>
            <a:endParaRPr lang="da-DK" sz="2100" dirty="0"/>
          </a:p>
          <a:p>
            <a:r>
              <a:rPr lang="da-DK" sz="2100" dirty="0"/>
              <a:t>Strøm I [A] (</a:t>
            </a:r>
            <a:r>
              <a:rPr lang="da-DK" sz="2100" dirty="0">
                <a:solidFill>
                  <a:srgbClr val="FF0000"/>
                </a:solidFill>
              </a:rPr>
              <a:t>ampere</a:t>
            </a:r>
            <a:r>
              <a:rPr lang="da-DK" sz="2100" dirty="0"/>
              <a:t>)</a:t>
            </a:r>
          </a:p>
          <a:p>
            <a:endParaRPr lang="da-DK" sz="2100" dirty="0"/>
          </a:p>
          <a:p>
            <a:r>
              <a:rPr lang="da-DK" sz="2100" dirty="0"/>
              <a:t>Modstand R [</a:t>
            </a:r>
            <a:r>
              <a:rPr lang="el-GR" sz="2100" dirty="0"/>
              <a:t>Ω</a:t>
            </a:r>
            <a:r>
              <a:rPr lang="da-DK" sz="2100" dirty="0"/>
              <a:t>] (</a:t>
            </a:r>
            <a:r>
              <a:rPr lang="da-DK" sz="2100" dirty="0">
                <a:solidFill>
                  <a:schemeClr val="tx1"/>
                </a:solidFill>
              </a:rPr>
              <a:t>ohm</a:t>
            </a:r>
            <a:r>
              <a:rPr lang="da-DK" sz="2100" dirty="0"/>
              <a:t>)</a:t>
            </a:r>
          </a:p>
          <a:p>
            <a:endParaRPr lang="da-DK" sz="2100" dirty="0"/>
          </a:p>
          <a:p>
            <a:r>
              <a:rPr lang="da-DK" sz="2100" dirty="0"/>
              <a:t>Effekt P [W] (</a:t>
            </a:r>
            <a:r>
              <a:rPr lang="da-DK" sz="2100" dirty="0">
                <a:solidFill>
                  <a:schemeClr val="tx1"/>
                </a:solidFill>
              </a:rPr>
              <a:t>watt</a:t>
            </a:r>
            <a:r>
              <a:rPr lang="da-DK" sz="2100" dirty="0"/>
              <a:t>)</a:t>
            </a:r>
          </a:p>
          <a:p>
            <a:pPr marL="285750" indent="-285750">
              <a:buFontTx/>
              <a:buChar char="-"/>
            </a:pPr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69891" y="971861"/>
            <a:ext cx="9090889" cy="480067"/>
          </a:xfrm>
        </p:spPr>
        <p:txBody>
          <a:bodyPr/>
          <a:lstStyle/>
          <a:p>
            <a:r>
              <a:rPr lang="da-DK" dirty="0"/>
              <a:t>Vigtige begreber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0FB4EF6F-118B-0041-549F-17AE4F70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575" y="1715623"/>
            <a:ext cx="51435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2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52E5-851F-50B2-CAF1-AE76DEF3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C555A79-248C-72FC-404F-D92CE23A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027C91F-3113-4170-B0A7-EB36B47BBC64}" type="slidenum">
              <a:rPr lang="da-DK" smtClean="0"/>
              <a:pPr>
                <a:spcAft>
                  <a:spcPts val="600"/>
                </a:spcAft>
              </a:pPr>
              <a:t>4</a:t>
            </a:fld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7ECDEC6-BF8A-D1B8-590E-458B1F9174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9891" y="1672389"/>
            <a:ext cx="4439104" cy="4516981"/>
          </a:xfrm>
        </p:spPr>
        <p:txBody>
          <a:bodyPr>
            <a:normAutofit/>
          </a:bodyPr>
          <a:lstStyle/>
          <a:p>
            <a:r>
              <a:rPr lang="da-DK" dirty="0"/>
              <a:t>Hvad er spænding?</a:t>
            </a:r>
          </a:p>
          <a:p>
            <a:r>
              <a:rPr lang="da-DK" b="0" dirty="0">
                <a:solidFill>
                  <a:srgbClr val="00B050"/>
                </a:solidFill>
              </a:rPr>
              <a:t>Forestil dig en sø på toppen af et bjerg.</a:t>
            </a:r>
          </a:p>
          <a:p>
            <a:r>
              <a:rPr lang="da-DK" b="0" dirty="0">
                <a:solidFill>
                  <a:srgbClr val="00B050"/>
                </a:solidFill>
              </a:rPr>
              <a:t>Vandet løber ikke, fordi der findes vand.</a:t>
            </a:r>
          </a:p>
          <a:p>
            <a:r>
              <a:rPr lang="da-DK" b="0" dirty="0">
                <a:solidFill>
                  <a:srgbClr val="00B050"/>
                </a:solidFill>
              </a:rPr>
              <a:t>Vandet løber, fordi der er en højdeforskel.</a:t>
            </a:r>
          </a:p>
          <a:p>
            <a:r>
              <a:rPr lang="da-DK" b="0" dirty="0">
                <a:solidFill>
                  <a:srgbClr val="00B050"/>
                </a:solidFill>
              </a:rPr>
              <a:t>Jo større højdeforskellen er, desto større mulighed har vandet for at sætte sig i bevægelse.</a:t>
            </a:r>
          </a:p>
          <a:p>
            <a:r>
              <a:rPr lang="da-DK" b="0" dirty="0">
                <a:solidFill>
                  <a:srgbClr val="00B050"/>
                </a:solidFill>
              </a:rPr>
              <a:t>Strømmen af vand varierer alt efter åbningen og vejen ned af bjerget</a:t>
            </a:r>
          </a:p>
          <a:p>
            <a:r>
              <a:rPr lang="da-DK" b="0" dirty="0">
                <a:solidFill>
                  <a:srgbClr val="00B050"/>
                </a:solidFill>
              </a:rPr>
              <a:t>Terrænet er et udtryk </a:t>
            </a:r>
            <a:r>
              <a:rPr lang="da-DK" b="0">
                <a:solidFill>
                  <a:srgbClr val="00B050"/>
                </a:solidFill>
              </a:rPr>
              <a:t>for modstanden</a:t>
            </a:r>
            <a:endParaRPr lang="da-DK" b="0" dirty="0">
              <a:solidFill>
                <a:srgbClr val="00B050"/>
              </a:solidFill>
            </a:endParaRPr>
          </a:p>
          <a:p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34413DD-70CD-35EA-F32F-95537B57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</p:spPr>
        <p:txBody>
          <a:bodyPr anchor="ctr">
            <a:normAutofit/>
          </a:bodyPr>
          <a:lstStyle/>
          <a:p>
            <a:r>
              <a:rPr lang="da-DK" dirty="0"/>
              <a:t>Spænding, strøm og modstand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A422C2-427D-5BC7-BCC1-4A7003B901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08341F-0F0E-47FB-8512-CCC8C3F1C977}" type="datetime1">
              <a:rPr lang="da-DK" smtClean="0"/>
              <a:pPr>
                <a:spcAft>
                  <a:spcPts val="600"/>
                </a:spcAft>
              </a:pPr>
              <a:t>13-08-2026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9314643-4A49-944A-93A9-7B90D7A86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a-DK"/>
              <a:t>Simon Tran Agerholm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589FF399-7776-EDBF-8177-925A5E598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0783"/>
          <a:stretch>
            <a:fillRect/>
          </a:stretch>
        </p:blipFill>
        <p:spPr>
          <a:xfrm>
            <a:off x="4808995" y="1750595"/>
            <a:ext cx="4975138" cy="44387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832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241F866F-9215-DA82-D8FE-0206678A4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005" y="3007022"/>
            <a:ext cx="3874373" cy="3087304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07557" y="1622733"/>
                <a:ext cx="9031043" cy="4566637"/>
              </a:xfrm>
            </p:spPr>
            <p:txBody>
              <a:bodyPr/>
              <a:lstStyle/>
              <a:p>
                <a:r>
                  <a:rPr lang="da-DK" dirty="0">
                    <a:solidFill>
                      <a:srgbClr val="00B050"/>
                    </a:solidFill>
                  </a:rPr>
                  <a:t>Definition elektrisk spænding:</a:t>
                </a: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En volt er defineret som spændingen over en leder, hvori der afsættes en effekt på 1 watt, når lederen gennemløbes af strømmen 1 ampere.</a:t>
                </a:r>
              </a:p>
              <a:p>
                <a:endParaRPr lang="da-DK" dirty="0"/>
              </a:p>
              <a:p>
                <a:r>
                  <a:rPr lang="da-DK" dirty="0"/>
                  <a:t>Formlen: </a:t>
                </a:r>
                <a14:m>
                  <m:oMath xmlns:m="http://schemas.openxmlformats.org/officeDocument/2006/math"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𝑼</m:t>
                    </m:r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∙</m:t>
                    </m:r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</m:oMath>
                </a14:m>
                <a:r>
                  <a:rPr lang="da-DK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gælder kun</a:t>
                </a:r>
              </a:p>
              <a:p>
                <a:r>
                  <a:rPr lang="da-DK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  </a:t>
                </a:r>
                <a:r>
                  <a:rPr lang="da-DK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ved jævnspænding (DC)</a:t>
                </a:r>
              </a:p>
              <a:p>
                <a:endParaRPr lang="da-DK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 W = 1 J/s = 1 Nm/s</a:t>
                </a:r>
              </a:p>
              <a:p>
                <a:endParaRPr lang="da-DK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Spænding er underforstået spændingsforskel / </a:t>
                </a:r>
              </a:p>
              <a:p>
                <a:r>
                  <a:rPr lang="da-DK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potentiale forskel.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07557" y="1622733"/>
                <a:ext cx="9031043" cy="4566637"/>
              </a:xfrm>
              <a:blipFill>
                <a:blip r:embed="rId3"/>
                <a:stretch>
                  <a:fillRect l="-405" t="-53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42666"/>
            <a:ext cx="9090889" cy="480067"/>
          </a:xfrm>
        </p:spPr>
        <p:txBody>
          <a:bodyPr/>
          <a:lstStyle/>
          <a:p>
            <a:r>
              <a:rPr lang="da-DK" dirty="0"/>
              <a:t>Spænding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157540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</p:spPr>
            <p:txBody>
              <a:bodyPr/>
              <a:lstStyle/>
              <a:p>
                <a:r>
                  <a:rPr lang="da-DK" dirty="0">
                    <a:solidFill>
                      <a:srgbClr val="00B050"/>
                    </a:solidFill>
                  </a:rPr>
                  <a:t>Definition elektrisk strøm:</a:t>
                </a: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En ampere er defineret som strømstyrken af en konstant elektrisk strøm der – når den ledes i to parallelle, uendeligt lange ledere med forsvindende lille cirkulært tværsnit, som har en indbyrdes afstand på en meter og er anbragt i det tomme rum – bevirker, at den ene leder påvirker den anden leder med kraften</a:t>
                </a:r>
                <a:br>
                  <a:rPr lang="da-DK" dirty="0">
                    <a:solidFill>
                      <a:srgbClr val="00B050"/>
                    </a:solidFill>
                  </a:rPr>
                </a:br>
                <a14:m>
                  <m:oMath xmlns:m="http://schemas.openxmlformats.org/officeDocument/2006/math">
                    <m:r>
                      <a:rPr lang="da-DK" i="1" kern="10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2∙</m:t>
                    </m:r>
                    <m:sSup>
                      <m:sSupPr>
                        <m:ctrlPr>
                          <a:rPr lang="da-DK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da-DK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da-DK" kern="100" dirty="0">
                    <a:solidFill>
                      <a:srgbClr val="00B050"/>
                    </a:solidFill>
                  </a:rPr>
                  <a:t> newton for hver meter</a:t>
                </a:r>
                <a:r>
                  <a:rPr lang="da-DK" dirty="0">
                    <a:solidFill>
                      <a:srgbClr val="00B050"/>
                    </a:solidFill>
                  </a:rPr>
                  <a:t>.</a:t>
                </a:r>
              </a:p>
              <a:p>
                <a:endParaRPr lang="da-DK" dirty="0">
                  <a:solidFill>
                    <a:srgbClr val="00B050"/>
                  </a:solidFill>
                </a:endParaRPr>
              </a:p>
              <a:p>
                <a:r>
                  <a:rPr lang="da-DK" dirty="0">
                    <a:solidFill>
                      <a:srgbClr val="0070C0"/>
                    </a:solidFill>
                  </a:rPr>
                  <a:t>Strøm er underforstået strømmen af elektroner.</a:t>
                </a:r>
              </a:p>
              <a:p>
                <a:r>
                  <a:rPr lang="da-DK" b="0" i="0" dirty="0">
                    <a:solidFill>
                      <a:srgbClr val="202124"/>
                    </a:solidFill>
                    <a:effectLst/>
                  </a:rPr>
                  <a:t>En strøm på 1 ampere betyder, at 1 coulomb – det er </a:t>
                </a:r>
                <a:r>
                  <a:rPr lang="da-DK" b="1" i="0" dirty="0">
                    <a:solidFill>
                      <a:srgbClr val="202124"/>
                    </a:solidFill>
                    <a:effectLst/>
                  </a:rPr>
                  <a:t>6,24 trillioner (6,24 x 10</a:t>
                </a:r>
                <a:r>
                  <a:rPr lang="da-DK" b="1" i="0" baseline="30000" dirty="0">
                    <a:solidFill>
                      <a:srgbClr val="202124"/>
                    </a:solidFill>
                    <a:effectLst/>
                  </a:rPr>
                  <a:t>18</a:t>
                </a:r>
                <a:r>
                  <a:rPr lang="da-DK" b="1" i="0" dirty="0">
                    <a:solidFill>
                      <a:srgbClr val="202124"/>
                    </a:solidFill>
                    <a:effectLst/>
                  </a:rPr>
                  <a:t>) elektroner</a:t>
                </a:r>
                <a:r>
                  <a:rPr lang="da-DK" b="0" i="0" dirty="0">
                    <a:solidFill>
                      <a:srgbClr val="202124"/>
                    </a:solidFill>
                    <a:effectLst/>
                  </a:rPr>
                  <a:t> – bevæger sig forbi et enkelt punkt i et kredsløb på 1 sekund.</a:t>
                </a:r>
              </a:p>
              <a:p>
                <a:endParaRPr lang="da-DK" b="0" u="sng" dirty="0">
                  <a:solidFill>
                    <a:srgbClr val="202124"/>
                  </a:solidFill>
                </a:endParaRPr>
              </a:p>
              <a:p>
                <a:r>
                  <a:rPr lang="da-DK" b="0" dirty="0">
                    <a:solidFill>
                      <a:srgbClr val="00B0F0"/>
                    </a:solidFill>
                  </a:rPr>
                  <a:t>Coulomb er ladningsmængden</a:t>
                </a:r>
                <a:endParaRPr lang="da-DK" dirty="0">
                  <a:solidFill>
                    <a:srgbClr val="00B0F0"/>
                  </a:solidFill>
                </a:endParaRPr>
              </a:p>
              <a:p>
                <a:r>
                  <a:rPr lang="da-DK" b="0" dirty="0">
                    <a:solidFill>
                      <a:srgbClr val="00B0F0"/>
                    </a:solidFill>
                  </a:rPr>
                  <a:t>1A = 1C/s</a:t>
                </a: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  <a:blipFill>
                <a:blip r:embed="rId2"/>
                <a:stretch>
                  <a:fillRect l="-405" t="-535" r="-1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Strøm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2A4C572E-9BA7-C874-5737-03E8A40A0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346" y="4746795"/>
            <a:ext cx="4133051" cy="156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0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E832-6892-EE3F-47F5-75300D68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AC619403-5571-78A4-6034-327593DE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379081-D163-1905-4B6E-786C7A798E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557" y="1634360"/>
            <a:ext cx="9031043" cy="4555010"/>
          </a:xfrm>
        </p:spPr>
        <p:txBody>
          <a:bodyPr/>
          <a:lstStyle/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8AF4DBA-16B1-C77A-077E-4E4EB218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Strøm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896A9B8-6AB6-E21F-2F94-BCB91AA25F0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436129D-9A06-D66C-C076-EB7F5D895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F251468-5A17-BE6C-331D-F3911E26C086}"/>
              </a:ext>
            </a:extLst>
          </p:cNvPr>
          <p:cNvSpPr/>
          <p:nvPr/>
        </p:nvSpPr>
        <p:spPr>
          <a:xfrm>
            <a:off x="3079334" y="2373485"/>
            <a:ext cx="5439747" cy="30591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shade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4046C417-6A3F-F9EA-0FAE-C71AC447DEBB}"/>
              </a:ext>
            </a:extLst>
          </p:cNvPr>
          <p:cNvSpPr txBox="1"/>
          <p:nvPr/>
        </p:nvSpPr>
        <p:spPr>
          <a:xfrm>
            <a:off x="609589" y="1447748"/>
            <a:ext cx="478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ser lidt nærmere på den elektriske strøm [A].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A3310573-AF78-2D3D-6715-2B5A2AEA0CBD}"/>
              </a:ext>
            </a:extLst>
          </p:cNvPr>
          <p:cNvSpPr txBox="1"/>
          <p:nvPr/>
        </p:nvSpPr>
        <p:spPr>
          <a:xfrm>
            <a:off x="625767" y="2341774"/>
            <a:ext cx="1347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Kobberleder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0149DAF5-B88A-CF5B-9C75-A0F0FB2C4FB8}"/>
                  </a:ext>
                </a:extLst>
              </p:cNvPr>
              <p:cNvSpPr txBox="1"/>
              <p:nvPr/>
            </p:nvSpPr>
            <p:spPr>
              <a:xfrm>
                <a:off x="4682886" y="4447360"/>
                <a:ext cx="106760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a-DK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0149DAF5-B88A-CF5B-9C75-A0F0FB2C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86" y="4447360"/>
                <a:ext cx="1067609" cy="612732"/>
              </a:xfrm>
              <a:prstGeom prst="rect">
                <a:avLst/>
              </a:prstGeom>
              <a:blipFill>
                <a:blip r:embed="rId2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AC9C16F9-5BE1-1F7D-4A5C-C6C8A4B4DFF9}"/>
                  </a:ext>
                </a:extLst>
              </p:cNvPr>
              <p:cNvSpPr txBox="1"/>
              <p:nvPr/>
            </p:nvSpPr>
            <p:spPr>
              <a:xfrm>
                <a:off x="5512173" y="4429484"/>
                <a:ext cx="4540081" cy="705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latin typeface="Cambria Math" panose="02040503050406030204" pitchFamily="18" charset="0"/>
                        </a:rPr>
                        <m:t>𝑆𝑡</m:t>
                      </m:r>
                      <m:r>
                        <a:rPr lang="da-DK" i="0">
                          <a:latin typeface="Cambria Math" panose="02040503050406030204" pitchFamily="18" charset="0"/>
                        </a:rPr>
                        <m:t>ø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𝑚𝑠𝑡𝑦𝑟𝑘𝑒𝑛</m:t>
                      </m:r>
                      <m:r>
                        <a:rPr lang="da-DK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𝐿𝑎𝑑𝑛𝑖𝑛𝑔𝑠𝑚</m:t>
                          </m:r>
                          <m:r>
                            <a:rPr lang="da-DK" i="0">
                              <a:latin typeface="Cambria Math" panose="02040503050406030204" pitchFamily="18" charset="0"/>
                            </a:rPr>
                            <m:t>æ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𝑛𝑔𝑑𝑒𝑛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𝑡𝑖𝑑𝑒𝑛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AC9C16F9-5BE1-1F7D-4A5C-C6C8A4B4D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173" y="4429484"/>
                <a:ext cx="4540081" cy="705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1F3CB4D6-6F2C-AF9E-EED8-F7DB50BB8E26}"/>
                  </a:ext>
                </a:extLst>
              </p:cNvPr>
              <p:cNvSpPr txBox="1"/>
              <p:nvPr/>
            </p:nvSpPr>
            <p:spPr>
              <a:xfrm>
                <a:off x="5578211" y="5235465"/>
                <a:ext cx="1368644" cy="7665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a-DK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1F3CB4D6-6F2C-AF9E-EED8-F7DB50BB8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211" y="5235465"/>
                <a:ext cx="1368644" cy="7665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B9159009-90EE-653E-C634-C2AA5C8D0307}"/>
                  </a:ext>
                </a:extLst>
              </p:cNvPr>
              <p:cNvSpPr txBox="1"/>
              <p:nvPr/>
            </p:nvSpPr>
            <p:spPr>
              <a:xfrm>
                <a:off x="6483645" y="5459293"/>
                <a:ext cx="3568609" cy="7665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𝑚𝑝𝑒𝑟𝑒</m:t>
                          </m:r>
                        </m:e>
                      </m:d>
                      <m:r>
                        <a:rPr lang="da-DK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𝑜𝑢𝑙𝑜𝑚𝑏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𝑒𝑘𝑢𝑛𝑑𝑒𝑟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a-DK" dirty="0">
                  <a:latin typeface="Amasis MT Pro Black" panose="020B0604020202020204" pitchFamily="18" charset="0"/>
                </a:endParaRPr>
              </a:p>
            </p:txBody>
          </p:sp>
        </mc:Choice>
        <mc:Fallback xmlns="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B9159009-90EE-653E-C634-C2AA5C8D0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645" y="5459293"/>
                <a:ext cx="3568609" cy="7665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pe 15">
            <a:extLst>
              <a:ext uri="{FF2B5EF4-FFF2-40B4-BE49-F238E27FC236}">
                <a16:creationId xmlns:a16="http://schemas.microsoft.com/office/drawing/2014/main" id="{DB2C0E64-D17C-EC28-B11C-0F7264F1CB4B}"/>
              </a:ext>
            </a:extLst>
          </p:cNvPr>
          <p:cNvGrpSpPr/>
          <p:nvPr/>
        </p:nvGrpSpPr>
        <p:grpSpPr>
          <a:xfrm>
            <a:off x="2327056" y="2134091"/>
            <a:ext cx="2369807" cy="3970759"/>
            <a:chOff x="2327056" y="2134091"/>
            <a:chExt cx="2369807" cy="3970759"/>
          </a:xfrm>
        </p:grpSpPr>
        <p:pic>
          <p:nvPicPr>
            <p:cNvPr id="17" name="Billede 16">
              <a:extLst>
                <a:ext uri="{FF2B5EF4-FFF2-40B4-BE49-F238E27FC236}">
                  <a16:creationId xmlns:a16="http://schemas.microsoft.com/office/drawing/2014/main" id="{A7EB0F0E-72D9-EE93-1304-FA2D2CA18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27056" y="4612192"/>
              <a:ext cx="2000736" cy="1492658"/>
            </a:xfrm>
            <a:prstGeom prst="rect">
              <a:avLst/>
            </a:prstGeom>
          </p:spPr>
        </p:pic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0F666265-C5DB-E23D-62BA-6BEAA06CDE9C}"/>
                </a:ext>
              </a:extLst>
            </p:cNvPr>
            <p:cNvSpPr/>
            <p:nvPr/>
          </p:nvSpPr>
          <p:spPr>
            <a:xfrm>
              <a:off x="3766475" y="2134091"/>
              <a:ext cx="930388" cy="86792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cxnSp>
          <p:nvCxnSpPr>
            <p:cNvPr id="19" name="Lige pilforbindelse 18">
              <a:extLst>
                <a:ext uri="{FF2B5EF4-FFF2-40B4-BE49-F238E27FC236}">
                  <a16:creationId xmlns:a16="http://schemas.microsoft.com/office/drawing/2014/main" id="{8EBC32DA-9966-1885-6CEB-0BD135C65F41}"/>
                </a:ext>
              </a:extLst>
            </p:cNvPr>
            <p:cNvCxnSpPr>
              <a:cxnSpLocks/>
              <a:stCxn id="18" idx="4"/>
              <a:endCxn id="17" idx="0"/>
            </p:cNvCxnSpPr>
            <p:nvPr/>
          </p:nvCxnSpPr>
          <p:spPr>
            <a:xfrm flipH="1">
              <a:off x="3327424" y="3002017"/>
              <a:ext cx="904245" cy="16101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575B1333-38EA-A9D3-9895-CF15769521D7}"/>
              </a:ext>
            </a:extLst>
          </p:cNvPr>
          <p:cNvSpPr/>
          <p:nvPr/>
        </p:nvSpPr>
        <p:spPr>
          <a:xfrm>
            <a:off x="2990565" y="2367280"/>
            <a:ext cx="168164" cy="30591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5817433-DFF4-D89D-A518-EEC530C65DE6}"/>
              </a:ext>
            </a:extLst>
          </p:cNvPr>
          <p:cNvSpPr/>
          <p:nvPr/>
        </p:nvSpPr>
        <p:spPr>
          <a:xfrm>
            <a:off x="8439686" y="2373485"/>
            <a:ext cx="168164" cy="30591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22" name="Gruppe 21">
            <a:extLst>
              <a:ext uri="{FF2B5EF4-FFF2-40B4-BE49-F238E27FC236}">
                <a16:creationId xmlns:a16="http://schemas.microsoft.com/office/drawing/2014/main" id="{F15C42A1-9240-CD89-20B1-F07331319075}"/>
              </a:ext>
            </a:extLst>
          </p:cNvPr>
          <p:cNvGrpSpPr/>
          <p:nvPr/>
        </p:nvGrpSpPr>
        <p:grpSpPr>
          <a:xfrm>
            <a:off x="1497330" y="1597880"/>
            <a:ext cx="7110576" cy="3637585"/>
            <a:chOff x="1497330" y="1597880"/>
            <a:chExt cx="7110576" cy="3637585"/>
          </a:xfrm>
        </p:grpSpPr>
        <p:cxnSp>
          <p:nvCxnSpPr>
            <p:cNvPr id="23" name="Lige pilforbindelse 22">
              <a:extLst>
                <a:ext uri="{FF2B5EF4-FFF2-40B4-BE49-F238E27FC236}">
                  <a16:creationId xmlns:a16="http://schemas.microsoft.com/office/drawing/2014/main" id="{5ECB9698-1F38-1AB8-91CE-5F63586D5590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72" y="2526440"/>
              <a:ext cx="56618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548CF47D-CB49-C663-7F75-75BBD4C7A166}"/>
                </a:ext>
              </a:extLst>
            </p:cNvPr>
            <p:cNvSpPr txBox="1"/>
            <p:nvPr/>
          </p:nvSpPr>
          <p:spPr>
            <a:xfrm>
              <a:off x="4728180" y="232931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30000" dirty="0"/>
                <a:t>-</a:t>
              </a:r>
              <a:endParaRPr lang="da-DK" dirty="0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90E0AD28-5D45-328C-EF0F-736D0C099B82}"/>
                </a:ext>
              </a:extLst>
            </p:cNvPr>
            <p:cNvSpPr/>
            <p:nvPr/>
          </p:nvSpPr>
          <p:spPr>
            <a:xfrm>
              <a:off x="5125541" y="2482303"/>
              <a:ext cx="64800" cy="6336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26" name="Tekstfelt 25">
              <a:extLst>
                <a:ext uri="{FF2B5EF4-FFF2-40B4-BE49-F238E27FC236}">
                  <a16:creationId xmlns:a16="http://schemas.microsoft.com/office/drawing/2014/main" id="{A9E1E1D1-56A0-5D52-925D-23CC57698E7A}"/>
                </a:ext>
              </a:extLst>
            </p:cNvPr>
            <p:cNvSpPr txBox="1"/>
            <p:nvPr/>
          </p:nvSpPr>
          <p:spPr>
            <a:xfrm>
              <a:off x="3021882" y="1597880"/>
              <a:ext cx="42030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6000" dirty="0">
                  <a:solidFill>
                    <a:schemeClr val="accent5"/>
                  </a:solidFill>
                </a:rPr>
                <a:t>-</a:t>
              </a:r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22EE9AD6-E9DF-C0EB-D525-EEE242FC9AD4}"/>
                </a:ext>
              </a:extLst>
            </p:cNvPr>
            <p:cNvSpPr txBox="1"/>
            <p:nvPr/>
          </p:nvSpPr>
          <p:spPr>
            <a:xfrm>
              <a:off x="7915083" y="1726325"/>
              <a:ext cx="46519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4400" dirty="0">
                  <a:solidFill>
                    <a:srgbClr val="C00000"/>
                  </a:solidFill>
                </a:rPr>
                <a:t>+</a:t>
              </a:r>
            </a:p>
          </p:txBody>
        </p:sp>
        <p:sp>
          <p:nvSpPr>
            <p:cNvPr id="28" name="Tekstfelt 27">
              <a:extLst>
                <a:ext uri="{FF2B5EF4-FFF2-40B4-BE49-F238E27FC236}">
                  <a16:creationId xmlns:a16="http://schemas.microsoft.com/office/drawing/2014/main" id="{06917139-622D-0A85-EDC8-20D1E894BE09}"/>
                </a:ext>
              </a:extLst>
            </p:cNvPr>
            <p:cNvSpPr txBox="1"/>
            <p:nvPr/>
          </p:nvSpPr>
          <p:spPr>
            <a:xfrm>
              <a:off x="1497330" y="4866133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30000" dirty="0"/>
                <a:t>-</a:t>
              </a:r>
              <a:endParaRPr lang="da-DK" dirty="0"/>
            </a:p>
          </p:txBody>
        </p:sp>
        <p:cxnSp>
          <p:nvCxnSpPr>
            <p:cNvPr id="29" name="Lige pilforbindelse 28">
              <a:extLst>
                <a:ext uri="{FF2B5EF4-FFF2-40B4-BE49-F238E27FC236}">
                  <a16:creationId xmlns:a16="http://schemas.microsoft.com/office/drawing/2014/main" id="{907B0B7E-517C-FA8F-A08F-DF96DCB25515}"/>
                </a:ext>
              </a:extLst>
            </p:cNvPr>
            <p:cNvCxnSpPr/>
            <p:nvPr/>
          </p:nvCxnSpPr>
          <p:spPr>
            <a:xfrm>
              <a:off x="1608458" y="5192770"/>
              <a:ext cx="34657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14502D49-27B8-3DF4-D592-2B999FDDA541}"/>
                </a:ext>
              </a:extLst>
            </p:cNvPr>
            <p:cNvSpPr/>
            <p:nvPr/>
          </p:nvSpPr>
          <p:spPr>
            <a:xfrm>
              <a:off x="1890228" y="5028411"/>
              <a:ext cx="64800" cy="6336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29DF58CC-F686-3B96-461C-B6FA3BC55D8C}"/>
                </a:ext>
              </a:extLst>
            </p:cNvPr>
            <p:cNvSpPr/>
            <p:nvPr/>
          </p:nvSpPr>
          <p:spPr>
            <a:xfrm>
              <a:off x="8439742" y="2373485"/>
              <a:ext cx="168164" cy="30591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19ECE803-4F07-E1DF-FBAB-061F8A73EE01}"/>
                </a:ext>
              </a:extLst>
            </p:cNvPr>
            <p:cNvSpPr/>
            <p:nvPr/>
          </p:nvSpPr>
          <p:spPr>
            <a:xfrm>
              <a:off x="2991665" y="2367280"/>
              <a:ext cx="168164" cy="305910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33" name="Gruppe 32">
            <a:extLst>
              <a:ext uri="{FF2B5EF4-FFF2-40B4-BE49-F238E27FC236}">
                <a16:creationId xmlns:a16="http://schemas.microsoft.com/office/drawing/2014/main" id="{44A150BF-4EC4-F203-5956-AFB4A7E6BEA4}"/>
              </a:ext>
            </a:extLst>
          </p:cNvPr>
          <p:cNvGrpSpPr/>
          <p:nvPr/>
        </p:nvGrpSpPr>
        <p:grpSpPr>
          <a:xfrm>
            <a:off x="4076354" y="1992453"/>
            <a:ext cx="5982756" cy="1885152"/>
            <a:chOff x="4805564" y="1967697"/>
            <a:chExt cx="5982756" cy="1885152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130B2CAE-ABD2-F6DC-2B21-DC2C42F0F42B}"/>
                </a:ext>
              </a:extLst>
            </p:cNvPr>
            <p:cNvSpPr/>
            <p:nvPr/>
          </p:nvSpPr>
          <p:spPr>
            <a:xfrm>
              <a:off x="5684275" y="2367280"/>
              <a:ext cx="168164" cy="3059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5" name="Tekstfelt 34">
              <a:extLst>
                <a:ext uri="{FF2B5EF4-FFF2-40B4-BE49-F238E27FC236}">
                  <a16:creationId xmlns:a16="http://schemas.microsoft.com/office/drawing/2014/main" id="{09165D79-C7BB-0BF2-329B-71B570391E9B}"/>
                </a:ext>
              </a:extLst>
            </p:cNvPr>
            <p:cNvSpPr txBox="1"/>
            <p:nvPr/>
          </p:nvSpPr>
          <p:spPr>
            <a:xfrm>
              <a:off x="4805564" y="3206518"/>
              <a:ext cx="59827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Fra foregående slide kunne vi udlede, at 1 A svarer til at der passerer 6,24 </a:t>
              </a:r>
              <a:r>
                <a:rPr lang="da-DK" dirty="0">
                  <a:latin typeface="Segoe UI Symbol" panose="020B0502040204020203" pitchFamily="34" charset="0"/>
                  <a:ea typeface="Segoe UI Symbol" panose="020B0502040204020203" pitchFamily="34" charset="0"/>
                </a:rPr>
                <a:t>‧</a:t>
              </a:r>
              <a:r>
                <a:rPr lang="da-DK" dirty="0"/>
                <a:t> 10</a:t>
              </a:r>
              <a:r>
                <a:rPr lang="da-DK" baseline="30000" dirty="0"/>
                <a:t>18</a:t>
              </a:r>
              <a:r>
                <a:rPr lang="da-DK" dirty="0"/>
                <a:t> elektroner i sekundet, i  tværsnittet T.</a:t>
              </a:r>
            </a:p>
          </p:txBody>
        </p:sp>
        <p:sp>
          <p:nvSpPr>
            <p:cNvPr id="36" name="Tekstfelt 35">
              <a:extLst>
                <a:ext uri="{FF2B5EF4-FFF2-40B4-BE49-F238E27FC236}">
                  <a16:creationId xmlns:a16="http://schemas.microsoft.com/office/drawing/2014/main" id="{8E2B7C00-F0BD-1ACF-A9C7-B307286C3289}"/>
                </a:ext>
              </a:extLst>
            </p:cNvPr>
            <p:cNvSpPr txBox="1"/>
            <p:nvPr/>
          </p:nvSpPr>
          <p:spPr>
            <a:xfrm>
              <a:off x="5649025" y="196769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T</a:t>
              </a:r>
            </a:p>
          </p:txBody>
        </p:sp>
      </p:grpSp>
      <p:sp>
        <p:nvSpPr>
          <p:cNvPr id="39" name="Pladsholder til slidenummer 5">
            <a:extLst>
              <a:ext uri="{FF2B5EF4-FFF2-40B4-BE49-F238E27FC236}">
                <a16:creationId xmlns:a16="http://schemas.microsoft.com/office/drawing/2014/main" id="{A4BB5C03-A790-24FB-76EA-20B59C361DD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/>
          <a:lstStyle>
            <a:defPPr>
              <a:defRPr lang="da-DK"/>
            </a:defPPr>
            <a:lvl1pPr marL="0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2A73C88-35DB-432F-9FBF-AA3A20422821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07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93987" y="1557031"/>
                <a:ext cx="8686800" cy="4631031"/>
              </a:xfrm>
            </p:spPr>
            <p:txBody>
              <a:bodyPr/>
              <a:lstStyle/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Definition elektrisk modstand (resistans):</a:t>
                </a: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Ohm er resistansen af en leder, hvis endepunkter har spændingsforskellen en volt, når den gennemløbes af strømmen en ampere.</a:t>
                </a:r>
              </a:p>
              <a:p>
                <a:r>
                  <a:rPr lang="da-DK" dirty="0"/>
                  <a:t>Formlen: </a:t>
                </a:r>
                <a14:m>
                  <m:oMath xmlns:m="http://schemas.openxmlformats.org/officeDocument/2006/math"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𝑼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∙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</m:oMath>
                </a14:m>
                <a:r>
                  <a:rPr lang="da-DK" kern="100" dirty="0">
                    <a:effectLst/>
                    <a:ea typeface="Calibri" panose="020F0502020204030204" pitchFamily="34" charset="0"/>
                  </a:rPr>
                  <a:t>     gælder kun</a:t>
                </a:r>
              </a:p>
              <a:p>
                <a:r>
                  <a:rPr lang="da-DK" kern="100" dirty="0">
                    <a:ea typeface="Calibri" panose="020F0502020204030204" pitchFamily="34" charset="0"/>
                  </a:rPr>
                  <a:t>		  </a:t>
                </a:r>
                <a:r>
                  <a:rPr lang="da-DK" kern="100" dirty="0">
                    <a:effectLst/>
                    <a:ea typeface="Calibri" panose="020F0502020204030204" pitchFamily="34" charset="0"/>
                  </a:rPr>
                  <a:t>ved jævnspænding (DC)</a:t>
                </a:r>
              </a:p>
              <a:p>
                <a:endParaRPr lang="da-DK" kern="100" dirty="0">
                  <a:ea typeface="Calibri" panose="020F0502020204030204" pitchFamily="34" charset="0"/>
                </a:endParaRPr>
              </a:p>
              <a:p>
                <a:r>
                  <a:rPr lang="da-DK" kern="100" dirty="0">
                    <a:effectLst/>
                    <a:ea typeface="Calibri" panose="020F0502020204030204" pitchFamily="34" charset="0"/>
                  </a:rPr>
                  <a:t>Resistansen er modstanden i lederen.</a:t>
                </a:r>
              </a:p>
              <a:p>
                <a:endParaRPr lang="da-DK" sz="1600" dirty="0">
                  <a:solidFill>
                    <a:srgbClr val="00B050"/>
                  </a:solidFill>
                </a:endParaRPr>
              </a:p>
              <a:p>
                <a:endParaRPr lang="da-DK" sz="1600" dirty="0"/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					Varmelegeme til vaskemaskine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93987" y="1557031"/>
                <a:ext cx="8686800" cy="4631031"/>
              </a:xfrm>
              <a:blipFill>
                <a:blip r:embed="rId2"/>
                <a:stretch>
                  <a:fillRect l="-421" r="-98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076964"/>
            <a:ext cx="9090889" cy="480067"/>
          </a:xfrm>
        </p:spPr>
        <p:txBody>
          <a:bodyPr/>
          <a:lstStyle/>
          <a:p>
            <a:r>
              <a:rPr lang="da-DK" dirty="0"/>
              <a:t>Modstand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3DA701E-648D-4174-F8CC-3B8ACFC45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09" y="4190569"/>
            <a:ext cx="2444250" cy="1853223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E54AD795-AE97-E78A-1A67-2274B8225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28" y="3151089"/>
            <a:ext cx="2631558" cy="173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6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lede 15">
            <a:extLst>
              <a:ext uri="{FF2B5EF4-FFF2-40B4-BE49-F238E27FC236}">
                <a16:creationId xmlns:a16="http://schemas.microsoft.com/office/drawing/2014/main" id="{299BFF57-80F9-A6D5-8133-FF1CFC751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92" y="2446056"/>
            <a:ext cx="2727357" cy="2951831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5BCF45FF-0A15-31FA-C93F-54936F741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875" y="2461869"/>
            <a:ext cx="4337568" cy="3505619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</p:spPr>
            <p:txBody>
              <a:bodyPr/>
              <a:lstStyle/>
              <a:p>
                <a:r>
                  <a:rPr lang="da-DK" dirty="0"/>
                  <a:t>Formlen: </a:t>
                </a:r>
                <a14:m>
                  <m:oMath xmlns:m="http://schemas.openxmlformats.org/officeDocument/2006/math"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𝑼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∙</m:t>
                    </m:r>
                    <m:r>
                      <a:rPr lang="da-DK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</m:oMath>
                </a14:m>
                <a:r>
                  <a:rPr lang="da-DK" kern="100" dirty="0">
                    <a:effectLst/>
                    <a:ea typeface="Calibri" panose="020F0502020204030204" pitchFamily="34" charset="0"/>
                  </a:rPr>
                  <a:t>     gælder kun ved jævnspænding (DC)</a:t>
                </a:r>
              </a:p>
              <a:p>
                <a:r>
                  <a:rPr lang="da-DK" dirty="0">
                    <a:solidFill>
                      <a:srgbClr val="00B0F0"/>
                    </a:solidFill>
                  </a:rPr>
                  <a:t>Der kan byttes om på formlen (matematiske regneregler)</a:t>
                </a: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r>
                  <a:rPr lang="da-DK" sz="1500" dirty="0">
                    <a:solidFill>
                      <a:srgbClr val="00B0F0"/>
                    </a:solidFill>
                  </a:rPr>
                  <a:t> </a:t>
                </a:r>
                <a:r>
                  <a:rPr lang="da-DK" sz="1500" dirty="0">
                    <a:solidFill>
                      <a:schemeClr val="tx1"/>
                    </a:solidFill>
                  </a:rPr>
                  <a:t>Georg Simon Ohm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Se denne : https://phet.colorado.edu/en/simulations/filter?subjects=electricity-magnets-and-circuits&amp;type=html,prototype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  <a:blipFill>
                <a:blip r:embed="rId4"/>
                <a:stretch>
                  <a:fillRect l="-405" t="-535" b="-147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Ohms lov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236365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</p:spPr>
            <p:txBody>
              <a:bodyPr/>
              <a:lstStyle/>
              <a:p>
                <a:r>
                  <a:rPr lang="da-DK" kern="100" dirty="0">
                    <a:effectLst/>
                    <a:ea typeface="Calibri" panose="020F0502020204030204" pitchFamily="34" charset="0"/>
                  </a:rPr>
                  <a:t>Formlerne gælder kun ved jævnspænding (DC)</a:t>
                </a:r>
              </a:p>
              <a:p>
                <a:endParaRPr lang="da-DK" sz="1800" i="1" kern="1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a-DK" sz="1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1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a-DK" sz="1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da-DK" sz="1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</m:oMath>
                  </m:oMathPara>
                </a14:m>
                <a:endParaRPr lang="da-DK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da-DK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da-DK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a-DK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da-DK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a-DK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da-DK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da-DK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  <a:blipFill>
                <a:blip r:embed="rId2"/>
                <a:stretch>
                  <a:fillRect l="-405" t="-5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Ohms lov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3B18EC09-FAFB-5A16-AAC3-C472219FC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230" y="2009151"/>
            <a:ext cx="3267896" cy="3262539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F1B359E8-35EA-4998-D34B-2F84D8B59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672" y="2459155"/>
            <a:ext cx="2934109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2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ECD59BB9-35A8-A67B-3282-CC1E8F90CB5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5000" y="2217766"/>
            <a:ext cx="4593402" cy="3343997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040928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51D02-BFAB-E7F1-31A8-81681FF5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08200"/>
            <a:ext cx="3136900" cy="366183"/>
          </a:xfrm>
        </p:spPr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39472BB2-2E55-F504-1C15-1F0147604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025" y="1921870"/>
            <a:ext cx="4783664" cy="37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09927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35" ma:contentTypeDescription="Opret et nyt dokument." ma:contentTypeScope="" ma:versionID="f8973732321d220ec44c1e26f28d774a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f2b0f69eda9c5210bf281163aa08d5e7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22" nillable="true" ma:displayName="Notebook Type" ma:internalName="NotebookType">
      <xsd:simpleType>
        <xsd:restriction base="dms:Text"/>
      </xsd:simpleType>
    </xsd:element>
    <xsd:element name="FolderType" ma:index="23" nillable="true" ma:displayName="Folder Type" ma:internalName="FolderType">
      <xsd:simpleType>
        <xsd:restriction base="dms:Text"/>
      </xsd:simpleType>
    </xsd:element>
    <xsd:element name="CultureName" ma:index="24" nillable="true" ma:displayName="Culture Name" ma:internalName="CultureName">
      <xsd:simpleType>
        <xsd:restriction base="dms:Text"/>
      </xsd:simpleType>
    </xsd:element>
    <xsd:element name="AppVersion" ma:index="25" nillable="true" ma:displayName="App Version" ma:internalName="AppVersion">
      <xsd:simpleType>
        <xsd:restriction base="dms:Text"/>
      </xsd:simpleType>
    </xsd:element>
    <xsd:element name="TeamsChannelId" ma:index="26" nillable="true" ma:displayName="Teams Channel Id" ma:internalName="TeamsChannelId">
      <xsd:simpleType>
        <xsd:restriction base="dms:Text"/>
      </xsd:simpleType>
    </xsd:element>
    <xsd:element name="Owner" ma:index="2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8" nillable="true" ma:displayName="Math Settings" ma:internalName="Math_Settings">
      <xsd:simpleType>
        <xsd:restriction base="dms:Text"/>
      </xsd:simpleType>
    </xsd:element>
    <xsd:element name="DefaultSectionNames" ma:index="2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6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7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8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9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40" nillable="true" ma:displayName="Is Collaboration Space Locked" ma:internalName="Is_Collaboration_Space_Locked">
      <xsd:simpleType>
        <xsd:restriction base="dms:Boolean"/>
      </xsd:simpleType>
    </xsd:element>
    <xsd:element name="IsNotebookLocked" ma:index="41" nillable="true" ma:displayName="Is Notebook Locked" ma:internalName="IsNotebookLocked">
      <xsd:simpleType>
        <xsd:restriction base="dms:Boolean"/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b219d03-91f1-46b5-9cdc-4a273eee06fd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76432-5f6f-4461-a773-af4277ea9cc4">
      <Terms xmlns="http://schemas.microsoft.com/office/infopath/2007/PartnerControls"/>
    </lcf76f155ced4ddcb4097134ff3c332f>
    <TaxCatchAll xmlns="b112c056-f141-4248-a46f-e5f0219ad1a7" xsi:nil="true"/>
    <Owner xmlns="52776432-5f6f-4461-a773-af4277ea9cc4">
      <UserInfo>
        <DisplayName/>
        <AccountId xsi:nil="true"/>
        <AccountType/>
      </UserInfo>
    </Owner>
    <Students xmlns="52776432-5f6f-4461-a773-af4277ea9cc4">
      <UserInfo>
        <DisplayName/>
        <AccountId xsi:nil="true"/>
        <AccountType/>
      </UserInfo>
    </Students>
    <Student_Groups xmlns="52776432-5f6f-4461-a773-af4277ea9cc4">
      <UserInfo>
        <DisplayName/>
        <AccountId xsi:nil="true"/>
        <AccountType/>
      </UserInfo>
    </Student_Groups>
    <LMS_Mappings xmlns="52776432-5f6f-4461-a773-af4277ea9cc4" xsi:nil="true"/>
    <Has_Teacher_Only_SectionGroup xmlns="52776432-5f6f-4461-a773-af4277ea9cc4" xsi:nil="true"/>
    <CultureName xmlns="52776432-5f6f-4461-a773-af4277ea9cc4" xsi:nil="true"/>
    <AppVersion xmlns="52776432-5f6f-4461-a773-af4277ea9cc4" xsi:nil="true"/>
    <Invited_Teachers xmlns="52776432-5f6f-4461-a773-af4277ea9cc4" xsi:nil="true"/>
    <Invited_Students xmlns="52776432-5f6f-4461-a773-af4277ea9cc4" xsi:nil="true"/>
    <DefaultSectionNames xmlns="52776432-5f6f-4461-a773-af4277ea9cc4" xsi:nil="true"/>
    <Math_Settings xmlns="52776432-5f6f-4461-a773-af4277ea9cc4" xsi:nil="true"/>
    <Templates xmlns="52776432-5f6f-4461-a773-af4277ea9cc4" xsi:nil="true"/>
    <Self_Registration_Enabled xmlns="52776432-5f6f-4461-a773-af4277ea9cc4" xsi:nil="true"/>
    <Teachers xmlns="52776432-5f6f-4461-a773-af4277ea9cc4">
      <UserInfo>
        <DisplayName/>
        <AccountId xsi:nil="true"/>
        <AccountType/>
      </UserInfo>
    </Teachers>
    <Is_Collaboration_Space_Locked xmlns="52776432-5f6f-4461-a773-af4277ea9cc4" xsi:nil="true"/>
    <Teams_Channel_Section_Location xmlns="52776432-5f6f-4461-a773-af4277ea9cc4" xsi:nil="true"/>
    <Distribution_Groups xmlns="52776432-5f6f-4461-a773-af4277ea9cc4" xsi:nil="true"/>
    <NotebookType xmlns="52776432-5f6f-4461-a773-af4277ea9cc4" xsi:nil="true"/>
    <FolderType xmlns="52776432-5f6f-4461-a773-af4277ea9cc4" xsi:nil="true"/>
    <TeamsChannelId xmlns="52776432-5f6f-4461-a773-af4277ea9cc4" xsi:nil="true"/>
    <IsNotebookLocked xmlns="52776432-5f6f-4461-a773-af4277ea9cc4" xsi:nil="true"/>
  </documentManagement>
</p:properties>
</file>

<file path=customXml/itemProps1.xml><?xml version="1.0" encoding="utf-8"?>
<ds:datastoreItem xmlns:ds="http://schemas.openxmlformats.org/officeDocument/2006/customXml" ds:itemID="{9053F42C-B3AA-497C-B780-16FDEB4DBD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B22789-3991-4CF3-9BE2-824E8D8404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35ABA8-4256-4D82-BAC4-33E353E25A86}">
  <ds:schemaRefs>
    <ds:schemaRef ds:uri="http://schemas.microsoft.com/office/2006/metadata/properties"/>
    <ds:schemaRef ds:uri="http://schemas.microsoft.com/office/infopath/2007/PartnerControls"/>
    <ds:schemaRef ds:uri="52776432-5f6f-4461-a773-af4277ea9cc4"/>
    <ds:schemaRef ds:uri="b112c056-f141-4248-a46f-e5f0219ad1a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4098</TotalTime>
  <Words>574</Words>
  <Application>Microsoft Office PowerPoint</Application>
  <PresentationFormat>A4-papir (210 x 297 mm)</PresentationFormat>
  <Paragraphs>147</Paragraphs>
  <Slides>11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7" baseType="lpstr">
      <vt:lpstr>Cambria Math</vt:lpstr>
      <vt:lpstr>Segoe UI Symbol</vt:lpstr>
      <vt:lpstr>Calibri</vt:lpstr>
      <vt:lpstr>Arial</vt:lpstr>
      <vt:lpstr>Amasis MT Pro Black</vt:lpstr>
      <vt:lpstr>MARTEC</vt:lpstr>
      <vt:lpstr>Definition af elektriske begreber</vt:lpstr>
      <vt:lpstr>Opgaver</vt:lpstr>
      <vt:lpstr>Vigtige begreber</vt:lpstr>
      <vt:lpstr>Spænding, strøm og modstand</vt:lpstr>
      <vt:lpstr>Spænding</vt:lpstr>
      <vt:lpstr>Strøm</vt:lpstr>
      <vt:lpstr>Strøm</vt:lpstr>
      <vt:lpstr>Modstand</vt:lpstr>
      <vt:lpstr>Ohms lov</vt:lpstr>
      <vt:lpstr>Ohms lov fortsat</vt:lpstr>
      <vt:lpstr>Eksempel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125</cp:revision>
  <dcterms:created xsi:type="dcterms:W3CDTF">2020-04-01T11:50:27Z</dcterms:created>
  <dcterms:modified xsi:type="dcterms:W3CDTF">2026-08-13T06:21:44Z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0x0101004A5C8CDECDFE604A9828CFDC608EFB56</vt:lpwstr>
  </property>
  <property fmtid="{D5CDD505-2E9C-101B-9397-08002B2CF9AE}" pid="3" name="MediaServiceImageTags">
    <vt:lpwstr/>
  </property>
</Properties>
</file>