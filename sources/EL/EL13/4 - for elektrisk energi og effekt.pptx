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12" r:id="rId4"/>
  </p:sldMasterIdLst>
  <p:sldIdLst>
    <p:sldId id="284" r:id="rId5"/>
    <p:sldId id="287" r:id="rId6"/>
    <p:sldId id="257" r:id="rId7"/>
    <p:sldId id="273" r:id="rId8"/>
    <p:sldId id="274" r:id="rId9"/>
    <p:sldId id="267" r:id="rId10"/>
    <p:sldId id="275" r:id="rId11"/>
    <p:sldId id="286" r:id="rId12"/>
    <p:sldId id="283" r:id="rId13"/>
    <p:sldId id="271" r:id="rId14"/>
    <p:sldId id="269" r:id="rId15"/>
    <p:sldId id="277" r:id="rId16"/>
    <p:sldId id="278" r:id="rId17"/>
    <p:sldId id="272" r:id="rId18"/>
    <p:sldId id="279" r:id="rId19"/>
    <p:sldId id="280" r:id="rId20"/>
    <p:sldId id="288" r:id="rId21"/>
    <p:sldId id="282" r:id="rId22"/>
  </p:sldIdLst>
  <p:sldSz cx="9906000" cy="6858000" type="A4"/>
  <p:notesSz cx="9874250" cy="6724650"/>
  <p:embeddedFontLst>
    <p:embeddedFont>
      <p:font typeface="Cambria Math" panose="02040503050406030204" pitchFamily="18" charset="0"/>
      <p:regular r:id="rId23"/>
    </p:embeddedFont>
  </p:embeddedFontLst>
  <p:defaultTextStyle>
    <a:defPPr>
      <a:defRPr lang="da-DK"/>
    </a:defPPr>
    <a:lvl1pPr marL="0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19">
          <p15:clr>
            <a:srgbClr val="A4A3A4"/>
          </p15:clr>
        </p15:guide>
        <p15:guide id="2" pos="31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40360F-E471-4342-8BDB-E8A6A012494E}" v="1" dt="2026-08-17T11:58:19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67" autoAdjust="0"/>
    <p:restoredTop sz="94660"/>
  </p:normalViewPr>
  <p:slideViewPr>
    <p:cSldViewPr snapToGrid="0">
      <p:cViewPr varScale="1">
        <p:scale>
          <a:sx n="95" d="100"/>
          <a:sy n="95" d="100"/>
        </p:scale>
        <p:origin x="749" y="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19"/>
        <p:guide pos="311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Tran Agerholm" userId="dd55e2d3-906e-4a4a-90ea-dda6205f875e" providerId="ADAL" clId="{5EFFF862-C165-4C4A-8B20-E280CAF10480}"/>
    <pc:docChg chg="undo custSel addSld modSld sldOrd">
      <pc:chgData name="Simon Tran Agerholm" userId="dd55e2d3-906e-4a4a-90ea-dda6205f875e" providerId="ADAL" clId="{5EFFF862-C165-4C4A-8B20-E280CAF10480}" dt="2026-08-17T12:06:15.985" v="303" actId="20577"/>
      <pc:docMkLst>
        <pc:docMk/>
      </pc:docMkLst>
      <pc:sldChg chg="delSp modSp mod">
        <pc:chgData name="Simon Tran Agerholm" userId="dd55e2d3-906e-4a4a-90ea-dda6205f875e" providerId="ADAL" clId="{5EFFF862-C165-4C4A-8B20-E280CAF10480}" dt="2026-08-17T12:06:15.985" v="303" actId="20577"/>
        <pc:sldMkLst>
          <pc:docMk/>
          <pc:sldMk cId="3244751328" sldId="282"/>
        </pc:sldMkLst>
        <pc:spChg chg="mod">
          <ac:chgData name="Simon Tran Agerholm" userId="dd55e2d3-906e-4a4a-90ea-dda6205f875e" providerId="ADAL" clId="{5EFFF862-C165-4C4A-8B20-E280CAF10480}" dt="2026-08-17T11:58:23.518" v="239" actId="20577"/>
          <ac:spMkLst>
            <pc:docMk/>
            <pc:sldMk cId="3244751328" sldId="282"/>
            <ac:spMk id="4" creationId="{0935CAF5-2A88-3403-7911-9A70D50C4523}"/>
          </ac:spMkLst>
        </pc:spChg>
        <pc:spChg chg="mod">
          <ac:chgData name="Simon Tran Agerholm" userId="dd55e2d3-906e-4a4a-90ea-dda6205f875e" providerId="ADAL" clId="{5EFFF862-C165-4C4A-8B20-E280CAF10480}" dt="2026-08-17T12:06:15.985" v="303" actId="20577"/>
          <ac:spMkLst>
            <pc:docMk/>
            <pc:sldMk cId="3244751328" sldId="282"/>
            <ac:spMk id="7" creationId="{40E91466-96E6-2048-7E3B-55D097C351A4}"/>
          </ac:spMkLst>
        </pc:spChg>
        <pc:picChg chg="del">
          <ac:chgData name="Simon Tran Agerholm" userId="dd55e2d3-906e-4a4a-90ea-dda6205f875e" providerId="ADAL" clId="{5EFFF862-C165-4C4A-8B20-E280CAF10480}" dt="2026-08-17T11:58:29.547" v="243" actId="478"/>
          <ac:picMkLst>
            <pc:docMk/>
            <pc:sldMk cId="3244751328" sldId="282"/>
            <ac:picMk id="10" creationId="{07A5851A-6571-6243-8D99-6D6687F97AAF}"/>
          </ac:picMkLst>
        </pc:picChg>
        <pc:picChg chg="del">
          <ac:chgData name="Simon Tran Agerholm" userId="dd55e2d3-906e-4a4a-90ea-dda6205f875e" providerId="ADAL" clId="{5EFFF862-C165-4C4A-8B20-E280CAF10480}" dt="2026-08-17T11:58:29.025" v="242" actId="478"/>
          <ac:picMkLst>
            <pc:docMk/>
            <pc:sldMk cId="3244751328" sldId="282"/>
            <ac:picMk id="11" creationId="{3C7A3494-F8B4-38A7-BB49-B9F0D52908F0}"/>
          </ac:picMkLst>
        </pc:picChg>
        <pc:picChg chg="del">
          <ac:chgData name="Simon Tran Agerholm" userId="dd55e2d3-906e-4a4a-90ea-dda6205f875e" providerId="ADAL" clId="{5EFFF862-C165-4C4A-8B20-E280CAF10480}" dt="2026-08-17T11:58:28.471" v="241" actId="478"/>
          <ac:picMkLst>
            <pc:docMk/>
            <pc:sldMk cId="3244751328" sldId="282"/>
            <ac:picMk id="12" creationId="{7924C575-0B04-BDC0-8B0B-074F835ABE82}"/>
          </ac:picMkLst>
        </pc:picChg>
      </pc:sldChg>
      <pc:sldChg chg="add ord">
        <pc:chgData name="Simon Tran Agerholm" userId="dd55e2d3-906e-4a4a-90ea-dda6205f875e" providerId="ADAL" clId="{5EFFF862-C165-4C4A-8B20-E280CAF10480}" dt="2026-08-17T11:59:20.601" v="258"/>
        <pc:sldMkLst>
          <pc:docMk/>
          <pc:sldMk cId="820852474" sldId="28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9" b="14030"/>
          <a:stretch/>
        </p:blipFill>
        <p:spPr>
          <a:xfrm>
            <a:off x="0" y="-1"/>
            <a:ext cx="9906000" cy="5145207"/>
          </a:xfrm>
          <a:prstGeom prst="rect">
            <a:avLst/>
          </a:prstGeom>
        </p:spPr>
      </p:pic>
      <p:sp>
        <p:nvSpPr>
          <p:cNvPr id="7" name="Rektangel 6"/>
          <p:cNvSpPr/>
          <p:nvPr/>
        </p:nvSpPr>
        <p:spPr>
          <a:xfrm>
            <a:off x="0" y="5145206"/>
            <a:ext cx="9906000" cy="84034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384" y="5739931"/>
            <a:ext cx="1537425" cy="560487"/>
          </a:xfrm>
          <a:prstGeom prst="rect">
            <a:avLst/>
          </a:prstGeom>
        </p:spPr>
      </p:pic>
      <p:sp>
        <p:nvSpPr>
          <p:cNvPr id="3" name="Pladsholder til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273050" y="5499100"/>
            <a:ext cx="7200900" cy="521074"/>
          </a:xfrm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 err="1"/>
              <a:t>Præsentationtitel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1" hasCustomPrompt="1"/>
          </p:nvPr>
        </p:nvSpPr>
        <p:spPr>
          <a:xfrm>
            <a:off x="272582" y="6129338"/>
            <a:ext cx="5670550" cy="450850"/>
          </a:xfrm>
        </p:spPr>
        <p:txBody>
          <a:bodyPr/>
          <a:lstStyle>
            <a:lvl2pPr marL="39114" indent="0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da-DK" dirty="0"/>
              <a:t>[Dato, sted, forfatter]</a:t>
            </a:r>
          </a:p>
        </p:txBody>
      </p:sp>
    </p:spTree>
    <p:extLst>
      <p:ext uri="{BB962C8B-B14F-4D97-AF65-F5344CB8AC3E}">
        <p14:creationId xmlns:p14="http://schemas.microsoft.com/office/powerpoint/2010/main" val="172183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ktion 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2352" y="2828920"/>
            <a:ext cx="9361300" cy="901179"/>
          </a:xfrm>
        </p:spPr>
        <p:txBody>
          <a:bodyPr>
            <a:normAutofit/>
          </a:bodyPr>
          <a:lstStyle>
            <a:lvl1pPr algn="ctr">
              <a:defRPr sz="23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SEKTIONS OVERSKRIFT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9" name="Pladsholder til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272353" y="1388728"/>
            <a:ext cx="9361921" cy="1151467"/>
          </a:xfrm>
        </p:spPr>
        <p:txBody>
          <a:bodyPr anchor="ctr">
            <a:noAutofit/>
          </a:bodyPr>
          <a:lstStyle>
            <a:lvl1pPr algn="ctr">
              <a:buNone/>
              <a:defRPr sz="70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a-DK" dirty="0" err="1"/>
              <a:t>Nr</a:t>
            </a:r>
            <a:endParaRPr lang="da-DK" dirty="0"/>
          </a:p>
        </p:txBody>
      </p:sp>
      <p:sp>
        <p:nvSpPr>
          <p:cNvPr id="11" name="Pladsholder til tekst 10"/>
          <p:cNvSpPr>
            <a:spLocks noGrp="1"/>
          </p:cNvSpPr>
          <p:nvPr>
            <p:ph type="body" sz="quarter" idx="14" hasCustomPrompt="1"/>
          </p:nvPr>
        </p:nvSpPr>
        <p:spPr>
          <a:xfrm>
            <a:off x="271727" y="3789050"/>
            <a:ext cx="9362546" cy="2038351"/>
          </a:xfrm>
        </p:spPr>
        <p:txBody>
          <a:bodyPr>
            <a:normAutofit/>
          </a:bodyPr>
          <a:lstStyle>
            <a:lvl1pPr algn="ctr">
              <a:buNone/>
              <a:defRPr lang="da-DK" sz="2100" b="0" i="0" baseline="0" dirty="0">
                <a:solidFill>
                  <a:schemeClr val="bg1">
                    <a:lumMod val="50000"/>
                  </a:schemeClr>
                </a:solidFill>
              </a:defRPr>
            </a:lvl1pPr>
            <a:lvl4pPr>
              <a:buNone/>
              <a:defRPr lang="da-DK" dirty="0"/>
            </a:lvl4pPr>
          </a:lstStyle>
          <a:p>
            <a:pPr lvl="0"/>
            <a:r>
              <a:rPr lang="da-DK" dirty="0"/>
              <a:t>Beskrivende tekst</a:t>
            </a:r>
          </a:p>
        </p:txBody>
      </p:sp>
      <p:sp>
        <p:nvSpPr>
          <p:cNvPr id="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308" y="258165"/>
            <a:ext cx="1537425" cy="56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1157520" cy="366183"/>
          </a:xfrm>
        </p:spPr>
        <p:txBody>
          <a:bodyPr/>
          <a:lstStyle>
            <a:lvl1pPr>
              <a:defRPr sz="1000" b="1" baseline="0">
                <a:solidFill>
                  <a:srgbClr val="006273"/>
                </a:solidFill>
                <a:latin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8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2005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 uden bundstreg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</a:defRPr>
            </a:lvl1pPr>
            <a:lvl2pPr marL="312919" indent="-281255">
              <a:defRPr sz="1400" baseline="0">
                <a:solidFill>
                  <a:srgbClr val="006273"/>
                </a:solidFill>
              </a:defRPr>
            </a:lvl2pPr>
            <a:lvl3pPr marL="528982" indent="-216063">
              <a:defRPr sz="1400" baseline="0">
                <a:solidFill>
                  <a:srgbClr val="006273"/>
                </a:solidFill>
              </a:defRPr>
            </a:lvl3pPr>
            <a:lvl4pPr marL="735733" indent="-206751">
              <a:defRPr sz="1400" baseline="0">
                <a:solidFill>
                  <a:srgbClr val="006273"/>
                </a:solidFill>
              </a:defRPr>
            </a:lvl4pPr>
            <a:lvl5pPr marL="944346" indent="-208613">
              <a:defRPr sz="1400" baseline="0">
                <a:solidFill>
                  <a:srgbClr val="006273"/>
                </a:solidFill>
              </a:defRPr>
            </a:lvl5pPr>
            <a:lvl6pPr>
              <a:defRPr sz="1400" baseline="0">
                <a:solidFill>
                  <a:srgbClr val="006273"/>
                </a:solidFill>
              </a:defRPr>
            </a:lvl6pPr>
            <a:lvl7pPr>
              <a:defRPr sz="1400" baseline="0">
                <a:solidFill>
                  <a:srgbClr val="006273"/>
                </a:solidFill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852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8568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420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80721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dsholder til titel 13"/>
          <p:cNvSpPr>
            <a:spLocks noGrp="1"/>
          </p:cNvSpPr>
          <p:nvPr>
            <p:ph type="title"/>
          </p:nvPr>
        </p:nvSpPr>
        <p:spPr>
          <a:xfrm>
            <a:off x="467404" y="275167"/>
            <a:ext cx="8971196" cy="1143000"/>
          </a:xfrm>
          <a:prstGeom prst="rect">
            <a:avLst/>
          </a:prstGeom>
        </p:spPr>
        <p:txBody>
          <a:bodyPr vert="horz" lIns="107287" tIns="53643" rIns="107287" bIns="53643" rtlCol="0" anchor="ctr">
            <a:normAutofit/>
          </a:bodyPr>
          <a:lstStyle/>
          <a:p>
            <a:r>
              <a:rPr lang="da-DK" dirty="0"/>
              <a:t>KLIK FOR AT REDIGERE TITELTYPOGRAFI I MASTEREN</a:t>
            </a:r>
          </a:p>
        </p:txBody>
      </p:sp>
      <p:sp>
        <p:nvSpPr>
          <p:cNvPr id="16" name="Pladsholder til dato 15"/>
          <p:cNvSpPr>
            <a:spLocks noGrp="1"/>
          </p:cNvSpPr>
          <p:nvPr>
            <p:ph type="dt" sz="half" idx="2"/>
          </p:nvPr>
        </p:nvSpPr>
        <p:spPr>
          <a:xfrm>
            <a:off x="370879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1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18" name="Pladsholder til diasnummer 17"/>
          <p:cNvSpPr>
            <a:spLocks noGrp="1"/>
          </p:cNvSpPr>
          <p:nvPr>
            <p:ph type="sldNum" sz="quarter" idx="4"/>
          </p:nvPr>
        </p:nvSpPr>
        <p:spPr>
          <a:xfrm>
            <a:off x="7000775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Pladsholder til tekst 7"/>
          <p:cNvSpPr>
            <a:spLocks noGrp="1"/>
          </p:cNvSpPr>
          <p:nvPr>
            <p:ph type="body" idx="1"/>
          </p:nvPr>
        </p:nvSpPr>
        <p:spPr>
          <a:xfrm>
            <a:off x="467404" y="1600202"/>
            <a:ext cx="8971196" cy="4525433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/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 err="1"/>
              <a:t>Level</a:t>
            </a:r>
            <a:r>
              <a:rPr lang="da-DK" dirty="0"/>
              <a:t> 6</a:t>
            </a:r>
          </a:p>
          <a:p>
            <a:pPr lvl="6"/>
            <a:r>
              <a:rPr lang="da-DK" dirty="0" err="1"/>
              <a:t>Level</a:t>
            </a:r>
            <a:r>
              <a:rPr lang="da-DK" dirty="0"/>
              <a:t> 7</a:t>
            </a:r>
          </a:p>
          <a:p>
            <a:pPr lvl="5"/>
            <a:endParaRPr 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20" r:id="rId2"/>
    <p:sldLayoutId id="2147483765" r:id="rId3"/>
    <p:sldLayoutId id="2147483768" r:id="rId4"/>
    <p:sldLayoutId id="2147483770" r:id="rId5"/>
    <p:sldLayoutId id="2147483771" r:id="rId6"/>
  </p:sldLayoutIdLst>
  <p:hf hdr="0"/>
  <p:txStyles>
    <p:titleStyle>
      <a:lvl1pPr marL="420951" indent="-420951" algn="l" defTabSz="1072866" rtl="0" eaLnBrk="1" latinLnBrk="0" hangingPunct="1">
        <a:spcBef>
          <a:spcPct val="0"/>
        </a:spcBef>
        <a:buClr>
          <a:schemeClr val="tx2"/>
        </a:buClr>
        <a:buFont typeface="+mj-lt"/>
        <a:buNone/>
        <a:defRPr sz="2800" b="1" kern="1200">
          <a:solidFill>
            <a:srgbClr val="006273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1072866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100" b="1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1pPr>
      <a:lvl2pPr marL="312919" indent="-273805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9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2pPr>
      <a:lvl3pPr marL="52898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3pPr>
      <a:lvl4pPr marL="735733" indent="-206751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4pPr>
      <a:lvl5pPr marL="944346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5pPr>
      <a:lvl6pPr marL="1152958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tabLst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6pPr>
      <a:lvl7pPr marL="136902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7pPr>
      <a:lvl8pPr marL="4023246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678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467710" y="1451928"/>
            <a:ext cx="8970890" cy="4737441"/>
          </a:xfrm>
        </p:spPr>
        <p:txBody>
          <a:bodyPr/>
          <a:lstStyle/>
          <a:p>
            <a:endParaRPr lang="da-DK" sz="2100" dirty="0"/>
          </a:p>
          <a:p>
            <a:endParaRPr lang="da-DK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88445645-8C01-3306-4402-B5E4D796F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01" y="1104933"/>
            <a:ext cx="9090889" cy="480067"/>
          </a:xfrm>
        </p:spPr>
        <p:txBody>
          <a:bodyPr/>
          <a:lstStyle/>
          <a:p>
            <a:r>
              <a:rPr lang="da-DK" sz="3600" dirty="0"/>
              <a:t>Elektrisk energi og effekt</a:t>
            </a:r>
          </a:p>
        </p:txBody>
      </p:sp>
      <p:sp>
        <p:nvSpPr>
          <p:cNvPr id="14" name="Pladsholder til tekst 2">
            <a:extLst>
              <a:ext uri="{FF2B5EF4-FFF2-40B4-BE49-F238E27FC236}">
                <a16:creationId xmlns:a16="http://schemas.microsoft.com/office/drawing/2014/main" id="{0FC8537A-EE90-25AB-853A-FA0733352C8C}"/>
              </a:ext>
            </a:extLst>
          </p:cNvPr>
          <p:cNvSpPr txBox="1">
            <a:spLocks/>
          </p:cNvSpPr>
          <p:nvPr/>
        </p:nvSpPr>
        <p:spPr>
          <a:xfrm>
            <a:off x="467400" y="5412170"/>
            <a:ext cx="5670550" cy="450850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defPPr>
              <a:defRPr lang="da-DK"/>
            </a:defPPr>
            <a:lvl1pPr marL="0" algn="l" defTabSz="1072866" rtl="0" eaLnBrk="1" latinLnBrk="0" hangingPunct="1">
              <a:defRPr sz="1000" b="1" kern="120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36433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800" dirty="0"/>
              <a:t>Simon Tran Agerholm forår 2025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B712C4C5-2F81-BC55-92B1-C5D5725DD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49" y="1709737"/>
            <a:ext cx="4650317" cy="358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1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0545EC0B-96A7-B23C-F9BE-E8297436E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22BC2C7-225A-884A-B1A7-8F7041F94F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Eksempel opgave 1 – 8 i denne PowerPoint </a:t>
            </a:r>
          </a:p>
          <a:p>
            <a:r>
              <a:rPr lang="da-DK" dirty="0"/>
              <a:t>+ 3.14 (lidt svær, men tænk på hvilken side af komponenterne de forskellige effekter regnes og derefter husk på side 4 i denne PP).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D164451-D72F-C511-A840-D3D50CAB7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 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248E5A0-2477-17BC-5C5F-108FE3A993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65CE6DB-6044-CA31-BBEF-05E3E1329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24073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467710" y="1451928"/>
            <a:ext cx="8970890" cy="4737441"/>
          </a:xfrm>
        </p:spPr>
        <p:txBody>
          <a:bodyPr/>
          <a:lstStyle/>
          <a:p>
            <a:endParaRPr lang="da-DK" sz="2100" dirty="0"/>
          </a:p>
          <a:p>
            <a:r>
              <a:rPr lang="da-DK" sz="2100" dirty="0"/>
              <a:t>Har du et eksempel på arbejde, som udføres? Det kan være:</a:t>
            </a:r>
          </a:p>
          <a:p>
            <a:endParaRPr lang="da-DK" sz="2100" dirty="0"/>
          </a:p>
          <a:p>
            <a:pPr marL="342900" indent="-342900">
              <a:buFontTx/>
              <a:buChar char="-"/>
            </a:pPr>
            <a:r>
              <a:rPr lang="da-DK" sz="2100" dirty="0"/>
              <a:t>Mekanisk</a:t>
            </a:r>
          </a:p>
          <a:p>
            <a:pPr marL="342900" indent="-342900">
              <a:buFontTx/>
              <a:buChar char="-"/>
            </a:pPr>
            <a:r>
              <a:rPr lang="da-DK" sz="2100" dirty="0"/>
              <a:t>Elektrisk</a:t>
            </a:r>
          </a:p>
          <a:p>
            <a:pPr marL="342900" indent="-342900">
              <a:buFontTx/>
              <a:buChar char="-"/>
            </a:pPr>
            <a:r>
              <a:rPr lang="da-DK" sz="2100" dirty="0"/>
              <a:t>Termisk</a:t>
            </a:r>
          </a:p>
          <a:p>
            <a:pPr marL="342900" indent="-342900">
              <a:buFontTx/>
              <a:buChar char="-"/>
            </a:pPr>
            <a:r>
              <a:rPr lang="da-DK" sz="2100" dirty="0"/>
              <a:t>Kemisk</a:t>
            </a:r>
          </a:p>
          <a:p>
            <a:endParaRPr lang="da-DK" sz="2100" dirty="0"/>
          </a:p>
          <a:p>
            <a:r>
              <a:rPr lang="da-DK" sz="2100" dirty="0"/>
              <a:t>W	arbejde, energi [J]=[Nm]=[Ws] (=[cal] – ikke SI enhed)</a:t>
            </a:r>
          </a:p>
          <a:p>
            <a:endParaRPr lang="da-DK" sz="2100" dirty="0"/>
          </a:p>
          <a:p>
            <a:r>
              <a:rPr lang="da-DK" sz="2100" dirty="0"/>
              <a:t>Enheden er typisk i kJ eller kWh</a:t>
            </a:r>
          </a:p>
          <a:p>
            <a:pPr marL="285750" indent="-285750">
              <a:buFontTx/>
              <a:buChar char="-"/>
            </a:pPr>
            <a:endParaRPr lang="da-DK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369891" y="971861"/>
            <a:ext cx="9090889" cy="480067"/>
          </a:xfrm>
        </p:spPr>
        <p:txBody>
          <a:bodyPr/>
          <a:lstStyle/>
          <a:p>
            <a:r>
              <a:rPr lang="da-DK" dirty="0"/>
              <a:t>Arbejde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8" name="Billede 7" descr="Et billede, der indeholder mad, slik, konfekture, Snack&#10;&#10;AI-genereret indhold kan være ukorrekt.">
            <a:extLst>
              <a:ext uri="{FF2B5EF4-FFF2-40B4-BE49-F238E27FC236}">
                <a16:creationId xmlns:a16="http://schemas.microsoft.com/office/drawing/2014/main" id="{E2EF3E36-1A83-0F32-5F35-49E0DBB7F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8417"/>
            <a:ext cx="3528366" cy="1188823"/>
          </a:xfrm>
          <a:prstGeom prst="rect">
            <a:avLst/>
          </a:prstGeom>
        </p:spPr>
      </p:pic>
      <p:pic>
        <p:nvPicPr>
          <p:cNvPr id="12" name="Billede 11" descr="Et billede, der indeholder tekst, skærmbillede, Font/skrifttype, hvid&#10;&#10;AI-genereret indhold kan være ukorrekt.">
            <a:extLst>
              <a:ext uri="{FF2B5EF4-FFF2-40B4-BE49-F238E27FC236}">
                <a16:creationId xmlns:a16="http://schemas.microsoft.com/office/drawing/2014/main" id="{796594D5-480B-C783-FB00-8CE8BA1D5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95942"/>
            <a:ext cx="4648603" cy="784928"/>
          </a:xfrm>
          <a:prstGeom prst="rect">
            <a:avLst/>
          </a:prstGeom>
        </p:spPr>
      </p:pic>
      <p:pic>
        <p:nvPicPr>
          <p:cNvPr id="14" name="Billede 13" descr="Et billede, der indeholder tekst, skærmbillede, Font/skrifttype, nummer/tal&#10;&#10;AI-genereret indhold kan være ukorrekt.">
            <a:extLst>
              <a:ext uri="{FF2B5EF4-FFF2-40B4-BE49-F238E27FC236}">
                <a16:creationId xmlns:a16="http://schemas.microsoft.com/office/drawing/2014/main" id="{8949181C-38E0-951B-1A05-41FF1088B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603" y="884217"/>
            <a:ext cx="4747671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4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67710" y="1451928"/>
                <a:ext cx="8970890" cy="4737441"/>
              </a:xfrm>
            </p:spPr>
            <p:txBody>
              <a:bodyPr/>
              <a:lstStyle/>
              <a:p>
                <a:r>
                  <a:rPr lang="da-DK" sz="2100" dirty="0"/>
                  <a:t>Tilført arbejde er ikke det samme som afgiven arbejde, da der vil være et tab i for eksempel en motor. Dette tab beskrives som en virkningsgrad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 kern="15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2400" i="1" kern="15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da-DK" sz="2400" i="1" kern="15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𝑡𝑎𝑏</m:t>
                        </m:r>
                      </m:sub>
                    </m:sSub>
                    <m:r>
                      <a:rPr lang="da-DK" sz="2400" i="1" kern="150" baseline="-250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da-DK" sz="2400" i="1" kern="15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2400" i="1" kern="15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da-DK" sz="2400" i="1" kern="15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𝑖𝑛𝑑</m:t>
                        </m:r>
                      </m:sub>
                    </m:sSub>
                    <m:r>
                      <a:rPr lang="da-DK" sz="2400" i="1" kern="150" baseline="-250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da-DK" sz="2400" i="1" kern="15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2400" i="1" kern="15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da-DK" sz="2400" i="1" kern="150" baseline="-250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𝑢𝑑</m:t>
                        </m:r>
                      </m:sub>
                    </m:sSub>
                  </m:oMath>
                </a14:m>
                <a:r>
                  <a:rPr lang="da-DK" sz="2400" kern="15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da-DK" sz="2400" kern="15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Bemærk: Energi forsvinder ikke!</a:t>
                </a:r>
              </a:p>
              <a:p>
                <a:r>
                  <a:rPr lang="da-DK" sz="2400" kern="15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		       </a:t>
                </a:r>
                <a:r>
                  <a:rPr lang="da-DK" sz="3600" kern="15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da-DK" sz="3600" kern="150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tab</a:t>
                </a:r>
                <a:endParaRPr lang="da-DK" sz="3600" dirty="0"/>
              </a:p>
              <a:p>
                <a:endParaRPr lang="da-DK" sz="2100" dirty="0"/>
              </a:p>
              <a:p>
                <a:endParaRPr lang="da-DK" sz="2100" dirty="0"/>
              </a:p>
              <a:p>
                <a:r>
                  <a:rPr lang="da-DK" sz="2100" dirty="0"/>
                  <a:t>     </a:t>
                </a:r>
                <a:r>
                  <a:rPr lang="da-DK" sz="3600" kern="15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da-DK" sz="3600" kern="15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ind	                          				         </a:t>
                </a:r>
                <a:r>
                  <a:rPr lang="da-DK" sz="3600" kern="15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da-DK" sz="3600" kern="150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ud</a:t>
                </a:r>
                <a:endParaRPr lang="da-DK" sz="3600" kern="15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2100" dirty="0"/>
              </a:p>
              <a:p>
                <a:endParaRPr lang="da-DK" sz="2100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67710" y="1451928"/>
                <a:ext cx="8970890" cy="4737441"/>
              </a:xfrm>
              <a:blipFill>
                <a:blip r:embed="rId2"/>
                <a:stretch>
                  <a:fillRect l="-680" t="-64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369891" y="971861"/>
            <a:ext cx="9090889" cy="480067"/>
          </a:xfrm>
        </p:spPr>
        <p:txBody>
          <a:bodyPr/>
          <a:lstStyle/>
          <a:p>
            <a:r>
              <a:rPr lang="da-DK" dirty="0"/>
              <a:t>Arbejde fortsat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9D80EF4A-C391-8A82-A604-7C784D9D0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180" y="3677751"/>
            <a:ext cx="2953496" cy="2331218"/>
          </a:xfrm>
          <a:prstGeom prst="rect">
            <a:avLst/>
          </a:prstGeom>
          <a:effectLst/>
          <a:scene3d>
            <a:camera prst="orthographicFront">
              <a:rot lat="0" lon="10799999" rev="0"/>
            </a:camera>
            <a:lightRig rig="threePt" dir="t"/>
          </a:scene3d>
        </p:spPr>
      </p:pic>
      <p:sp>
        <p:nvSpPr>
          <p:cNvPr id="10" name="Højrepil 6">
            <a:extLst>
              <a:ext uri="{FF2B5EF4-FFF2-40B4-BE49-F238E27FC236}">
                <a16:creationId xmlns:a16="http://schemas.microsoft.com/office/drawing/2014/main" id="{E2F6D1C9-C151-9BAE-25C0-79CD250C0CB4}"/>
              </a:ext>
            </a:extLst>
          </p:cNvPr>
          <p:cNvSpPr/>
          <p:nvPr/>
        </p:nvSpPr>
        <p:spPr>
          <a:xfrm>
            <a:off x="1921563" y="390649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/>
          </a:p>
        </p:txBody>
      </p:sp>
      <p:sp>
        <p:nvSpPr>
          <p:cNvPr id="11" name="Højrepil 6">
            <a:extLst>
              <a:ext uri="{FF2B5EF4-FFF2-40B4-BE49-F238E27FC236}">
                <a16:creationId xmlns:a16="http://schemas.microsoft.com/office/drawing/2014/main" id="{E2F6D1C9-C151-9BAE-25C0-79CD250C0CB4}"/>
              </a:ext>
            </a:extLst>
          </p:cNvPr>
          <p:cNvSpPr/>
          <p:nvPr/>
        </p:nvSpPr>
        <p:spPr>
          <a:xfrm>
            <a:off x="6355885" y="390649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297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5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67710" y="1451928"/>
                <a:ext cx="8970890" cy="4737441"/>
              </a:xfrm>
            </p:spPr>
            <p:txBody>
              <a:bodyPr/>
              <a:lstStyle/>
              <a:p>
                <a:endParaRPr lang="da-DK" sz="2100" dirty="0"/>
              </a:p>
              <a:p>
                <a:r>
                  <a:rPr lang="da-DK" sz="2100" dirty="0">
                    <a:solidFill>
                      <a:srgbClr val="00B050"/>
                    </a:solidFill>
                  </a:rPr>
                  <a:t>Byrde der løftes:</a:t>
                </a:r>
              </a:p>
              <a:p>
                <a:r>
                  <a:rPr lang="da-DK" sz="2100" dirty="0">
                    <a:solidFill>
                      <a:srgbClr val="00B050"/>
                    </a:solidFill>
                  </a:rPr>
                  <a:t>F = m · g	</a:t>
                </a:r>
                <a:br>
                  <a:rPr lang="da-DK" sz="2100" dirty="0">
                    <a:solidFill>
                      <a:srgbClr val="00B050"/>
                    </a:solidFill>
                  </a:rPr>
                </a:br>
                <a:r>
                  <a:rPr lang="da-DK" sz="2100" dirty="0">
                    <a:solidFill>
                      <a:srgbClr val="00B050"/>
                    </a:solidFill>
                  </a:rPr>
                  <a:t>Læses: kraft lig masse gange</a:t>
                </a:r>
                <a:br>
                  <a:rPr lang="da-DK" sz="2100" dirty="0">
                    <a:solidFill>
                      <a:srgbClr val="00B050"/>
                    </a:solidFill>
                  </a:rPr>
                </a:br>
                <a:r>
                  <a:rPr lang="da-DK" sz="2100" dirty="0">
                    <a:solidFill>
                      <a:srgbClr val="00B050"/>
                    </a:solidFill>
                  </a:rPr>
                  <a:t>tyngdeacceleration</a:t>
                </a:r>
              </a:p>
              <a:p>
                <a:r>
                  <a:rPr lang="da-DK" sz="2100" dirty="0">
                    <a:solidFill>
                      <a:srgbClr val="00B050"/>
                    </a:solidFill>
                  </a:rPr>
                  <a:t>g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800" i="1" kern="15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800" i="1" kern="15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da-DK" sz="1800" i="1" kern="15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da-DK" sz="1800" i="1" kern="15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a-DK" sz="1800" i="1" kern="15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da-DK" sz="2100" dirty="0">
                    <a:solidFill>
                      <a:srgbClr val="00B050"/>
                    </a:solidFill>
                  </a:rPr>
                  <a:t>]</a:t>
                </a:r>
              </a:p>
              <a:p>
                <a:endParaRPr lang="da-DK" sz="2100" dirty="0"/>
              </a:p>
              <a:p>
                <a:r>
                  <a:rPr lang="da-DK" sz="2100" dirty="0"/>
                  <a:t>Arbejdet:</a:t>
                </a:r>
              </a:p>
              <a:p>
                <a:r>
                  <a:rPr lang="da-DK" sz="2100" dirty="0"/>
                  <a:t>W = F · s	 </a:t>
                </a:r>
                <a:br>
                  <a:rPr lang="da-DK" sz="2100" dirty="0"/>
                </a:br>
                <a:r>
                  <a:rPr lang="da-DK" sz="2100" dirty="0"/>
                  <a:t>Læses: arbejde lig kraft gange</a:t>
                </a:r>
                <a:br>
                  <a:rPr lang="da-DK" sz="2100" dirty="0"/>
                </a:br>
                <a:r>
                  <a:rPr lang="da-DK" sz="2100" dirty="0"/>
                  <a:t>strækning</a:t>
                </a:r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67710" y="1451928"/>
                <a:ext cx="8970890" cy="4737441"/>
              </a:xfrm>
              <a:blipFill>
                <a:blip r:embed="rId2"/>
                <a:stretch>
                  <a:fillRect l="-68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369891" y="971861"/>
            <a:ext cx="9090889" cy="480067"/>
          </a:xfrm>
        </p:spPr>
        <p:txBody>
          <a:bodyPr/>
          <a:lstStyle/>
          <a:p>
            <a:r>
              <a:rPr lang="da-DK" dirty="0"/>
              <a:t>Arbejde fortsat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7" name="Billede 6" descr="Et billede, der indeholder transport, kran&#10;&#10;Automatisk genereret beskrivelse">
            <a:extLst>
              <a:ext uri="{FF2B5EF4-FFF2-40B4-BE49-F238E27FC236}">
                <a16:creationId xmlns:a16="http://schemas.microsoft.com/office/drawing/2014/main" id="{F2317DDF-A429-3259-17D3-B23A6E4E9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858" y="1746567"/>
            <a:ext cx="3848100" cy="336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921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6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07557" y="1634360"/>
                <a:ext cx="9031043" cy="4555010"/>
              </a:xfrm>
            </p:spPr>
            <p:txBody>
              <a:bodyPr/>
              <a:lstStyle/>
              <a:p>
                <a:r>
                  <a:rPr lang="da-DK" dirty="0">
                    <a:solidFill>
                      <a:srgbClr val="00B050"/>
                    </a:solidFill>
                  </a:rPr>
                  <a:t>Effekt kan læses resultat eller virkning – hvor effektivt sker arbejdet?</a:t>
                </a:r>
              </a:p>
              <a:p>
                <a:endParaRPr lang="da-DK" dirty="0">
                  <a:solidFill>
                    <a:srgbClr val="00B050"/>
                  </a:solidFill>
                </a:endParaRPr>
              </a:p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da-DK" sz="1800" i="1" kern="15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da-DK" sz="1800" i="1" kern="15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800" i="1" kern="15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800" i="1" kern="15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𝑊</m:t>
                        </m:r>
                      </m:num>
                      <m:den>
                        <m:r>
                          <a:rPr lang="da-DK" sz="1800" i="1" kern="15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da-DK" sz="1800" kern="15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da-DK" sz="1800" i="1" kern="15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da-DK" sz="1800" i="1" kern="15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sz="1800" i="1" kern="15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da-DK" sz="1800" i="1" kern="15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da-DK" sz="1800" i="1" kern="15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da-DK" sz="1800" kern="15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	gælder kun jævnstrømskreds (DC)</a:t>
                </a:r>
              </a:p>
              <a:p>
                <a:endParaRPr lang="da-DK" dirty="0">
                  <a:solidFill>
                    <a:srgbClr val="00B050"/>
                  </a:solidFill>
                </a:endParaRPr>
              </a:p>
              <a:p>
                <a:r>
                  <a:rPr lang="da-DK" dirty="0">
                    <a:solidFill>
                      <a:srgbClr val="002060"/>
                    </a:solidFill>
                  </a:rPr>
                  <a:t>P	effekt [W] = [J/s] = [Nm/s]	(vi anvender enheden Watt)</a:t>
                </a:r>
              </a:p>
              <a:p>
                <a:r>
                  <a:rPr lang="da-DK" sz="1800" dirty="0">
                    <a:solidFill>
                      <a:srgbClr val="002060"/>
                    </a:solidFill>
                  </a:rPr>
                  <a:t>W	arbejde, energi [J]=[Nm]=[Ws] (=[cal] – ikke SI enhed)</a:t>
                </a:r>
              </a:p>
              <a:p>
                <a:r>
                  <a:rPr lang="da-DK" dirty="0">
                    <a:solidFill>
                      <a:srgbClr val="002060"/>
                    </a:solidFill>
                  </a:rPr>
                  <a:t>t	tiden [s]</a:t>
                </a:r>
              </a:p>
              <a:p>
                <a:r>
                  <a:rPr lang="da-DK" dirty="0">
                    <a:solidFill>
                      <a:srgbClr val="002060"/>
                    </a:solidFill>
                  </a:rPr>
                  <a:t>U	spændingen [V]</a:t>
                </a:r>
              </a:p>
              <a:p>
                <a:r>
                  <a:rPr lang="da-DK" dirty="0">
                    <a:solidFill>
                      <a:srgbClr val="002060"/>
                    </a:solidFill>
                  </a:rPr>
                  <a:t>I	strømmen [A]</a:t>
                </a:r>
              </a:p>
              <a:p>
                <a:endParaRPr lang="da-DK" u="sng" dirty="0">
                  <a:solidFill>
                    <a:srgbClr val="00B0F0"/>
                  </a:solidFill>
                </a:endParaRPr>
              </a:p>
              <a:p>
                <a:endParaRPr lang="da-DK" u="sng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07557" y="1634360"/>
                <a:ext cx="9031043" cy="4555010"/>
              </a:xfrm>
              <a:blipFill>
                <a:blip r:embed="rId2"/>
                <a:stretch>
                  <a:fillRect l="-405" t="-53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1103240"/>
            <a:ext cx="9090889" cy="480067"/>
          </a:xfrm>
        </p:spPr>
        <p:txBody>
          <a:bodyPr/>
          <a:lstStyle/>
          <a:p>
            <a:r>
              <a:rPr lang="da-DK" dirty="0"/>
              <a:t>Effekt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4058301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B16768BE-EB0E-1818-5740-64322C325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979" y="3250642"/>
            <a:ext cx="2710620" cy="3376246"/>
          </a:xfrm>
          <a:prstGeom prst="rect">
            <a:avLst/>
          </a:prstGeom>
        </p:spPr>
      </p:pic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7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407557" y="1634360"/>
            <a:ext cx="9031043" cy="4555010"/>
          </a:xfrm>
        </p:spPr>
        <p:txBody>
          <a:bodyPr/>
          <a:lstStyle/>
          <a:p>
            <a:r>
              <a:rPr lang="da-DK" sz="2400" dirty="0">
                <a:solidFill>
                  <a:srgbClr val="00B050"/>
                </a:solidFill>
              </a:rPr>
              <a:t>Da W = P · t kan en stor og lille maskine udføre det samme arbejde, dog skal den lille maskine være længere tid i drift.</a:t>
            </a:r>
          </a:p>
          <a:p>
            <a:endParaRPr lang="da-DK" sz="2400" u="sng" dirty="0">
              <a:solidFill>
                <a:srgbClr val="00B0F0"/>
              </a:solidFill>
            </a:endParaRPr>
          </a:p>
          <a:p>
            <a:r>
              <a:rPr lang="da-DK" sz="2400" dirty="0"/>
              <a:t>Hvis du kigger på din </a:t>
            </a:r>
            <a:r>
              <a:rPr lang="da-DK" sz="2400" dirty="0" err="1"/>
              <a:t>el-måler</a:t>
            </a:r>
            <a:r>
              <a:rPr lang="da-DK" sz="2400" dirty="0"/>
              <a:t> hjemme afregnes i kWh (W = P · t)</a:t>
            </a: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2400" dirty="0">
              <a:solidFill>
                <a:srgbClr val="00B0F0"/>
              </a:solidFill>
            </a:endParaRPr>
          </a:p>
          <a:p>
            <a:r>
              <a:rPr lang="da-DK" sz="2400" dirty="0">
                <a:solidFill>
                  <a:srgbClr val="00B0F0"/>
                </a:solidFill>
              </a:rPr>
              <a:t>Omregning: 1 HK = 736 W</a:t>
            </a:r>
            <a:br>
              <a:rPr lang="da-DK" sz="2400" dirty="0">
                <a:solidFill>
                  <a:srgbClr val="00B0F0"/>
                </a:solidFill>
              </a:rPr>
            </a:br>
            <a:r>
              <a:rPr lang="da-DK" sz="2400" dirty="0">
                <a:solidFill>
                  <a:srgbClr val="00B0F0"/>
                </a:solidFill>
              </a:rPr>
              <a:t>Se øvrige omregninger i bogen</a:t>
            </a:r>
            <a:br>
              <a:rPr lang="da-DK" sz="2400" dirty="0">
                <a:solidFill>
                  <a:srgbClr val="00B0F0"/>
                </a:solidFill>
              </a:rPr>
            </a:br>
            <a:r>
              <a:rPr lang="da-DK" sz="2400" dirty="0">
                <a:solidFill>
                  <a:srgbClr val="00B0F0"/>
                </a:solidFill>
              </a:rPr>
              <a:t>(kapitel 1.5.3)</a:t>
            </a: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1103240"/>
            <a:ext cx="9090889" cy="480067"/>
          </a:xfrm>
        </p:spPr>
        <p:txBody>
          <a:bodyPr/>
          <a:lstStyle/>
          <a:p>
            <a:r>
              <a:rPr lang="da-DK" dirty="0"/>
              <a:t>Effekt fortsat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378834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lede 9">
            <a:extLst>
              <a:ext uri="{FF2B5EF4-FFF2-40B4-BE49-F238E27FC236}">
                <a16:creationId xmlns:a16="http://schemas.microsoft.com/office/drawing/2014/main" id="{4EAC0D39-DE93-BA82-4EFD-69C6D960B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727" y="4207018"/>
            <a:ext cx="5083538" cy="1914786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04A99BAA-25D8-1DDC-3A33-E0416C4D7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727" y="2058466"/>
            <a:ext cx="4777849" cy="2148552"/>
          </a:xfrm>
          <a:prstGeom prst="rect">
            <a:avLst/>
          </a:prstGeom>
        </p:spPr>
      </p:pic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8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331357" y="1626023"/>
            <a:ext cx="9031043" cy="4555010"/>
          </a:xfrm>
        </p:spPr>
        <p:txBody>
          <a:bodyPr/>
          <a:lstStyle/>
          <a:p>
            <a:r>
              <a:rPr lang="da-DK" sz="1800" dirty="0">
                <a:solidFill>
                  <a:srgbClr val="00B050"/>
                </a:solidFill>
              </a:rPr>
              <a:t>Omregning af enheder for energi:</a:t>
            </a:r>
          </a:p>
          <a:p>
            <a:endParaRPr lang="da-DK" sz="1800" dirty="0">
              <a:solidFill>
                <a:srgbClr val="00B050"/>
              </a:solidFill>
            </a:endParaRPr>
          </a:p>
          <a:p>
            <a:r>
              <a:rPr lang="da-DK" dirty="0">
                <a:solidFill>
                  <a:srgbClr val="00B0F0"/>
                </a:solidFill>
              </a:rPr>
              <a:t>5 </a:t>
            </a:r>
            <a:r>
              <a:rPr lang="da-DK" dirty="0" err="1">
                <a:solidFill>
                  <a:srgbClr val="00B0F0"/>
                </a:solidFill>
              </a:rPr>
              <a:t>HKh</a:t>
            </a:r>
            <a:r>
              <a:rPr lang="da-DK" dirty="0">
                <a:solidFill>
                  <a:srgbClr val="00B0F0"/>
                </a:solidFill>
              </a:rPr>
              <a:t> = </a:t>
            </a:r>
            <a:r>
              <a:rPr lang="da-DK" sz="1800" kern="100" dirty="0">
                <a:solidFill>
                  <a:srgbClr val="00B0F0"/>
                </a:solidFill>
                <a:effectLst/>
                <a:ea typeface="Aptos" panose="020B0004020202020204" pitchFamily="34" charset="0"/>
              </a:rPr>
              <a:t>5 ∙ 0,736</a:t>
            </a:r>
            <a:r>
              <a:rPr lang="da-DK" dirty="0">
                <a:solidFill>
                  <a:srgbClr val="00B0F0"/>
                </a:solidFill>
              </a:rPr>
              <a:t> = 3,68 kWh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da-DK" dirty="0">
                <a:solidFill>
                  <a:srgbClr val="00B0F0"/>
                </a:solidFill>
              </a:rPr>
              <a:t>3 kWh = </a:t>
            </a:r>
            <a:r>
              <a:rPr lang="da-DK" kern="100" dirty="0">
                <a:solidFill>
                  <a:srgbClr val="00B0F0"/>
                </a:solidFill>
              </a:rPr>
              <a:t>3</a:t>
            </a:r>
            <a:r>
              <a:rPr lang="da-DK" sz="1800" kern="100" dirty="0">
                <a:solidFill>
                  <a:srgbClr val="00B0F0"/>
                </a:solidFill>
                <a:effectLst/>
                <a:ea typeface="Aptos" panose="020B0004020202020204" pitchFamily="34" charset="0"/>
              </a:rPr>
              <a:t> ∙</a:t>
            </a:r>
            <a:r>
              <a:rPr lang="da-DK" dirty="0">
                <a:solidFill>
                  <a:srgbClr val="00B0F0"/>
                </a:solidFill>
              </a:rPr>
              <a:t> 3,6</a:t>
            </a:r>
            <a:r>
              <a:rPr lang="da-DK" sz="1800" kern="100" dirty="0">
                <a:solidFill>
                  <a:srgbClr val="00B0F0"/>
                </a:solidFill>
                <a:effectLst/>
                <a:ea typeface="Aptos" panose="020B0004020202020204" pitchFamily="34" charset="0"/>
              </a:rPr>
              <a:t> ∙ 10</a:t>
            </a:r>
            <a:r>
              <a:rPr lang="da-DK" sz="1800" kern="100" baseline="30000" dirty="0">
                <a:solidFill>
                  <a:srgbClr val="00B0F0"/>
                </a:solidFill>
                <a:effectLst/>
                <a:ea typeface="Aptos" panose="020B0004020202020204" pitchFamily="34" charset="0"/>
              </a:rPr>
              <a:t>6</a:t>
            </a:r>
            <a:r>
              <a:rPr lang="da-DK" sz="1800" kern="100" dirty="0">
                <a:solidFill>
                  <a:srgbClr val="00B0F0"/>
                </a:solidFill>
                <a:effectLst/>
                <a:ea typeface="Aptos" panose="020B0004020202020204" pitchFamily="34" charset="0"/>
              </a:rPr>
              <a:t> = 10800000 J</a:t>
            </a:r>
            <a:br>
              <a:rPr lang="da-DK" sz="1800" kern="100" dirty="0">
                <a:solidFill>
                  <a:srgbClr val="00B0F0"/>
                </a:solidFill>
                <a:effectLst/>
                <a:ea typeface="Aptos" panose="020B0004020202020204" pitchFamily="34" charset="0"/>
              </a:rPr>
            </a:br>
            <a:r>
              <a:rPr lang="da-DK" sz="1800" kern="100" dirty="0">
                <a:solidFill>
                  <a:srgbClr val="00B0F0"/>
                </a:solidFill>
                <a:effectLst/>
                <a:ea typeface="Aptos" panose="020B0004020202020204" pitchFamily="34" charset="0"/>
              </a:rPr>
              <a:t>		= 10,8 MJ</a:t>
            </a:r>
          </a:p>
          <a:p>
            <a:endParaRPr lang="da-DK" dirty="0">
              <a:solidFill>
                <a:srgbClr val="00B050"/>
              </a:solidFill>
            </a:endParaRPr>
          </a:p>
          <a:p>
            <a:r>
              <a:rPr lang="da-DK" dirty="0">
                <a:solidFill>
                  <a:srgbClr val="00B050"/>
                </a:solidFill>
              </a:rPr>
              <a:t>Omregning effekt:</a:t>
            </a:r>
          </a:p>
          <a:p>
            <a:endParaRPr lang="da-DK" dirty="0">
              <a:solidFill>
                <a:srgbClr val="00B050"/>
              </a:solidFill>
            </a:endParaRPr>
          </a:p>
          <a:p>
            <a:r>
              <a:rPr lang="da-DK" dirty="0">
                <a:solidFill>
                  <a:srgbClr val="00B0F0"/>
                </a:solidFill>
              </a:rPr>
              <a:t>9 kW = 9</a:t>
            </a:r>
            <a:r>
              <a:rPr lang="da-DK" kern="100" dirty="0">
                <a:solidFill>
                  <a:srgbClr val="00B0F0"/>
                </a:solidFill>
                <a:effectLst/>
                <a:ea typeface="Aptos" panose="020B0004020202020204" pitchFamily="34" charset="0"/>
              </a:rPr>
              <a:t> : 0,736</a:t>
            </a:r>
            <a:r>
              <a:rPr lang="da-DK" dirty="0">
                <a:solidFill>
                  <a:srgbClr val="00B0F0"/>
                </a:solidFill>
              </a:rPr>
              <a:t> = 12,23 HK</a:t>
            </a:r>
            <a:br>
              <a:rPr lang="da-DK" dirty="0">
                <a:solidFill>
                  <a:srgbClr val="00B0F0"/>
                </a:solidFill>
              </a:rPr>
            </a:br>
            <a:r>
              <a:rPr lang="da-DK" dirty="0">
                <a:solidFill>
                  <a:srgbClr val="00B0F0"/>
                </a:solidFill>
              </a:rPr>
              <a:t>7000 J/s = 7 kW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1103240"/>
            <a:ext cx="9090889" cy="480067"/>
          </a:xfrm>
        </p:spPr>
        <p:txBody>
          <a:bodyPr/>
          <a:lstStyle/>
          <a:p>
            <a:r>
              <a:rPr lang="da-DK" dirty="0"/>
              <a:t>Omregning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1088706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13DE7878-21B9-18FF-3E75-E5B38A75A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37" y="1419630"/>
            <a:ext cx="7844686" cy="5072846"/>
          </a:xfrm>
          <a:prstGeom prst="rect">
            <a:avLst/>
          </a:prstGeom>
        </p:spPr>
      </p:pic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9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407557" y="1634360"/>
            <a:ext cx="9031043" cy="4555010"/>
          </a:xfrm>
        </p:spPr>
        <p:txBody>
          <a:bodyPr/>
          <a:lstStyle/>
          <a:p>
            <a:endParaRPr lang="da-DK" u="sng" dirty="0">
              <a:solidFill>
                <a:srgbClr val="00B0F0"/>
              </a:solidFill>
            </a:endParaRPr>
          </a:p>
          <a:p>
            <a:endParaRPr lang="da-DK" u="sng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1103240"/>
            <a:ext cx="9090889" cy="480067"/>
          </a:xfrm>
        </p:spPr>
        <p:txBody>
          <a:bodyPr/>
          <a:lstStyle/>
          <a:p>
            <a:r>
              <a:rPr lang="da-DK" dirty="0"/>
              <a:t>Omregningstabel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1374607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10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47577" y="1557031"/>
                <a:ext cx="8633210" cy="4811871"/>
              </a:xfrm>
            </p:spPr>
            <p:txBody>
              <a:bodyPr wrap="none" tIns="36000" bIns="108000">
                <a:noAutofit/>
              </a:bodyPr>
              <a:lstStyle/>
              <a:p>
                <a:r>
                  <a:rPr lang="da-DK" dirty="0">
                    <a:solidFill>
                      <a:schemeClr val="tx1"/>
                    </a:solidFill>
                  </a:rPr>
                  <a:t>Rotoren i en motor drejer med en roterende bevægelse.</a:t>
                </a:r>
              </a:p>
              <a:p>
                <a:r>
                  <a:rPr lang="el-GR" dirty="0">
                    <a:solidFill>
                      <a:srgbClr val="00B050"/>
                    </a:solidFill>
                  </a:rPr>
                  <a:t>ω</a:t>
                </a:r>
                <a:r>
                  <a:rPr lang="da-DK" dirty="0">
                    <a:solidFill>
                      <a:srgbClr val="00B050"/>
                    </a:solidFill>
                  </a:rPr>
                  <a:t> = 2</a:t>
                </a:r>
                <a:r>
                  <a:rPr lang="el-GR" dirty="0">
                    <a:solidFill>
                      <a:srgbClr val="00B050"/>
                    </a:solidFill>
                  </a:rPr>
                  <a:t>π</a:t>
                </a:r>
                <a:r>
                  <a:rPr lang="da-DK" dirty="0">
                    <a:solidFill>
                      <a:srgbClr val="00B050"/>
                    </a:solidFill>
                  </a:rPr>
                  <a:t> · n	ω	vinkelhastigheden [rad/s]</a:t>
                </a:r>
              </a:p>
              <a:p>
                <a:r>
                  <a:rPr lang="da-DK" dirty="0">
                    <a:solidFill>
                      <a:srgbClr val="00B050"/>
                    </a:solidFill>
                  </a:rPr>
                  <a:t>		n	Omdrejninger per sekund [rad/s]</a:t>
                </a:r>
              </a:p>
              <a:p>
                <a:r>
                  <a:rPr lang="da-DK" dirty="0">
                    <a:solidFill>
                      <a:srgbClr val="00B050"/>
                    </a:solidFill>
                  </a:rPr>
                  <a:t>s = r · v			strækning i meter [m] med radius [m] og vinkel [rad]</a:t>
                </a:r>
              </a:p>
              <a:p>
                <a:r>
                  <a:rPr lang="da-DK" dirty="0">
                    <a:solidFill>
                      <a:schemeClr val="tx1"/>
                    </a:solidFill>
                  </a:rPr>
                  <a:t>Udledning af formel for sammenhæng mellem effekt og moment:</a:t>
                </a:r>
              </a:p>
              <a:p>
                <a:r>
                  <a:rPr lang="da-DK" dirty="0">
                    <a:solidFill>
                      <a:srgbClr val="00B0F0"/>
                    </a:solidFill>
                  </a:rPr>
                  <a:t>W =</a:t>
                </a:r>
                <a:r>
                  <a:rPr lang="da-DK" dirty="0">
                    <a:solidFill>
                      <a:schemeClr val="tx1"/>
                    </a:solidFill>
                  </a:rPr>
                  <a:t> F· s </a:t>
                </a:r>
                <a:r>
                  <a:rPr lang="da-DK" dirty="0">
                    <a:solidFill>
                      <a:srgbClr val="00B0F0"/>
                    </a:solidFill>
                  </a:rPr>
                  <a:t>= F·</a:t>
                </a:r>
                <a:r>
                  <a:rPr lang="da-DK" dirty="0">
                    <a:solidFill>
                      <a:schemeClr val="tx1"/>
                    </a:solidFill>
                  </a:rPr>
                  <a:t> </a:t>
                </a:r>
                <a:r>
                  <a:rPr lang="da-DK" dirty="0">
                    <a:solidFill>
                      <a:srgbClr val="00B050"/>
                    </a:solidFill>
                  </a:rPr>
                  <a:t>2</a:t>
                </a:r>
                <a:r>
                  <a:rPr lang="el-GR" dirty="0">
                    <a:solidFill>
                      <a:srgbClr val="00B050"/>
                    </a:solidFill>
                  </a:rPr>
                  <a:t>π</a:t>
                </a:r>
                <a:r>
                  <a:rPr lang="da-DK" dirty="0">
                    <a:solidFill>
                      <a:srgbClr val="00B050"/>
                    </a:solidFill>
                  </a:rPr>
                  <a:t> · r · n</a:t>
                </a:r>
                <a:r>
                  <a:rPr lang="da-DK" dirty="0">
                    <a:solidFill>
                      <a:schemeClr val="tx1"/>
                    </a:solidFill>
                  </a:rPr>
                  <a:t>  </a:t>
                </a:r>
              </a:p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da-DK" i="1" kern="1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da-DK" i="1" kern="1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i="1" kern="1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i="1" kern="1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𝑊</m:t>
                        </m:r>
                      </m:num>
                      <m:den>
                        <m:r>
                          <a:rPr lang="da-DK" i="1" kern="1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  <m:r>
                      <a:rPr lang="da-DK" sz="1800" i="1" kern="15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i="0" dirty="0" smtClean="0">
                            <a:solidFill>
                              <a:srgbClr val="00B0F0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i="0" dirty="0" smtClean="0">
                            <a:solidFill>
                              <a:srgbClr val="00B0F0"/>
                            </a:solidFill>
                          </a:rPr>
                          <m:t>F· 2</m:t>
                        </m:r>
                        <m:r>
                          <m:rPr>
                            <m:nor/>
                          </m:rPr>
                          <a:rPr lang="el-GR" i="0" dirty="0" smtClean="0">
                            <a:solidFill>
                              <a:srgbClr val="00B0F0"/>
                            </a:solidFill>
                          </a:rPr>
                          <m:t>π</m:t>
                        </m:r>
                        <m:r>
                          <m:rPr>
                            <m:nor/>
                          </m:rPr>
                          <a:rPr lang="da-DK" i="0" dirty="0" smtClean="0">
                            <a:solidFill>
                              <a:srgbClr val="00B0F0"/>
                            </a:solidFill>
                          </a:rPr>
                          <m:t> · r · n</m:t>
                        </m:r>
                      </m:num>
                      <m:den>
                        <m:r>
                          <a:rPr lang="da-DK" sz="1800" i="1" kern="15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da-DK" sz="1800" kern="15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da-DK" kern="15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0" dirty="0">
                            <a:solidFill>
                              <a:srgbClr val="FF0000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i="0" dirty="0">
                            <a:solidFill>
                              <a:srgbClr val="FF0000"/>
                            </a:solidFill>
                          </a:rPr>
                          <m:t>F· 2</m:t>
                        </m:r>
                        <m:r>
                          <m:rPr>
                            <m:nor/>
                          </m:rPr>
                          <a:rPr lang="el-GR" i="0" dirty="0">
                            <a:solidFill>
                              <a:srgbClr val="FF0000"/>
                            </a:solidFill>
                          </a:rPr>
                          <m:t>π</m:t>
                        </m:r>
                        <m:r>
                          <m:rPr>
                            <m:nor/>
                          </m:rPr>
                          <a:rPr lang="da-DK" i="0" dirty="0">
                            <a:solidFill>
                              <a:srgbClr val="FF0000"/>
                            </a:solidFill>
                          </a:rPr>
                          <m:t> · r · n</m:t>
                        </m:r>
                      </m:num>
                      <m:den>
                        <m:r>
                          <a:rPr lang="da-DK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da-DK" kern="15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da-DK" kern="15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da t=1 [J/s = W]</a:t>
                </a:r>
              </a:p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da-DK" sz="1800" kern="150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 = F · r	[Nm]</a:t>
                </a:r>
                <a:endParaRPr lang="da-DK" i="1" kern="150" dirty="0">
                  <a:solidFill>
                    <a:srgbClr val="FF000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da-DK" i="1" kern="1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da-DK" i="1" kern="1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da-DK" sz="1800" kern="150" dirty="0">
                    <a:effectLst/>
                    <a:ea typeface="Calibri" panose="020F0502020204030204" pitchFamily="34" charset="0"/>
                  </a:rPr>
                  <a:t> </a:t>
                </a:r>
                <a:r>
                  <a:rPr lang="da-DK" kern="150" dirty="0">
                    <a:solidFill>
                      <a:srgbClr val="002060"/>
                    </a:solidFill>
                    <a:ea typeface="Calibri" panose="020F0502020204030204" pitchFamily="34" charset="0"/>
                  </a:rPr>
                  <a:t>M 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0" dirty="0">
                            <a:solidFill>
                              <a:srgbClr val="00B050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i="0" dirty="0">
                            <a:solidFill>
                              <a:srgbClr val="00B050"/>
                            </a:solidFill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l-GR" i="0" dirty="0">
                            <a:solidFill>
                              <a:srgbClr val="00B050"/>
                            </a:solidFill>
                          </a:rPr>
                          <m:t>π</m:t>
                        </m:r>
                        <m:r>
                          <m:rPr>
                            <m:nor/>
                          </m:rPr>
                          <a:rPr lang="da-DK" i="0" dirty="0">
                            <a:solidFill>
                              <a:srgbClr val="00B050"/>
                            </a:solidFill>
                          </a:rPr>
                          <m:t> · n</m:t>
                        </m:r>
                      </m:num>
                      <m:den>
                        <m:r>
                          <a:rPr lang="da-DK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𝟔𝟎</m:t>
                        </m:r>
                      </m:den>
                    </m:f>
                  </m:oMath>
                </a14:m>
                <a:r>
                  <a:rPr lang="da-DK" kern="15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når n indsættes som omdrejninger per minut </a:t>
                </a:r>
                <a:r>
                  <a:rPr lang="da-DK" kern="15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[</a:t>
                </a:r>
                <a:r>
                  <a:rPr lang="da-DK" kern="150" dirty="0" err="1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omdr</a:t>
                </a:r>
                <a:r>
                  <a:rPr lang="da-DK" kern="15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./min]</a:t>
                </a:r>
                <a:endParaRPr lang="da-DK" kern="15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da-DK" i="1" kern="15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da-DK" i="1" kern="15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da-DK" sz="1800" kern="150" dirty="0">
                    <a:solidFill>
                      <a:schemeClr val="tx1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da-DK" kern="150" dirty="0">
                    <a:solidFill>
                      <a:schemeClr val="tx1"/>
                    </a:solidFill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b="0" i="0" dirty="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b="0" i="0" dirty="0" smtClean="0">
                            <a:solidFill>
                              <a:schemeClr val="tx1"/>
                            </a:solidFill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da-DK" i="0" dirty="0" smtClean="0">
                            <a:solidFill>
                              <a:schemeClr val="tx1"/>
                            </a:solidFill>
                          </a:rPr>
                          <m:t> · </m:t>
                        </m:r>
                        <m:r>
                          <m:rPr>
                            <m:nor/>
                          </m:rPr>
                          <a:rPr lang="da-DK" i="0" dirty="0">
                            <a:solidFill>
                              <a:schemeClr val="tx1"/>
                            </a:solidFill>
                          </a:rPr>
                          <m:t>n</m:t>
                        </m:r>
                      </m:num>
                      <m:den>
                        <m:r>
                          <a:rPr lang="da-DK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da-DK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𝟓𝟓</m:t>
                        </m:r>
                      </m:den>
                    </m:f>
                  </m:oMath>
                </a14:m>
                <a:r>
                  <a:rPr lang="da-DK" sz="1800" kern="15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</a:t>
                </a:r>
                <a:r>
                  <a:rPr lang="da-DK" kern="15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[W]</a:t>
                </a:r>
              </a:p>
              <a:p>
                <a14:m>
                  <m:oMath xmlns:m="http://schemas.openxmlformats.org/officeDocument/2006/math">
                    <m:r>
                      <a:rPr lang="da-DK" i="1" kern="15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da-DK" i="1" kern="15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da-DK" kern="150" dirty="0">
                    <a:ea typeface="Calibri" panose="020F0502020204030204" pitchFamily="34" charset="0"/>
                  </a:rPr>
                  <a:t> </a:t>
                </a:r>
                <a:r>
                  <a:rPr lang="da-DK" kern="150" dirty="0">
                    <a:solidFill>
                      <a:srgbClr val="002060"/>
                    </a:solidFill>
                    <a:ea typeface="Calibri" panose="020F0502020204030204" pitchFamily="34" charset="0"/>
                  </a:rPr>
                  <a:t>M ·</a:t>
                </a:r>
                <a:r>
                  <a:rPr lang="da-DK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i="0" dirty="0">
                        <a:solidFill>
                          <a:srgbClr val="00B050"/>
                        </a:solidFill>
                      </a:rPr>
                      <m:t>2</m:t>
                    </m:r>
                    <m:r>
                      <m:rPr>
                        <m:nor/>
                      </m:rPr>
                      <a:rPr lang="el-GR" i="0" dirty="0">
                        <a:solidFill>
                          <a:srgbClr val="00B050"/>
                        </a:solidFill>
                      </a:rPr>
                      <m:t>π</m:t>
                    </m:r>
                    <m:r>
                      <m:rPr>
                        <m:nor/>
                      </m:rPr>
                      <a:rPr lang="da-DK" i="0" dirty="0">
                        <a:solidFill>
                          <a:srgbClr val="00B050"/>
                        </a:solidFill>
                      </a:rPr>
                      <m:t> · </m:t>
                    </m:r>
                    <m:r>
                      <m:rPr>
                        <m:nor/>
                      </m:rPr>
                      <a:rPr lang="da-DK" b="0" i="0" dirty="0" smtClean="0">
                        <a:solidFill>
                          <a:srgbClr val="00B050"/>
                        </a:solidFill>
                      </a:rPr>
                      <m:t>n</m:t>
                    </m:r>
                  </m:oMath>
                </a14:m>
                <a:r>
                  <a:rPr lang="da-DK" i="1" kern="15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da-DK" kern="15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[W]	</a:t>
                </a:r>
                <a:r>
                  <a:rPr lang="da-DK" kern="15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når der bruges </a:t>
                </a:r>
                <a:r>
                  <a:rPr lang="da-DK" kern="150" dirty="0" err="1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mathcad</a:t>
                </a:r>
                <a:r>
                  <a:rPr lang="da-DK" i="1" kern="15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47577" y="1557031"/>
                <a:ext cx="8633210" cy="4811871"/>
              </a:xfrm>
              <a:blipFill>
                <a:blip r:embed="rId2"/>
                <a:stretch>
                  <a:fillRect l="-424" t="-886" r="-5932" b="-189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1076964"/>
            <a:ext cx="9090889" cy="480067"/>
          </a:xfrm>
        </p:spPr>
        <p:txBody>
          <a:bodyPr/>
          <a:lstStyle/>
          <a:p>
            <a:r>
              <a:rPr lang="da-DK" dirty="0"/>
              <a:t>Vinkelhastighed og drejningsmoment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44683B62-91A3-C00B-5041-950E6FC1C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685" y="21624"/>
            <a:ext cx="2918338" cy="211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76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11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16918" y="1407085"/>
                <a:ext cx="9031043" cy="4555010"/>
              </a:xfrm>
            </p:spPr>
            <p:txBody>
              <a:bodyPr/>
              <a:lstStyle/>
              <a:p>
                <a:r>
                  <a:rPr lang="da-DK" kern="100" dirty="0">
                    <a:solidFill>
                      <a:srgbClr val="FF0000"/>
                    </a:solidFill>
                    <a:effectLst/>
                    <a:ea typeface="Calibri" panose="020F0502020204030204" pitchFamily="34" charset="0"/>
                  </a:rPr>
                  <a:t>Udledning af effektformel:</a:t>
                </a:r>
              </a:p>
              <a:p>
                <a:endParaRPr lang="da-DK" kern="100" dirty="0">
                  <a:effectLst/>
                  <a:ea typeface="Calibri" panose="020F0502020204030204" pitchFamily="34" charset="0"/>
                </a:endParaRPr>
              </a:p>
              <a:p>
                <a:r>
                  <a:rPr lang="da-DK" kern="100" dirty="0">
                    <a:solidFill>
                      <a:srgbClr val="00B050"/>
                    </a:solidFill>
                    <a:effectLst/>
                    <a:ea typeface="Calibri" panose="020F0502020204030204" pitchFamily="34" charset="0"/>
                  </a:rPr>
                  <a:t>Den elektromotoriske kraft er det arbejde, der udføres per ladningsenhed.</a:t>
                </a:r>
                <a:endParaRPr lang="da-DK" sz="1800" i="1" kern="100" dirty="0">
                  <a:solidFill>
                    <a:srgbClr val="00B050"/>
                  </a:solidFill>
                  <a:ea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da-DK" sz="1800" b="1" i="1" kern="100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𝑬</m:t>
                    </m:r>
                    <m:r>
                      <a:rPr lang="da-DK" sz="1800" i="1" kern="1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800" b="1" i="1" kern="100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800" b="1" i="1" kern="100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𝑾</m:t>
                        </m:r>
                      </m:num>
                      <m:den>
                        <m:r>
                          <a:rPr lang="da-DK" sz="1800" b="1" i="1" kern="100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den>
                    </m:f>
                  </m:oMath>
                </a14:m>
                <a:r>
                  <a:rPr lang="da-DK" sz="1800" i="1" kern="100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</a:rPr>
                  <a:t>	=&gt;	W = E · Q</a:t>
                </a:r>
              </a:p>
              <a:p>
                <a:r>
                  <a:rPr lang="da-DK" kern="100" dirty="0">
                    <a:solidFill>
                      <a:srgbClr val="00B050"/>
                    </a:solidFill>
                    <a:ea typeface="Times New Roman" panose="02020603050405020304" pitchFamily="18" charset="0"/>
                  </a:rPr>
                  <a:t>E	elektromotorisk kraft [V]</a:t>
                </a:r>
              </a:p>
              <a:p>
                <a:r>
                  <a:rPr lang="da-DK" sz="1800" dirty="0">
                    <a:solidFill>
                      <a:srgbClr val="00B050"/>
                    </a:solidFill>
                  </a:rPr>
                  <a:t>W	arbejde, energi [J]=[Nm]=[Ws] (=[cal] – ikke SI enhed)</a:t>
                </a:r>
              </a:p>
              <a:p>
                <a:r>
                  <a:rPr lang="da-DK" dirty="0">
                    <a:solidFill>
                      <a:srgbClr val="00B050"/>
                    </a:solidFill>
                  </a:rPr>
                  <a:t>Q	ladning [C]</a:t>
                </a:r>
                <a:endParaRPr lang="da-DK" sz="1800" dirty="0">
                  <a:solidFill>
                    <a:srgbClr val="00B050"/>
                  </a:solidFill>
                </a:endParaRPr>
              </a:p>
              <a:p>
                <a:endParaRPr lang="da-DK" dirty="0">
                  <a:solidFill>
                    <a:srgbClr val="00B0F0"/>
                  </a:solidFill>
                </a:endParaRPr>
              </a:p>
              <a:p>
                <a:endParaRPr lang="da-DK" dirty="0">
                  <a:solidFill>
                    <a:srgbClr val="00B0F0"/>
                  </a:solidFill>
                </a:endParaRPr>
              </a:p>
              <a:p>
                <a:endParaRPr lang="da-DK" u="sng" dirty="0">
                  <a:solidFill>
                    <a:srgbClr val="00B0F0"/>
                  </a:solidFill>
                </a:endParaRPr>
              </a:p>
              <a:p>
                <a:endParaRPr lang="da-DK" u="sng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16918" y="1407085"/>
                <a:ext cx="9031043" cy="4555010"/>
              </a:xfrm>
              <a:blipFill>
                <a:blip r:embed="rId2"/>
                <a:stretch>
                  <a:fillRect l="-405" t="-53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895905"/>
            <a:ext cx="9090889" cy="480067"/>
          </a:xfrm>
        </p:spPr>
        <p:txBody>
          <a:bodyPr/>
          <a:lstStyle/>
          <a:p>
            <a:r>
              <a:rPr lang="da-DK" dirty="0"/>
              <a:t>Effekt og energi i jævnstrømskreds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32B321EB-FFE5-D2AD-868B-EB8CEBE35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43" y="4056631"/>
            <a:ext cx="5823098" cy="190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62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12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16918" y="1407085"/>
                <a:ext cx="9031043" cy="4555010"/>
              </a:xfrm>
            </p:spPr>
            <p:txBody>
              <a:bodyPr/>
              <a:lstStyle/>
              <a:p>
                <a:r>
                  <a:rPr lang="da-DK" kern="100" dirty="0">
                    <a:solidFill>
                      <a:srgbClr val="FF0000"/>
                    </a:solidFill>
                    <a:effectLst/>
                    <a:ea typeface="Calibri" panose="020F0502020204030204" pitchFamily="34" charset="0"/>
                  </a:rPr>
                  <a:t>Udledning af effektformel i en jævnstrømskreds:</a:t>
                </a:r>
              </a:p>
              <a:p>
                <a:r>
                  <a:rPr lang="da-DK" kern="100" dirty="0">
                    <a:solidFill>
                      <a:srgbClr val="00B0F0"/>
                    </a:solidFill>
                    <a:effectLst/>
                    <a:ea typeface="Calibri" panose="020F0502020204030204" pitchFamily="34" charset="0"/>
                  </a:rPr>
                  <a:t>Ladningsmængden er strømstyrken i det tidsrum strømmen løber:</a:t>
                </a:r>
                <a:endParaRPr lang="da-DK" sz="1800" i="1" kern="100" dirty="0">
                  <a:solidFill>
                    <a:srgbClr val="00B0F0"/>
                  </a:solidFill>
                  <a:ea typeface="Calibri" panose="020F0502020204030204" pitchFamily="34" charset="0"/>
                </a:endParaRPr>
              </a:p>
              <a:p>
                <a:r>
                  <a:rPr lang="da-DK" sz="1800" i="1" kern="1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Q = I · t</a:t>
                </a:r>
              </a:p>
              <a:p>
                <a:r>
                  <a:rPr lang="da-DK" kern="100" dirty="0">
                    <a:solidFill>
                      <a:srgbClr val="00B0F0"/>
                    </a:solidFill>
                    <a:ea typeface="Times New Roman" panose="02020603050405020304" pitchFamily="18" charset="0"/>
                  </a:rPr>
                  <a:t>I	strømmen [A]</a:t>
                </a:r>
              </a:p>
              <a:p>
                <a:r>
                  <a:rPr lang="da-DK" sz="1800" dirty="0">
                    <a:solidFill>
                      <a:srgbClr val="00B0F0"/>
                    </a:solidFill>
                  </a:rPr>
                  <a:t>t	tiden [s] </a:t>
                </a:r>
              </a:p>
              <a:p>
                <a:r>
                  <a:rPr lang="da-DK" dirty="0">
                    <a:solidFill>
                      <a:srgbClr val="00B0F0"/>
                    </a:solidFill>
                  </a:rPr>
                  <a:t>Q	ladning [C]</a:t>
                </a:r>
              </a:p>
              <a:p>
                <a:r>
                  <a:rPr lang="da-DK" sz="1800" i="1" kern="100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</a:rPr>
                  <a:t>W = E · Q	= E · </a:t>
                </a:r>
                <a:r>
                  <a:rPr lang="da-DK" sz="1800" i="1" kern="1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I · t</a:t>
                </a:r>
              </a:p>
              <a:p>
                <a:endParaRPr lang="da-DK" sz="1800" i="1" kern="100" dirty="0">
                  <a:solidFill>
                    <a:srgbClr val="00B0F0"/>
                  </a:solidFill>
                  <a:effectLst/>
                  <a:ea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da-DK" i="1" kern="1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da-DK" i="1" kern="1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i="1" kern="1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i="1" kern="1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𝑊</m:t>
                        </m:r>
                      </m:num>
                      <m:den>
                        <m:r>
                          <a:rPr lang="da-DK" i="1" kern="1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  <m:r>
                      <a:rPr lang="da-DK" sz="1800" i="1" kern="15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i="0" kern="100" dirty="0">
                            <a:solidFill>
                              <a:srgbClr val="00B050"/>
                            </a:solidFill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i="0" kern="100" dirty="0">
                            <a:solidFill>
                              <a:srgbClr val="00B050"/>
                            </a:solidFill>
                            <a:ea typeface="Times New Roman" panose="02020603050405020304" pitchFamily="18" charset="0"/>
                          </a:rPr>
                          <m:t>E · </m:t>
                        </m:r>
                        <m:r>
                          <m:rPr>
                            <m:nor/>
                          </m:rPr>
                          <a:rPr lang="da-DK" i="0" kern="100" dirty="0">
                            <a:solidFill>
                              <a:srgbClr val="00B0F0"/>
                            </a:solidFill>
                            <a:ea typeface="Times New Roman" panose="02020603050405020304" pitchFamily="18" charset="0"/>
                          </a:rPr>
                          <m:t>I · t </m:t>
                        </m:r>
                      </m:num>
                      <m:den>
                        <m:r>
                          <a:rPr lang="da-DK" i="1" kern="1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da-DK" sz="1800" i="1" kern="100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i="0" kern="100" dirty="0">
                        <a:solidFill>
                          <a:srgbClr val="00B050"/>
                        </a:solidFill>
                        <a:ea typeface="Times New Roman" panose="02020603050405020304" pitchFamily="18" charset="0"/>
                      </a:rPr>
                      <m:t>E · </m:t>
                    </m:r>
                    <m:r>
                      <m:rPr>
                        <m:nor/>
                      </m:rPr>
                      <a:rPr lang="da-DK" i="0" kern="100" dirty="0">
                        <a:solidFill>
                          <a:srgbClr val="00B0F0"/>
                        </a:solidFill>
                        <a:ea typeface="Times New Roman" panose="02020603050405020304" pitchFamily="18" charset="0"/>
                      </a:rPr>
                      <m:t>I </m:t>
                    </m:r>
                  </m:oMath>
                </a14:m>
                <a:r>
                  <a:rPr lang="da-DK" sz="1800" i="1" kern="100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</a:rPr>
                  <a:t> 	da E er spændingen er </a:t>
                </a:r>
                <a14:m>
                  <m:oMath xmlns:m="http://schemas.openxmlformats.org/officeDocument/2006/math">
                    <m:r>
                      <a:rPr lang="da-DK" i="1" kern="1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da-DK" i="1" kern="1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da-DK" b="0" i="0" kern="100" dirty="0" smtClean="0">
                        <a:solidFill>
                          <a:srgbClr val="FF0000"/>
                        </a:solidFill>
                        <a:ea typeface="Times New Roman" panose="02020603050405020304" pitchFamily="18" charset="0"/>
                      </a:rPr>
                      <m:t>U</m:t>
                    </m:r>
                    <m:r>
                      <m:rPr>
                        <m:nor/>
                      </m:rPr>
                      <a:rPr lang="da-DK" i="0" kern="100" dirty="0">
                        <a:solidFill>
                          <a:srgbClr val="FF0000"/>
                        </a:solidFill>
                        <a:ea typeface="Times New Roman" panose="02020603050405020304" pitchFamily="18" charset="0"/>
                      </a:rPr>
                      <m:t>· I </m:t>
                    </m:r>
                  </m:oMath>
                </a14:m>
                <a:endParaRPr lang="da-DK" sz="1800" i="1" kern="100" dirty="0">
                  <a:solidFill>
                    <a:srgbClr val="00B050"/>
                  </a:solidFill>
                  <a:effectLst/>
                  <a:ea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da-DK" i="1" kern="1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da-DK" i="1" kern="1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da-DK" b="0" i="0" kern="100" dirty="0" smtClean="0">
                        <a:solidFill>
                          <a:srgbClr val="FF0000"/>
                        </a:solidFill>
                        <a:ea typeface="Times New Roman" panose="02020603050405020304" pitchFamily="18" charset="0"/>
                      </a:rPr>
                      <m:t>U</m:t>
                    </m:r>
                    <m:r>
                      <m:rPr>
                        <m:nor/>
                      </m:rPr>
                      <a:rPr lang="da-DK" i="0" kern="100" dirty="0">
                        <a:solidFill>
                          <a:srgbClr val="FF0000"/>
                        </a:solidFill>
                        <a:ea typeface="Times New Roman" panose="02020603050405020304" pitchFamily="18" charset="0"/>
                      </a:rPr>
                      <m:t>· I</m:t>
                    </m:r>
                  </m:oMath>
                </a14:m>
                <a:r>
                  <a:rPr lang="da-DK" sz="1800" dirty="0">
                    <a:solidFill>
                      <a:srgbClr val="00B0F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b="0" i="0" kern="100" dirty="0" smtClean="0">
                        <a:solidFill>
                          <a:srgbClr val="7030A0"/>
                        </a:solidFill>
                        <a:ea typeface="Times New Roman" panose="02020603050405020304" pitchFamily="18" charset="0"/>
                      </a:rPr>
                      <m:t>R </m:t>
                    </m:r>
                    <m:r>
                      <a:rPr lang="da-DK" b="1" i="1" kern="10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·</m:t>
                    </m:r>
                    <m:r>
                      <a:rPr lang="da-DK" b="1" i="1" kern="10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𝑰</m:t>
                    </m:r>
                    <m:r>
                      <m:rPr>
                        <m:nor/>
                      </m:rPr>
                      <a:rPr lang="da-DK" i="0" kern="100" dirty="0">
                        <a:solidFill>
                          <a:srgbClr val="FF0000"/>
                        </a:solidFill>
                        <a:ea typeface="Times New Roman" panose="02020603050405020304" pitchFamily="18" charset="0"/>
                      </a:rPr>
                      <m:t>· I</m:t>
                    </m:r>
                  </m:oMath>
                </a14:m>
                <a:r>
                  <a:rPr lang="da-DK" dirty="0">
                    <a:solidFill>
                      <a:srgbClr val="00B0F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da-DK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da-DK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a-DK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da-DK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a-DK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a-DK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da-DK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da-DK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da-DK" dirty="0"/>
              </a:p>
              <a:p>
                <a:endParaRPr lang="da-DK" dirty="0"/>
              </a:p>
              <a:p>
                <a:endParaRPr lang="da-DK" dirty="0">
                  <a:solidFill>
                    <a:srgbClr val="00B0F0"/>
                  </a:solidFill>
                </a:endParaRPr>
              </a:p>
              <a:p>
                <a:endParaRPr lang="da-DK" dirty="0">
                  <a:solidFill>
                    <a:srgbClr val="00B0F0"/>
                  </a:solidFill>
                </a:endParaRPr>
              </a:p>
              <a:p>
                <a:endParaRPr lang="da-DK" dirty="0">
                  <a:solidFill>
                    <a:srgbClr val="00B0F0"/>
                  </a:solidFill>
                </a:endParaRPr>
              </a:p>
              <a:p>
                <a:endParaRPr lang="da-DK" u="sng" dirty="0">
                  <a:solidFill>
                    <a:srgbClr val="00B0F0"/>
                  </a:solidFill>
                </a:endParaRPr>
              </a:p>
              <a:p>
                <a:endParaRPr lang="da-DK" u="sng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16918" y="1407085"/>
                <a:ext cx="9031043" cy="4555010"/>
              </a:xfrm>
              <a:blipFill>
                <a:blip r:embed="rId2"/>
                <a:stretch>
                  <a:fillRect l="-405" t="-53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895905"/>
            <a:ext cx="9090889" cy="480067"/>
          </a:xfrm>
        </p:spPr>
        <p:txBody>
          <a:bodyPr/>
          <a:lstStyle/>
          <a:p>
            <a:r>
              <a:rPr lang="da-DK" dirty="0"/>
              <a:t>Effekt og energi i jævnstrømskreds fortsat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3493794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13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16918" y="1407085"/>
                <a:ext cx="9031043" cy="4555010"/>
              </a:xfrm>
            </p:spPr>
            <p:txBody>
              <a:bodyPr/>
              <a:lstStyle/>
              <a:p>
                <a:r>
                  <a:rPr lang="da-DK" sz="1800" i="1" kern="1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Effekten kan altså udregnes som:</a:t>
                </a:r>
              </a:p>
              <a:p>
                <a:endParaRPr lang="da-DK" sz="1800" i="1" kern="100" dirty="0">
                  <a:solidFill>
                    <a:srgbClr val="00B0F0"/>
                  </a:solidFill>
                  <a:effectLst/>
                  <a:ea typeface="Times New Roman" panose="02020603050405020304" pitchFamily="18" charset="0"/>
                </a:endParaRPr>
              </a:p>
              <a:p>
                <a:r>
                  <a:rPr lang="da-DK" kern="150" dirty="0">
                    <a:solidFill>
                      <a:srgbClr val="FF0000"/>
                    </a:solidFill>
                    <a:ea typeface="Calibri" panose="020F0502020204030204" pitchFamily="34" charset="0"/>
                  </a:rPr>
                  <a:t>P</a:t>
                </a:r>
                <a14:m>
                  <m:oMath xmlns:m="http://schemas.openxmlformats.org/officeDocument/2006/math">
                    <m:r>
                      <a:rPr lang="da-DK" b="1" i="1" kern="1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da-DK" i="0" kern="100" dirty="0" smtClean="0">
                        <a:solidFill>
                          <a:srgbClr val="FF0000"/>
                        </a:solidFill>
                        <a:ea typeface="Times New Roman" panose="02020603050405020304" pitchFamily="18" charset="0"/>
                      </a:rPr>
                      <m:t>U</m:t>
                    </m:r>
                    <m:r>
                      <m:rPr>
                        <m:nor/>
                      </m:rPr>
                      <a:rPr lang="da-DK" i="0" kern="100" dirty="0">
                        <a:solidFill>
                          <a:srgbClr val="FF0000"/>
                        </a:solidFill>
                        <a:ea typeface="Times New Roman" panose="02020603050405020304" pitchFamily="18" charset="0"/>
                      </a:rPr>
                      <m:t>· I </m:t>
                    </m:r>
                  </m:oMath>
                </a14:m>
                <a:r>
                  <a:rPr lang="da-DK" sz="1800" i="1" kern="100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</a:rPr>
                  <a:t>	</a:t>
                </a:r>
                <a:r>
                  <a:rPr lang="da-DK" sz="1800" i="1" kern="1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Gælder kun DC kreds</a:t>
                </a:r>
              </a:p>
              <a:p>
                <a:endParaRPr lang="da-DK" sz="1800" i="1" kern="100" dirty="0">
                  <a:solidFill>
                    <a:srgbClr val="00B050"/>
                  </a:solidFill>
                  <a:effectLst/>
                  <a:ea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b="1" i="1" kern="15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da-DK" b="1" i="1" kern="15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p>
                          <m:r>
                            <a:rPr lang="da-DK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da-DK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a-DK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da-DK" dirty="0">
                  <a:solidFill>
                    <a:srgbClr val="00B050"/>
                  </a:solidFill>
                </a:endParaRPr>
              </a:p>
              <a:p>
                <a:endParaRPr lang="da-DK" dirty="0"/>
              </a:p>
              <a:p>
                <a14:m>
                  <m:oMath xmlns:m="http://schemas.openxmlformats.org/officeDocument/2006/math">
                    <m:r>
                      <a:rPr lang="da-DK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da-DK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a-DK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p>
                            <m:r>
                              <a:rPr lang="da-DK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da-DK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den>
                    </m:f>
                  </m:oMath>
                </a14:m>
                <a:r>
                  <a:rPr lang="da-DK" i="1" kern="100" dirty="0">
                    <a:solidFill>
                      <a:srgbClr val="FF0000"/>
                    </a:solidFill>
                    <a:ea typeface="Times New Roman" panose="02020603050405020304" pitchFamily="18" charset="0"/>
                  </a:rPr>
                  <a:t> 	</a:t>
                </a:r>
                <a:r>
                  <a:rPr lang="da-DK" i="1" kern="100" dirty="0">
                    <a:solidFill>
                      <a:srgbClr val="7030A0"/>
                    </a:solidFill>
                    <a:ea typeface="Times New Roman" panose="02020603050405020304" pitchFamily="18" charset="0"/>
                  </a:rPr>
                  <a:t>Gælder kun DC kreds</a:t>
                </a:r>
                <a:endParaRPr lang="da-DK" dirty="0">
                  <a:solidFill>
                    <a:srgbClr val="7030A0"/>
                  </a:solidFill>
                </a:endParaRPr>
              </a:p>
              <a:p>
                <a:endParaRPr lang="da-DK" dirty="0"/>
              </a:p>
              <a:p>
                <a:r>
                  <a:rPr lang="da-DK" dirty="0">
                    <a:solidFill>
                      <a:srgbClr val="00B0F0"/>
                    </a:solidFill>
                  </a:rPr>
                  <a:t>Husk: W = P· t</a:t>
                </a:r>
              </a:p>
              <a:p>
                <a:endParaRPr lang="da-DK" dirty="0">
                  <a:solidFill>
                    <a:srgbClr val="00B0F0"/>
                  </a:solidFill>
                </a:endParaRPr>
              </a:p>
              <a:p>
                <a:endParaRPr lang="da-DK" dirty="0">
                  <a:solidFill>
                    <a:srgbClr val="00B0F0"/>
                  </a:solidFill>
                </a:endParaRPr>
              </a:p>
              <a:p>
                <a:endParaRPr lang="da-DK" u="sng" dirty="0">
                  <a:solidFill>
                    <a:srgbClr val="00B0F0"/>
                  </a:solidFill>
                </a:endParaRPr>
              </a:p>
              <a:p>
                <a:endParaRPr lang="da-DK" u="sng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16918" y="1407085"/>
                <a:ext cx="9031043" cy="4555010"/>
              </a:xfrm>
              <a:blipFill>
                <a:blip r:embed="rId2"/>
                <a:stretch>
                  <a:fillRect l="-405" t="-53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895905"/>
            <a:ext cx="9090889" cy="480067"/>
          </a:xfrm>
        </p:spPr>
        <p:txBody>
          <a:bodyPr/>
          <a:lstStyle/>
          <a:p>
            <a:r>
              <a:rPr lang="da-DK" dirty="0"/>
              <a:t>Effekt og energi i jævnstrømskreds fortsat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C79D9BB1-CAE2-B53A-3DEB-4B3706485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902" y="1407085"/>
            <a:ext cx="4516035" cy="444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741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6E9F3C4D-BC50-CD2F-F678-F1A3DAFD1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14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935CAF5-2A88-3403-7911-9A70D50C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00" y="1040928"/>
            <a:ext cx="9090889" cy="480067"/>
          </a:xfrm>
        </p:spPr>
        <p:txBody>
          <a:bodyPr/>
          <a:lstStyle/>
          <a:p>
            <a:r>
              <a:rPr lang="da-DK" dirty="0"/>
              <a:t>Eksempel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DE1BD1E-B11D-E782-51A8-26EAC6AC29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9351D02-BFAB-E7F1-31A8-81681FF58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  <a:p>
            <a:endParaRPr lang="da-DK" dirty="0"/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40E91466-96E6-2048-7E3B-55D097C351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645" y="1711350"/>
            <a:ext cx="9068709" cy="3960529"/>
          </a:xfrm>
        </p:spPr>
        <p:txBody>
          <a:bodyPr/>
          <a:lstStyle/>
          <a:p>
            <a:r>
              <a:rPr lang="da-DK" u="sng" dirty="0"/>
              <a:t>Opgave 1</a:t>
            </a:r>
            <a:r>
              <a:rPr lang="da-DK" dirty="0"/>
              <a:t>, </a:t>
            </a:r>
            <a:r>
              <a:rPr lang="da-DK" dirty="0">
                <a:latin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rbejde, energi og effekt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kasse vejer 90 kg. Kassen skal løftes 20 m med et spil drevet af en motor.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Beregn det udføre arbejde både i Ws og </a:t>
            </a:r>
            <a:r>
              <a:rPr lang="da-DK" sz="18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</a:t>
            </a: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Beregn motorens effekt for ovenstående, når det tager 2 minutter.</a:t>
            </a:r>
            <a:endParaRPr lang="da-DK" dirty="0">
              <a:solidFill>
                <a:schemeClr val="tx1"/>
              </a:solidFill>
            </a:endParaRPr>
          </a:p>
          <a:p>
            <a:endParaRPr lang="da-DK" dirty="0"/>
          </a:p>
          <a:p>
            <a:endParaRPr lang="da-DK" dirty="0"/>
          </a:p>
          <a:p>
            <a:r>
              <a:rPr lang="da-DK" u="sng" dirty="0"/>
              <a:t>Opgave 2</a:t>
            </a:r>
            <a:r>
              <a:rPr lang="da-DK" dirty="0"/>
              <a:t>, </a:t>
            </a:r>
            <a:r>
              <a:rPr lang="da-DK" dirty="0">
                <a:latin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mregning af enheder</a:t>
            </a:r>
            <a:endParaRPr lang="da-DK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Energimængden 29 kWh omregnes til </a:t>
            </a:r>
            <a:r>
              <a:rPr lang="da-DK" sz="18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HKh</a:t>
            </a: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samt kcal.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Effekten 64 HK omregnes til W.</a:t>
            </a:r>
          </a:p>
          <a:p>
            <a:endParaRPr lang="da-DK" u="sng" dirty="0"/>
          </a:p>
          <a:p>
            <a:endParaRPr lang="da-DK" u="sng" dirty="0"/>
          </a:p>
          <a:p>
            <a:endParaRPr lang="da-DK" u="sng" dirty="0"/>
          </a:p>
          <a:p>
            <a:endParaRPr lang="da-DK" u="sng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38009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6E9F3C4D-BC50-CD2F-F678-F1A3DAFD1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15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935CAF5-2A88-3403-7911-9A70D50C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00" y="946087"/>
            <a:ext cx="9090889" cy="480067"/>
          </a:xfrm>
        </p:spPr>
        <p:txBody>
          <a:bodyPr/>
          <a:lstStyle/>
          <a:p>
            <a:r>
              <a:rPr lang="da-DK" dirty="0"/>
              <a:t>Eksempel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DE1BD1E-B11D-E782-51A8-26EAC6AC29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9351D02-BFAB-E7F1-31A8-81681FF58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  <a:p>
            <a:endParaRPr lang="da-DK" dirty="0"/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40E91466-96E6-2048-7E3B-55D097C351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6311" y="1426154"/>
            <a:ext cx="9031043" cy="4527494"/>
          </a:xfrm>
        </p:spPr>
        <p:txBody>
          <a:bodyPr/>
          <a:lstStyle/>
          <a:p>
            <a:r>
              <a:rPr lang="da-DK" u="sng" dirty="0"/>
              <a:t>Opgave 3</a:t>
            </a:r>
            <a:r>
              <a:rPr lang="da-DK" dirty="0"/>
              <a:t>, </a:t>
            </a:r>
            <a:r>
              <a:rPr lang="da-DK" dirty="0">
                <a:latin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inkelhastighed og drejningsmoment</a:t>
            </a:r>
            <a:endParaRPr lang="da-DK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enhed bevæger sig 45</a:t>
            </a: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°</a:t>
            </a: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på 3 sekunder med en kraft på 2 N i en radius af 10 cm.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Beregn momentet, effekten samt arbejdet.</a:t>
            </a:r>
          </a:p>
          <a:p>
            <a:endParaRPr lang="da-DK" dirty="0"/>
          </a:p>
          <a:p>
            <a:endParaRPr lang="da-DK" dirty="0"/>
          </a:p>
          <a:p>
            <a:r>
              <a:rPr lang="da-DK" u="sng" dirty="0"/>
              <a:t>Opgave 4</a:t>
            </a:r>
            <a:r>
              <a:rPr lang="da-DK" dirty="0"/>
              <a:t>, </a:t>
            </a:r>
            <a:r>
              <a:rPr lang="da-DK" dirty="0">
                <a:latin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ffekt og energi i en jævnstrømskreds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en kreds med en resistansen på 7 </a:t>
            </a: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Ω</a:t>
            </a: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løber en strøm på 2 A.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Beregn den afsatte effekt i resistansen.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Beregn størrelsen af resistansen, når den afsatte effekt er 24 W og strømmen er 2 A.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Beregn spændingen, når den afsatte effekt er 57,6 W i en resistans på 10 </a:t>
            </a: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Ω</a:t>
            </a:r>
            <a:r>
              <a:rPr lang="da-DK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a-DK" u="sng" dirty="0"/>
          </a:p>
          <a:p>
            <a:endParaRPr lang="da-DK" u="sng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38676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6E9F3C4D-BC50-CD2F-F678-F1A3DAFD1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16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935CAF5-2A88-3403-7911-9A70D50C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00" y="1040928"/>
            <a:ext cx="9090889" cy="480067"/>
          </a:xfrm>
        </p:spPr>
        <p:txBody>
          <a:bodyPr/>
          <a:lstStyle/>
          <a:p>
            <a:r>
              <a:rPr lang="da-DK" dirty="0"/>
              <a:t>Eksempel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DE1BD1E-B11D-E782-51A8-26EAC6AC29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9351D02-BFAB-E7F1-31A8-81681FF58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  <a:p>
            <a:endParaRPr lang="da-DK" dirty="0"/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40E91466-96E6-2048-7E3B-55D097C351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645" y="1711350"/>
            <a:ext cx="9068709" cy="3960529"/>
          </a:xfrm>
        </p:spPr>
        <p:txBody>
          <a:bodyPr/>
          <a:lstStyle/>
          <a:p>
            <a:r>
              <a:rPr lang="da-DK" u="sng" dirty="0"/>
              <a:t>Opgave 5</a:t>
            </a:r>
          </a:p>
          <a:p>
            <a:r>
              <a:rPr lang="da-DK" dirty="0">
                <a:solidFill>
                  <a:schemeClr val="tx1"/>
                </a:solidFill>
              </a:rPr>
              <a:t>Et varmelegeme har resistansen 0,96 </a:t>
            </a:r>
            <a:r>
              <a:rPr lang="el-GR" dirty="0">
                <a:solidFill>
                  <a:schemeClr val="tx1"/>
                </a:solidFill>
              </a:rPr>
              <a:t>Ω</a:t>
            </a:r>
            <a:r>
              <a:rPr lang="da-DK" dirty="0">
                <a:solidFill>
                  <a:schemeClr val="tx1"/>
                </a:solidFill>
              </a:rPr>
              <a:t> og optager en effekt på 150 W.</a:t>
            </a:r>
          </a:p>
          <a:p>
            <a:pPr marL="342900" indent="-342900">
              <a:buAutoNum type="alphaLcParenR"/>
            </a:pPr>
            <a:r>
              <a:rPr lang="da-DK" dirty="0">
                <a:solidFill>
                  <a:schemeClr val="tx1"/>
                </a:solidFill>
              </a:rPr>
              <a:t>Beregn strømmen gennem varmelegemet</a:t>
            </a:r>
          </a:p>
          <a:p>
            <a:pPr marL="342900" indent="-342900">
              <a:buAutoNum type="alphaLcParenR"/>
            </a:pPr>
            <a:r>
              <a:rPr lang="da-DK" dirty="0">
                <a:solidFill>
                  <a:schemeClr val="tx1"/>
                </a:solidFill>
              </a:rPr>
              <a:t>Beregn spændingen over varmelegemet.</a:t>
            </a:r>
          </a:p>
          <a:p>
            <a:endParaRPr lang="da-DK" u="sng" dirty="0"/>
          </a:p>
          <a:p>
            <a:endParaRPr lang="da-DK" u="sng" dirty="0"/>
          </a:p>
          <a:p>
            <a:r>
              <a:rPr lang="da-DK" u="sng" dirty="0"/>
              <a:t>Opgave 6</a:t>
            </a:r>
          </a:p>
          <a:p>
            <a:endParaRPr lang="da-DK" dirty="0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5A5A78AA-0CB3-E976-480C-DF30FF1B6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14" y="4122953"/>
            <a:ext cx="8765512" cy="92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874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0C81A-C17A-8329-DA74-1678A68B7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BC2571E6-4D1C-2301-CC48-3647E8A9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17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D928113-6087-5694-4ABF-5E33E71ED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00" y="1040928"/>
            <a:ext cx="9090889" cy="480067"/>
          </a:xfrm>
        </p:spPr>
        <p:txBody>
          <a:bodyPr/>
          <a:lstStyle/>
          <a:p>
            <a:r>
              <a:rPr lang="da-DK" dirty="0"/>
              <a:t>Eksempel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28BA4E1-9D73-52F4-0E3A-261C80F928C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12AC195-8BB2-00E3-EDB9-45E6C8028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  <a:p>
            <a:endParaRPr lang="da-DK" dirty="0"/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504CFAC2-F9F2-B822-8C27-8DC2D78E12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645" y="1711350"/>
            <a:ext cx="9068709" cy="3960529"/>
          </a:xfrm>
        </p:spPr>
        <p:txBody>
          <a:bodyPr/>
          <a:lstStyle/>
          <a:p>
            <a:r>
              <a:rPr lang="da-DK" u="sng" dirty="0"/>
              <a:t>Opgave 7</a:t>
            </a:r>
          </a:p>
          <a:p>
            <a:endParaRPr lang="da-DK" u="sng" dirty="0"/>
          </a:p>
          <a:p>
            <a:endParaRPr lang="da-DK" u="sng" dirty="0"/>
          </a:p>
          <a:p>
            <a:endParaRPr lang="da-DK" u="sng" dirty="0"/>
          </a:p>
          <a:p>
            <a:endParaRPr lang="da-DK" u="sng" dirty="0"/>
          </a:p>
          <a:p>
            <a:endParaRPr lang="da-DK" u="sng" dirty="0"/>
          </a:p>
          <a:p>
            <a:endParaRPr lang="da-DK" u="sng" dirty="0"/>
          </a:p>
          <a:p>
            <a:endParaRPr lang="da-DK" u="sng" dirty="0"/>
          </a:p>
          <a:p>
            <a:r>
              <a:rPr lang="da-DK" u="sng" dirty="0"/>
              <a:t>Opgave 8</a:t>
            </a:r>
          </a:p>
          <a:p>
            <a:r>
              <a:rPr lang="da-DK" sz="1800" dirty="0">
                <a:solidFill>
                  <a:schemeClr val="tx1"/>
                </a:solidFill>
              </a:rPr>
              <a:t>a) En jævnstrømsmotor optager 200 W ved en spænding på 37,5 V.</a:t>
            </a:r>
          </a:p>
          <a:p>
            <a:r>
              <a:rPr lang="da-DK" sz="1800" dirty="0">
                <a:solidFill>
                  <a:schemeClr val="tx1"/>
                </a:solidFill>
              </a:rPr>
              <a:t>Hvor stor er strømmen?</a:t>
            </a:r>
          </a:p>
          <a:p>
            <a:r>
              <a:rPr lang="da-DK" sz="1800" dirty="0">
                <a:solidFill>
                  <a:schemeClr val="tx1"/>
                </a:solidFill>
              </a:rPr>
              <a:t>b) Motoren kører 3000 omdrejninger per minut.</a:t>
            </a:r>
          </a:p>
          <a:p>
            <a:r>
              <a:rPr lang="da-DK" sz="1800" dirty="0">
                <a:solidFill>
                  <a:schemeClr val="tx1"/>
                </a:solidFill>
              </a:rPr>
              <a:t>Hvor stor er momentet?</a:t>
            </a:r>
          </a:p>
          <a:p>
            <a:endParaRPr lang="da-DK" dirty="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A61DEA21-10CE-C9F5-AAEA-F46AAF363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70" y="2158501"/>
            <a:ext cx="3832159" cy="866597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3B379636-FF76-73A0-DF8A-2E6C3A1A6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656" y="2911331"/>
            <a:ext cx="5695706" cy="432520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5433C146-E0FF-CA07-B4FF-F3BE0BC7A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470" y="3295411"/>
            <a:ext cx="6700922" cy="92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52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6E9F3C4D-BC50-CD2F-F678-F1A3DAFD1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18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935CAF5-2A88-3403-7911-9A70D50C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00" y="1040928"/>
            <a:ext cx="9090889" cy="480067"/>
          </a:xfrm>
        </p:spPr>
        <p:txBody>
          <a:bodyPr/>
          <a:lstStyle/>
          <a:p>
            <a:r>
              <a:rPr lang="da-DK" dirty="0"/>
              <a:t>Facit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DE1BD1E-B11D-E782-51A8-26EAC6AC29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17-08-2026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9351D02-BFAB-E7F1-31A8-81681FF58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  <a:p>
            <a:endParaRPr lang="da-DK" dirty="0"/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40E91466-96E6-2048-7E3B-55D097C351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645" y="1711350"/>
            <a:ext cx="9068709" cy="3960529"/>
          </a:xfrm>
        </p:spPr>
        <p:txBody>
          <a:bodyPr/>
          <a:lstStyle/>
          <a:p>
            <a:r>
              <a:rPr lang="da-DK" u="sng" dirty="0"/>
              <a:t>1: 17676 </a:t>
            </a:r>
            <a:r>
              <a:rPr lang="da-DK" u="sng" dirty="0" err="1"/>
              <a:t>Ws</a:t>
            </a:r>
            <a:r>
              <a:rPr lang="da-DK" u="sng" dirty="0"/>
              <a:t>, 4.91 </a:t>
            </a:r>
            <a:r>
              <a:rPr lang="da-DK" u="sng" dirty="0" err="1"/>
              <a:t>Wh</a:t>
            </a:r>
            <a:r>
              <a:rPr lang="da-DK" u="sng" dirty="0"/>
              <a:t>, 147.3 W </a:t>
            </a:r>
          </a:p>
          <a:p>
            <a:r>
              <a:rPr lang="da-DK" u="sng" dirty="0"/>
              <a:t>2: 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44751328"/>
      </p:ext>
    </p:extLst>
  </p:cSld>
  <p:clrMapOvr>
    <a:masterClrMapping/>
  </p:clrMapOvr>
</p:sld>
</file>

<file path=ppt/theme/theme1.xml><?xml version="1.0" encoding="utf-8"?>
<a:theme xmlns:a="http://schemas.openxmlformats.org/drawingml/2006/main" name="MARTEC">
  <a:themeElements>
    <a:clrScheme name="Shrpa farver">
      <a:dk1>
        <a:sysClr val="windowText" lastClr="000000"/>
      </a:dk1>
      <a:lt1>
        <a:sysClr val="window" lastClr="FFFFFF"/>
      </a:lt1>
      <a:dk2>
        <a:srgbClr val="0080DB"/>
      </a:dk2>
      <a:lt2>
        <a:srgbClr val="FFFFFF"/>
      </a:lt2>
      <a:accent1>
        <a:srgbClr val="BDCCD4"/>
      </a:accent1>
      <a:accent2>
        <a:srgbClr val="756A86"/>
      </a:accent2>
      <a:accent3>
        <a:srgbClr val="CCCCCC"/>
      </a:accent3>
      <a:accent4>
        <a:srgbClr val="727A8F"/>
      </a:accent4>
      <a:accent5>
        <a:srgbClr val="84C5CB"/>
      </a:accent5>
      <a:accent6>
        <a:srgbClr val="C8DFD8"/>
      </a:accent6>
      <a:hlink>
        <a:srgbClr val="0080DB"/>
      </a:hlink>
      <a:folHlink>
        <a:srgbClr val="808080"/>
      </a:folHlink>
    </a:clrScheme>
    <a:fontScheme name="Shrp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tec - powerpoint skabelon_v4.potx" id="{7FFBE45C-995A-4409-9C30-AEA82B7B07D3}" vid="{4AC428D2-6199-44D7-8EC8-CD674AB0AFC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5C8CDECDFE604A9828CFDC608EFB56" ma:contentTypeVersion="35" ma:contentTypeDescription="Opret et nyt dokument." ma:contentTypeScope="" ma:versionID="f8973732321d220ec44c1e26f28d774a">
  <xsd:schema xmlns:xsd="http://www.w3.org/2001/XMLSchema" xmlns:xs="http://www.w3.org/2001/XMLSchema" xmlns:p="http://schemas.microsoft.com/office/2006/metadata/properties" xmlns:ns2="52776432-5f6f-4461-a773-af4277ea9cc4" xmlns:ns3="b112c056-f141-4248-a46f-e5f0219ad1a7" targetNamespace="http://schemas.microsoft.com/office/2006/metadata/properties" ma:root="true" ma:fieldsID="f2b0f69eda9c5210bf281163aa08d5e7" ns2:_="" ns3:_="">
    <xsd:import namespace="52776432-5f6f-4461-a773-af4277ea9cc4"/>
    <xsd:import namespace="b112c056-f141-4248-a46f-e5f0219ad1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76432-5f6f-4461-a773-af4277ea9c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ledmærker" ma:readOnly="false" ma:fieldId="{5cf76f15-5ced-4ddc-b409-7134ff3c332f}" ma:taxonomyMulti="true" ma:sspId="6bcb8b38-6e7a-4c58-8596-3803d9a7ba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NotebookType" ma:index="22" nillable="true" ma:displayName="Notebook Type" ma:internalName="NotebookType">
      <xsd:simpleType>
        <xsd:restriction base="dms:Text"/>
      </xsd:simpleType>
    </xsd:element>
    <xsd:element name="FolderType" ma:index="23" nillable="true" ma:displayName="Folder Type" ma:internalName="FolderType">
      <xsd:simpleType>
        <xsd:restriction base="dms:Text"/>
      </xsd:simpleType>
    </xsd:element>
    <xsd:element name="CultureName" ma:index="24" nillable="true" ma:displayName="Culture Name" ma:internalName="CultureName">
      <xsd:simpleType>
        <xsd:restriction base="dms:Text"/>
      </xsd:simpleType>
    </xsd:element>
    <xsd:element name="AppVersion" ma:index="25" nillable="true" ma:displayName="App Version" ma:internalName="AppVersion">
      <xsd:simpleType>
        <xsd:restriction base="dms:Text"/>
      </xsd:simpleType>
    </xsd:element>
    <xsd:element name="TeamsChannelId" ma:index="26" nillable="true" ma:displayName="Teams Channel Id" ma:internalName="TeamsChannelId">
      <xsd:simpleType>
        <xsd:restriction base="dms:Text"/>
      </xsd:simpleType>
    </xsd:element>
    <xsd:element name="Owner" ma:index="27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8" nillable="true" ma:displayName="Math Settings" ma:internalName="Math_Settings">
      <xsd:simpleType>
        <xsd:restriction base="dms:Text"/>
      </xsd:simpleType>
    </xsd:element>
    <xsd:element name="DefaultSectionNames" ma:index="29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30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31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2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3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4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5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6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7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8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9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40" nillable="true" ma:displayName="Is Collaboration Space Locked" ma:internalName="Is_Collaboration_Space_Locked">
      <xsd:simpleType>
        <xsd:restriction base="dms:Boolean"/>
      </xsd:simpleType>
    </xsd:element>
    <xsd:element name="IsNotebookLocked" ma:index="41" nillable="true" ma:displayName="Is Notebook Locked" ma:internalName="IsNotebookLocked">
      <xsd:simpleType>
        <xsd:restriction base="dms:Boolean"/>
      </xsd:simpleType>
    </xsd:element>
    <xsd:element name="Teams_Channel_Section_Location" ma:index="42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12c056-f141-4248-a46f-e5f0219ad1a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b219d03-91f1-46b5-9cdc-4a273eee06fd}" ma:internalName="TaxCatchAll" ma:showField="CatchAllData" ma:web="b112c056-f141-4248-a46f-e5f0219ad1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776432-5f6f-4461-a773-af4277ea9cc4">
      <Terms xmlns="http://schemas.microsoft.com/office/infopath/2007/PartnerControls"/>
    </lcf76f155ced4ddcb4097134ff3c332f>
    <TaxCatchAll xmlns="b112c056-f141-4248-a46f-e5f0219ad1a7" xsi:nil="true"/>
    <Owner xmlns="52776432-5f6f-4461-a773-af4277ea9cc4">
      <UserInfo>
        <DisplayName/>
        <AccountId xsi:nil="true"/>
        <AccountType/>
      </UserInfo>
    </Owner>
    <Students xmlns="52776432-5f6f-4461-a773-af4277ea9cc4">
      <UserInfo>
        <DisplayName/>
        <AccountId xsi:nil="true"/>
        <AccountType/>
      </UserInfo>
    </Students>
    <Student_Groups xmlns="52776432-5f6f-4461-a773-af4277ea9cc4">
      <UserInfo>
        <DisplayName/>
        <AccountId xsi:nil="true"/>
        <AccountType/>
      </UserInfo>
    </Student_Groups>
    <LMS_Mappings xmlns="52776432-5f6f-4461-a773-af4277ea9cc4" xsi:nil="true"/>
    <Has_Teacher_Only_SectionGroup xmlns="52776432-5f6f-4461-a773-af4277ea9cc4" xsi:nil="true"/>
    <CultureName xmlns="52776432-5f6f-4461-a773-af4277ea9cc4" xsi:nil="true"/>
    <AppVersion xmlns="52776432-5f6f-4461-a773-af4277ea9cc4" xsi:nil="true"/>
    <Invited_Teachers xmlns="52776432-5f6f-4461-a773-af4277ea9cc4" xsi:nil="true"/>
    <Invited_Students xmlns="52776432-5f6f-4461-a773-af4277ea9cc4" xsi:nil="true"/>
    <DefaultSectionNames xmlns="52776432-5f6f-4461-a773-af4277ea9cc4" xsi:nil="true"/>
    <Math_Settings xmlns="52776432-5f6f-4461-a773-af4277ea9cc4" xsi:nil="true"/>
    <Templates xmlns="52776432-5f6f-4461-a773-af4277ea9cc4" xsi:nil="true"/>
    <Self_Registration_Enabled xmlns="52776432-5f6f-4461-a773-af4277ea9cc4" xsi:nil="true"/>
    <Teachers xmlns="52776432-5f6f-4461-a773-af4277ea9cc4">
      <UserInfo>
        <DisplayName/>
        <AccountId xsi:nil="true"/>
        <AccountType/>
      </UserInfo>
    </Teachers>
    <Is_Collaboration_Space_Locked xmlns="52776432-5f6f-4461-a773-af4277ea9cc4" xsi:nil="true"/>
    <Teams_Channel_Section_Location xmlns="52776432-5f6f-4461-a773-af4277ea9cc4" xsi:nil="true"/>
    <Distribution_Groups xmlns="52776432-5f6f-4461-a773-af4277ea9cc4" xsi:nil="true"/>
    <NotebookType xmlns="52776432-5f6f-4461-a773-af4277ea9cc4" xsi:nil="true"/>
    <FolderType xmlns="52776432-5f6f-4461-a773-af4277ea9cc4" xsi:nil="true"/>
    <TeamsChannelId xmlns="52776432-5f6f-4461-a773-af4277ea9cc4" xsi:nil="true"/>
    <IsNotebookLocked xmlns="52776432-5f6f-4461-a773-af4277ea9cc4" xsi:nil="true"/>
  </documentManagement>
</p:properties>
</file>

<file path=customXml/itemProps1.xml><?xml version="1.0" encoding="utf-8"?>
<ds:datastoreItem xmlns:ds="http://schemas.openxmlformats.org/officeDocument/2006/customXml" ds:itemID="{2F968E3D-F92A-4816-980A-1D6F0C883F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FF0614A-F5F0-4384-A942-68512EA0F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76432-5f6f-4461-a773-af4277ea9cc4"/>
    <ds:schemaRef ds:uri="b112c056-f141-4248-a46f-e5f0219ad1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BA714E-519E-4AE5-BD10-2083B86B2694}">
  <ds:schemaRefs>
    <ds:schemaRef ds:uri="http://schemas.microsoft.com/office/2006/metadata/properties"/>
    <ds:schemaRef ds:uri="http://schemas.microsoft.com/office/infopath/2007/PartnerControls"/>
    <ds:schemaRef ds:uri="52776432-5f6f-4461-a773-af4277ea9cc4"/>
    <ds:schemaRef ds:uri="b112c056-f141-4248-a46f-e5f0219ad1a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Præsentation</Template>
  <TotalTime>4312</TotalTime>
  <Words>1108</Words>
  <Application>Microsoft Office PowerPoint</Application>
  <PresentationFormat>A4-papir (210 x 297 mm)</PresentationFormat>
  <Paragraphs>241</Paragraphs>
  <Slides>18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18</vt:i4>
      </vt:variant>
    </vt:vector>
  </HeadingPairs>
  <TitlesOfParts>
    <vt:vector size="24" baseType="lpstr">
      <vt:lpstr>Cambria Math</vt:lpstr>
      <vt:lpstr>Calibri</vt:lpstr>
      <vt:lpstr>Times New Roman</vt:lpstr>
      <vt:lpstr>Arial</vt:lpstr>
      <vt:lpstr>Aptos</vt:lpstr>
      <vt:lpstr>MARTEC</vt:lpstr>
      <vt:lpstr>Elektrisk energi og effekt</vt:lpstr>
      <vt:lpstr>Opgaver </vt:lpstr>
      <vt:lpstr>Arbejde</vt:lpstr>
      <vt:lpstr>Arbejde fortsat</vt:lpstr>
      <vt:lpstr>Arbejde fortsat</vt:lpstr>
      <vt:lpstr>Effekt</vt:lpstr>
      <vt:lpstr>Effekt fortsat</vt:lpstr>
      <vt:lpstr>Omregning</vt:lpstr>
      <vt:lpstr>Omregningstabel</vt:lpstr>
      <vt:lpstr>Vinkelhastighed og drejningsmoment</vt:lpstr>
      <vt:lpstr>Effekt og energi i jævnstrømskreds</vt:lpstr>
      <vt:lpstr>Effekt og energi i jævnstrømskreds fortsat</vt:lpstr>
      <vt:lpstr>Effekt og energi i jævnstrømskreds fortsat</vt:lpstr>
      <vt:lpstr>Eksempel</vt:lpstr>
      <vt:lpstr>Eksempel</vt:lpstr>
      <vt:lpstr>Eksempel</vt:lpstr>
      <vt:lpstr>Eksempel</vt:lpstr>
      <vt:lpstr>Facit</vt:lpstr>
    </vt:vector>
  </TitlesOfParts>
  <Company>MARTEC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Simon Tran Agerholm</dc:creator>
  <cp:lastModifiedBy>Simon Tran Agerholm</cp:lastModifiedBy>
  <cp:revision>136</cp:revision>
  <dcterms:created xsi:type="dcterms:W3CDTF">2020-04-01T11:50:27Z</dcterms:created>
  <dcterms:modified xsi:type="dcterms:W3CDTF">2026-08-17T12:07:13Z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0x0101004A5C8CDECDFE604A9828CFDC608EFB56</vt:lpwstr>
  </property>
  <property fmtid="{D5CDD505-2E9C-101B-9397-08002B2CF9AE}" pid="3" name="MediaServiceImageTags">
    <vt:lpwstr/>
  </property>
</Properties>
</file>