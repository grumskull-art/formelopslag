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2" r:id="rId4"/>
  </p:sldMasterIdLst>
  <p:notesMasterIdLst>
    <p:notesMasterId r:id="rId17"/>
  </p:notesMasterIdLst>
  <p:handoutMasterIdLst>
    <p:handoutMasterId r:id="rId18"/>
  </p:handoutMasterIdLst>
  <p:sldIdLst>
    <p:sldId id="308" r:id="rId5"/>
    <p:sldId id="338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51" r:id="rId16"/>
  </p:sldIdLst>
  <p:sldSz cx="9906000" cy="6858000" type="A4"/>
  <p:notesSz cx="9926638" cy="6797675"/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sektion" id="{367A50A3-E1A1-411C-B60A-C790A055E8D1}">
          <p14:sldIdLst>
            <p14:sldId id="308"/>
            <p14:sldId id="338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73"/>
    <a:srgbClr val="76D2B6"/>
    <a:srgbClr val="008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7" autoAdjust="0"/>
    <p:restoredTop sz="94590" autoAdjust="0"/>
  </p:normalViewPr>
  <p:slideViewPr>
    <p:cSldViewPr snapToObjects="1">
      <p:cViewPr varScale="1">
        <p:scale>
          <a:sx n="117" d="100"/>
          <a:sy n="117" d="100"/>
        </p:scale>
        <p:origin x="1302" y="10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6" d="100"/>
          <a:sy n="76" d="100"/>
        </p:scale>
        <p:origin x="-1908" y="-90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ers Kirkegaard" userId="4d5129ff-daee-434f-8316-c65cf7b9684f" providerId="ADAL" clId="{D1F5929C-7253-413A-9EB4-2CCDBC53EEC0}"/>
    <pc:docChg chg="custSel modSld">
      <pc:chgData name="Anders Kirkegaard" userId="4d5129ff-daee-434f-8316-c65cf7b9684f" providerId="ADAL" clId="{D1F5929C-7253-413A-9EB4-2CCDBC53EEC0}" dt="2026-02-24T23:07:09.671" v="205" actId="20577"/>
      <pc:docMkLst>
        <pc:docMk/>
      </pc:docMkLst>
      <pc:sldChg chg="modNotesTx">
        <pc:chgData name="Anders Kirkegaard" userId="4d5129ff-daee-434f-8316-c65cf7b9684f" providerId="ADAL" clId="{D1F5929C-7253-413A-9EB4-2CCDBC53EEC0}" dt="2026-02-24T22:56:25.614" v="203" actId="5793"/>
        <pc:sldMkLst>
          <pc:docMk/>
          <pc:sldMk cId="3576342854" sldId="351"/>
        </pc:sldMkLst>
      </pc:sldChg>
      <pc:sldChg chg="modSp mod">
        <pc:chgData name="Anders Kirkegaard" userId="4d5129ff-daee-434f-8316-c65cf7b9684f" providerId="ADAL" clId="{D1F5929C-7253-413A-9EB4-2CCDBC53EEC0}" dt="2026-02-24T23:07:09.671" v="205" actId="20577"/>
        <pc:sldMkLst>
          <pc:docMk/>
          <pc:sldMk cId="1926152154" sldId="361"/>
        </pc:sldMkLst>
        <pc:spChg chg="mod">
          <ac:chgData name="Anders Kirkegaard" userId="4d5129ff-daee-434f-8316-c65cf7b9684f" providerId="ADAL" clId="{D1F5929C-7253-413A-9EB4-2CCDBC53EEC0}" dt="2026-02-24T23:07:09.671" v="205" actId="20577"/>
          <ac:spMkLst>
            <pc:docMk/>
            <pc:sldMk cId="1926152154" sldId="361"/>
            <ac:spMk id="9" creationId="{0DBE7316-8730-80E0-5067-1410218150C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5622797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0AE49F00-0C9E-4AB3-AEF3-93A1138AB15A}" type="datetime1">
              <a:rPr lang="da-DK" smtClean="0"/>
              <a:pPr/>
              <a:t>24-02-2026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5622797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2A938149-C147-4FB1-A460-A81341C02630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5270111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5622797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95666CCB-B7BD-45F2-9C52-503B2080BF50}" type="datetime1">
              <a:rPr lang="da-DK" smtClean="0"/>
              <a:pPr/>
              <a:t>24-02-2026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3122613" y="509588"/>
            <a:ext cx="36814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01" tIns="45501" rIns="91001" bIns="45501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001" tIns="45501" rIns="91001" bIns="45501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5622797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C0745616-2564-45CF-B293-4F9F1738F760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191981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24-02-2026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0210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Opg</a:t>
            </a:r>
            <a:r>
              <a:rPr lang="da-DK" dirty="0"/>
              <a:t>. 9.22.2</a:t>
            </a:r>
          </a:p>
          <a:p>
            <a:pPr marL="285750" indent="-285750">
              <a:buFontTx/>
              <a:buChar char="-"/>
            </a:pPr>
            <a:r>
              <a:rPr lang="da-DK" dirty="0"/>
              <a:t>M mangler enheder [kg/kmol]</a:t>
            </a:r>
          </a:p>
          <a:p>
            <a:pPr marL="0" indent="0">
              <a:buFontTx/>
              <a:buNone/>
            </a:pPr>
            <a:r>
              <a:rPr lang="da-DK" dirty="0" err="1"/>
              <a:t>Opg</a:t>
            </a:r>
            <a:r>
              <a:rPr lang="da-DK" dirty="0"/>
              <a:t>. 9.23.1</a:t>
            </a:r>
          </a:p>
          <a:p>
            <a:pPr marL="285750" indent="-285750">
              <a:buFontTx/>
              <a:buChar char="-"/>
            </a:pPr>
            <a:r>
              <a:rPr lang="da-DK" dirty="0"/>
              <a:t>M er ikke opgivet (for at få det rette resultat, brug </a:t>
            </a:r>
            <a:r>
              <a:rPr lang="da-DK" dirty="0" err="1"/>
              <a:t>M_luft</a:t>
            </a:r>
            <a:r>
              <a:rPr lang="da-DK" dirty="0"/>
              <a:t> = 29 kg/kmol</a:t>
            </a:r>
          </a:p>
          <a:p>
            <a:pPr marL="0" indent="0">
              <a:buFontTx/>
              <a:buNone/>
            </a:pPr>
            <a:r>
              <a:rPr lang="da-DK" dirty="0"/>
              <a:t>9.24.1</a:t>
            </a:r>
          </a:p>
          <a:p>
            <a:pPr marL="285750" indent="-285750">
              <a:buFontTx/>
              <a:buChar char="-"/>
            </a:pPr>
            <a:r>
              <a:rPr lang="da-DK" dirty="0"/>
              <a:t>Regnerækkefølge:</a:t>
            </a:r>
          </a:p>
          <a:p>
            <a:pPr marL="822183" lvl="1" indent="-285750">
              <a:buFontTx/>
              <a:buChar char="-"/>
            </a:pPr>
            <a:r>
              <a:rPr lang="da-DK" dirty="0"/>
              <a:t>T2 -&gt; W -&gt; </a:t>
            </a:r>
            <a:r>
              <a:rPr lang="da-DK" dirty="0" err="1"/>
              <a:t>dH</a:t>
            </a:r>
            <a:r>
              <a:rPr lang="da-DK" dirty="0"/>
              <a:t> -&gt; </a:t>
            </a:r>
            <a:r>
              <a:rPr lang="da-DK" dirty="0" err="1"/>
              <a:t>dU</a:t>
            </a:r>
            <a:endParaRPr lang="da-DK" dirty="0"/>
          </a:p>
          <a:p>
            <a:pPr marL="0" indent="0">
              <a:buFontTx/>
              <a:buNone/>
            </a:pPr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24-02-2026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89627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9906000" cy="5145207"/>
          </a:xfrm>
          <a:prstGeom prst="rect">
            <a:avLst/>
          </a:prstGeom>
        </p:spPr>
      </p:pic>
      <p:sp>
        <p:nvSpPr>
          <p:cNvPr id="7" name="Rektangel 6"/>
          <p:cNvSpPr/>
          <p:nvPr userDrawn="1"/>
        </p:nvSpPr>
        <p:spPr>
          <a:xfrm>
            <a:off x="0" y="5145206"/>
            <a:ext cx="9906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384" y="5739931"/>
            <a:ext cx="153742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273050" y="5499100"/>
            <a:ext cx="7200900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272582" y="6129338"/>
            <a:ext cx="5670550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2352" y="2828920"/>
            <a:ext cx="93613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272353" y="1388728"/>
            <a:ext cx="9361921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271727" y="3789050"/>
            <a:ext cx="9362546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308" y="258165"/>
            <a:ext cx="153742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115752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8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420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467404" y="275167"/>
            <a:ext cx="8971196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370879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7000775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467404" y="1600202"/>
            <a:ext cx="8971196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25000"/>
        <a:buFontTx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364F6B0-1E07-72EC-9C89-DDB049F12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7DADD530-95D3-1180-7A82-446F48CA41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6129" y="904308"/>
            <a:ext cx="9068709" cy="5049384"/>
          </a:xfrm>
        </p:spPr>
        <p:txBody>
          <a:bodyPr/>
          <a:lstStyle/>
          <a:p>
            <a:r>
              <a:rPr lang="da-DK" dirty="0"/>
              <a:t>Tilstandsforandringer (termodynamiske processer)</a:t>
            </a:r>
          </a:p>
          <a:p>
            <a:pPr marL="879333" lvl="1" indent="-342900"/>
            <a:r>
              <a:rPr lang="da-DK" dirty="0">
                <a:solidFill>
                  <a:schemeClr val="tx1"/>
                </a:solidFill>
              </a:rPr>
              <a:t>Isobar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 err="1">
                <a:solidFill>
                  <a:schemeClr val="tx1"/>
                </a:solidFill>
              </a:rPr>
              <a:t>Isokor</a:t>
            </a:r>
            <a:endParaRPr lang="da-DK" dirty="0">
              <a:solidFill>
                <a:schemeClr val="tx1"/>
              </a:solidFill>
            </a:endParaRP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/>
                </a:solidFill>
              </a:rPr>
              <a:t>Isoterm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 err="1">
                <a:solidFill>
                  <a:schemeClr val="tx1"/>
                </a:solidFill>
              </a:rPr>
              <a:t>Isentrop</a:t>
            </a:r>
            <a:endParaRPr lang="da-DK" dirty="0">
              <a:solidFill>
                <a:schemeClr val="tx1"/>
              </a:solidFill>
            </a:endParaRP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/>
                </a:solidFill>
              </a:rPr>
              <a:t>Polytrop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>
              <a:solidFill>
                <a:srgbClr val="FF0000"/>
              </a:solidFill>
            </a:endParaRPr>
          </a:p>
          <a:p>
            <a:pPr marL="536433" lvl="1" indent="0">
              <a:buNone/>
            </a:pP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006793E-B127-4A92-293F-3CFF603B3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1" y="404664"/>
            <a:ext cx="9090889" cy="480067"/>
          </a:xfrm>
        </p:spPr>
        <p:txBody>
          <a:bodyPr/>
          <a:lstStyle/>
          <a:p>
            <a:r>
              <a:rPr lang="da-DK" dirty="0"/>
              <a:t>Dagens program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C6A99DA-CAFB-848A-6E9A-A029577AC77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E9FD94A-32F4-273E-CB83-0B00245DA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6476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7917B-8AEE-F12C-693E-7DF27346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A2F156D2-2800-CD65-2BDD-7DF9D2712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C71B5DEF-B090-CDCE-696A-134F9B4406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7198357" cy="3052149"/>
          </a:xfrm>
        </p:spPr>
        <p:txBody>
          <a:bodyPr/>
          <a:lstStyle/>
          <a:p>
            <a:r>
              <a:rPr lang="da-DK" b="0" dirty="0"/>
              <a:t>For en isobar proces gælder at trykket gennem processen er konstant og derved det samme i begge tilstande.</a:t>
            </a:r>
          </a:p>
          <a:p>
            <a:endParaRPr lang="da-DK" b="0" dirty="0"/>
          </a:p>
          <a:p>
            <a:r>
              <a:rPr lang="da-DK" b="0" dirty="0"/>
              <a:t>Da trykket er konstant gælder Gay-</a:t>
            </a:r>
            <a:r>
              <a:rPr lang="da-DK" b="0" dirty="0" err="1"/>
              <a:t>Lussacs</a:t>
            </a:r>
            <a:r>
              <a:rPr lang="da-DK" b="0" dirty="0"/>
              <a:t> 2. lov.</a:t>
            </a: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FC04837-4D19-2EC6-AAC9-632AC2E4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Isobar tilstandsforandring (konstant tryk) 1/2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5EFF530F-1A4E-4CAE-A271-9FCB20BF48D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43A87A1-9261-4CA0-699E-98061C0D1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9AE75113-EE10-0778-32C6-707009A0C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880" y="3284984"/>
            <a:ext cx="1695450" cy="714375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F2A8840C-77A8-EAA7-86F4-E4F138198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300" y="4219306"/>
            <a:ext cx="10287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580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9A4B-150F-42D0-E990-C3FD9D88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7C9B9066-DDCA-5042-81A8-EEE764424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0DBE7316-8730-80E0-5067-1410218150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6478277" cy="3906390"/>
          </a:xfrm>
        </p:spPr>
        <p:txBody>
          <a:bodyPr/>
          <a:lstStyle/>
          <a:p>
            <a:r>
              <a:rPr lang="da-DK" b="0" dirty="0"/>
              <a:t>Ud fra varmelærens 1. hovedsætning kan tilvæksten i indre energi findes som:</a:t>
            </a:r>
          </a:p>
          <a:p>
            <a:endParaRPr lang="da-DK" b="0" dirty="0"/>
          </a:p>
          <a:p>
            <a:r>
              <a:rPr lang="da-DK" b="0" dirty="0"/>
              <a:t>Da der finder en volumenændring sted udføres der et arbejde. Ved en isobar proces foregår arbejdet ved et konstant tryk:</a:t>
            </a:r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Den tilførte varmeenergi beregnes som:</a:t>
            </a:r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064E98B-148A-1049-9DCE-96D63532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Isobar tilstandsforandring (konstant tryk) 2/2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7682D20E-32A4-5DCB-D3D5-F1895176618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49C3A6E-E80E-F4AF-7A76-05EEFF324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37B4B70E-A4DD-8A1D-D1A5-A7B52755C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679" y="2368774"/>
            <a:ext cx="2019300" cy="352425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20A48027-7371-F2D2-D425-76FF0536A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679" y="3747504"/>
            <a:ext cx="1666875" cy="333375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A0A4F649-3396-81FE-9B6F-E4F626C3C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4679" y="5040989"/>
            <a:ext cx="1838325" cy="352425"/>
          </a:xfrm>
          <a:prstGeom prst="rect">
            <a:avLst/>
          </a:prstGeom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05BF1323-E9FC-AC41-2781-8D4419751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286" y="1611347"/>
            <a:ext cx="24765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52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E2A21-D19E-B85F-5900-ECD9D24B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CF6D4E6-EFBE-690E-4B07-B450F64DA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E33887FB-FED2-655B-D782-7F57F67DF4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7198357" cy="3052149"/>
          </a:xfrm>
        </p:spPr>
        <p:txBody>
          <a:bodyPr/>
          <a:lstStyle/>
          <a:p>
            <a:r>
              <a:rPr lang="da-DK" b="0" dirty="0"/>
              <a:t>For en </a:t>
            </a:r>
            <a:r>
              <a:rPr lang="da-DK" b="0" dirty="0" err="1"/>
              <a:t>isokor</a:t>
            </a:r>
            <a:r>
              <a:rPr lang="da-DK" b="0" dirty="0"/>
              <a:t> proces gælder at volumenet gennem processen er konstant og derved det samme i begge tilstande.</a:t>
            </a:r>
          </a:p>
          <a:p>
            <a:endParaRPr lang="da-DK" b="0" dirty="0"/>
          </a:p>
          <a:p>
            <a:r>
              <a:rPr lang="da-DK" b="0" dirty="0"/>
              <a:t>Ved konstant volumen Gay-</a:t>
            </a:r>
            <a:r>
              <a:rPr lang="da-DK" b="0" dirty="0" err="1"/>
              <a:t>Lussacs</a:t>
            </a:r>
            <a:r>
              <a:rPr lang="da-DK" b="0" dirty="0"/>
              <a:t> 1. lov.</a:t>
            </a: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4B8F3309-A32F-61F7-5D48-9EC2E5D1A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 err="1"/>
              <a:t>Isokor</a:t>
            </a:r>
            <a:r>
              <a:rPr lang="da-DK" dirty="0"/>
              <a:t> tilstandsforandring (konstant volumen V) 1/2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0569B27-5115-56AB-65A7-80E433F928D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99D076C-A215-152B-7DB7-06E3E6ADE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0F11DC59-CB44-C228-D820-F8DB8C865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3429000"/>
            <a:ext cx="1638300" cy="628650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E8C433D0-9552-88CC-1D27-B7A52037A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062" y="4289328"/>
            <a:ext cx="10096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1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989D1-55C9-48CD-61C5-1B1A6A8A3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8582DD6-6B2C-C0EA-BA1D-CDF9D7B4B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EE94A6BC-7852-4222-FD38-7BCAA1DBA9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6478277" cy="3906390"/>
          </a:xfrm>
        </p:spPr>
        <p:txBody>
          <a:bodyPr/>
          <a:lstStyle/>
          <a:p>
            <a:r>
              <a:rPr lang="da-DK" b="0" dirty="0"/>
              <a:t>Da der for en </a:t>
            </a:r>
            <a:r>
              <a:rPr lang="da-DK" b="0" dirty="0" err="1"/>
              <a:t>isokor</a:t>
            </a:r>
            <a:r>
              <a:rPr lang="da-DK" b="0" dirty="0"/>
              <a:t> tilstandsforandring ikke er en volumenændring og dermed ikke udføres et arbejde kan tilvæksten i indre energi findes som:</a:t>
            </a:r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hvor:</a:t>
            </a:r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Den tilførte varmenergi beregnes som:</a:t>
            </a:r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FF5D7991-9909-74B1-74D6-64CD515B1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 err="1"/>
              <a:t>Isokor</a:t>
            </a:r>
            <a:r>
              <a:rPr lang="da-DK" dirty="0"/>
              <a:t> tilstandsforandring (konstant volumen V) 2/2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BF6247B-D860-9218-228C-7C3B85F4A7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1C032E6-28A5-4B9F-3FFB-8CA49F0DE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188F4A70-F678-EE93-D3BB-E3C1402B8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75" y="2934283"/>
            <a:ext cx="1238250" cy="352425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E5746D5C-E141-1BC6-8D96-BE4FFFDA0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388" y="3832711"/>
            <a:ext cx="847725" cy="333375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BDE8B98A-096A-2ADB-47F2-641E9BE1B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375" y="5136759"/>
            <a:ext cx="1885950" cy="342900"/>
          </a:xfrm>
          <a:prstGeom prst="rect">
            <a:avLst/>
          </a:prstGeom>
        </p:spPr>
      </p:pic>
      <p:pic>
        <p:nvPicPr>
          <p:cNvPr id="18" name="Billede 17">
            <a:extLst>
              <a:ext uri="{FF2B5EF4-FFF2-40B4-BE49-F238E27FC236}">
                <a16:creationId xmlns:a16="http://schemas.microsoft.com/office/drawing/2014/main" id="{1B09453C-B5B6-F8E3-3E8F-2BB7403D0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892" y="1968659"/>
            <a:ext cx="246697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49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23B3-1CC3-C5E6-84C2-90A0E5529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7788813-7854-EEC3-6FFA-FAC7616D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6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47705132-9D20-5E71-21BA-A9FC01BB33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7198357" cy="3052149"/>
          </a:xfrm>
        </p:spPr>
        <p:txBody>
          <a:bodyPr/>
          <a:lstStyle/>
          <a:p>
            <a:r>
              <a:rPr lang="da-DK" b="0" dirty="0"/>
              <a:t>Temperaturen gennem processen er konstant og derved det samme i begge tilstande.</a:t>
            </a:r>
          </a:p>
          <a:p>
            <a:endParaRPr lang="da-DK" b="0" dirty="0"/>
          </a:p>
          <a:p>
            <a:r>
              <a:rPr lang="da-DK" b="0" dirty="0"/>
              <a:t>For en isoterm proces gælder Boyle-Mariottes lov:</a:t>
            </a:r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5A4A4D80-AFAF-A0D5-9F55-6D58C9D27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sv-SE" dirty="0"/>
              <a:t>Isoterm </a:t>
            </a:r>
            <a:r>
              <a:rPr lang="sv-SE" dirty="0" err="1"/>
              <a:t>proces</a:t>
            </a:r>
            <a:r>
              <a:rPr lang="sv-SE" dirty="0"/>
              <a:t> (konstant temperatur T)</a:t>
            </a:r>
            <a:r>
              <a:rPr lang="da-DK" dirty="0"/>
              <a:t> 1/2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D40E430C-F46B-6C68-7594-42A459DF751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8982816B-6B9A-7A07-0BFD-36BA5B3A1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81A57141-4BCA-E6CA-E7DE-612EDBEDC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840" y="3695136"/>
            <a:ext cx="1952625" cy="361950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C61FFA5E-3694-58EA-55E3-DC138B24E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840" y="4405534"/>
            <a:ext cx="18478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57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D2061-4803-0A59-9B69-AD4C8CD2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1874E78A-341A-5E93-AEE3-C6B85012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7E1D9470-8BCA-6B45-5510-F9626754A0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7292" y="853674"/>
            <a:ext cx="6478277" cy="3906390"/>
          </a:xfrm>
        </p:spPr>
        <p:txBody>
          <a:bodyPr/>
          <a:lstStyle/>
          <a:p>
            <a:r>
              <a:rPr lang="da-DK" b="0" dirty="0"/>
              <a:t>Her afgives / tilføres varme Q i samme</a:t>
            </a:r>
          </a:p>
          <a:p>
            <a:r>
              <a:rPr lang="da-DK" b="0" dirty="0"/>
              <a:t>tempo som energi afgives / tilføres i form af arbejde W. Der er derfor ingen tilvækst i indre energi:</a:t>
            </a:r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hvor:</a:t>
            </a:r>
          </a:p>
          <a:p>
            <a:endParaRPr lang="da-DK" b="0" dirty="0"/>
          </a:p>
          <a:p>
            <a:r>
              <a:rPr lang="da-DK" b="0" dirty="0"/>
              <a:t>Arbejdet kan beregnes som:</a:t>
            </a:r>
          </a:p>
          <a:p>
            <a:endParaRPr lang="da-DK" b="0" dirty="0"/>
          </a:p>
          <a:p>
            <a:r>
              <a:rPr lang="da-DK" b="0" dirty="0"/>
              <a:t>eller</a:t>
            </a:r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Den tilførte varmenergi beregnes som:</a:t>
            </a:r>
          </a:p>
          <a:p>
            <a:endParaRPr lang="da-DK" b="0" dirty="0"/>
          </a:p>
          <a:p>
            <a:r>
              <a:rPr lang="da-DK" b="0" dirty="0"/>
              <a:t>eller</a:t>
            </a:r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90AA27D-D05E-2330-7F01-7EC388AF5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92" y="273047"/>
            <a:ext cx="9090889" cy="480067"/>
          </a:xfrm>
        </p:spPr>
        <p:txBody>
          <a:bodyPr/>
          <a:lstStyle/>
          <a:p>
            <a:r>
              <a:rPr lang="sv-SE" dirty="0"/>
              <a:t>Isoterm </a:t>
            </a:r>
            <a:r>
              <a:rPr lang="sv-SE" dirty="0" err="1"/>
              <a:t>proces</a:t>
            </a:r>
            <a:r>
              <a:rPr lang="sv-SE" dirty="0"/>
              <a:t> (konstant temperatur T)</a:t>
            </a:r>
            <a:r>
              <a:rPr lang="da-DK" dirty="0"/>
              <a:t> 2/2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CA7FB0C-A6C3-F7E9-D22F-FE62BD1D2E6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E59761D-F938-BF04-B1B9-8337059D0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A8DB4794-C2F6-52D9-A0CA-7AD511D32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551" y="1787483"/>
            <a:ext cx="1724025" cy="381000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DF5D7072-0999-4873-4A9E-7CC2687EF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551" y="2640919"/>
            <a:ext cx="1095375" cy="371475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D522CA42-368E-870F-FA01-98D2A8C16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549" y="3408026"/>
            <a:ext cx="2257425" cy="704850"/>
          </a:xfrm>
          <a:prstGeom prst="rect">
            <a:avLst/>
          </a:prstGeom>
        </p:spPr>
      </p:pic>
      <p:pic>
        <p:nvPicPr>
          <p:cNvPr id="17" name="Billede 16">
            <a:extLst>
              <a:ext uri="{FF2B5EF4-FFF2-40B4-BE49-F238E27FC236}">
                <a16:creationId xmlns:a16="http://schemas.microsoft.com/office/drawing/2014/main" id="{6CC80C90-3628-41F1-6A7B-8E931E9E3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8551" y="4150464"/>
            <a:ext cx="2181225" cy="609600"/>
          </a:xfrm>
          <a:prstGeom prst="rect">
            <a:avLst/>
          </a:prstGeom>
        </p:spPr>
      </p:pic>
      <p:pic>
        <p:nvPicPr>
          <p:cNvPr id="20" name="Billede 19">
            <a:extLst>
              <a:ext uri="{FF2B5EF4-FFF2-40B4-BE49-F238E27FC236}">
                <a16:creationId xmlns:a16="http://schemas.microsoft.com/office/drawing/2014/main" id="{7C361F95-83BC-CE2F-4D8F-DE7FDEFF9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551" y="5080003"/>
            <a:ext cx="2390775" cy="752475"/>
          </a:xfrm>
          <a:prstGeom prst="rect">
            <a:avLst/>
          </a:prstGeom>
        </p:spPr>
      </p:pic>
      <p:pic>
        <p:nvPicPr>
          <p:cNvPr id="22" name="Billede 21">
            <a:extLst>
              <a:ext uri="{FF2B5EF4-FFF2-40B4-BE49-F238E27FC236}">
                <a16:creationId xmlns:a16="http://schemas.microsoft.com/office/drawing/2014/main" id="{9A00A90C-C1AD-6D29-7DAF-A65DFEEF89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8551" y="5756607"/>
            <a:ext cx="2362200" cy="628650"/>
          </a:xfrm>
          <a:prstGeom prst="rect">
            <a:avLst/>
          </a:prstGeom>
        </p:spPr>
      </p:pic>
      <p:pic>
        <p:nvPicPr>
          <p:cNvPr id="24" name="Billede 23">
            <a:extLst>
              <a:ext uri="{FF2B5EF4-FFF2-40B4-BE49-F238E27FC236}">
                <a16:creationId xmlns:a16="http://schemas.microsoft.com/office/drawing/2014/main" id="{920FED38-F370-E33E-C79B-0D0C8D627A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03" y="1556669"/>
            <a:ext cx="2447925" cy="2886075"/>
          </a:xfrm>
          <a:prstGeom prst="rect">
            <a:avLst/>
          </a:prstGeom>
        </p:spPr>
      </p:pic>
      <p:sp>
        <p:nvSpPr>
          <p:cNvPr id="25" name="Tekstfelt 24">
            <a:extLst>
              <a:ext uri="{FF2B5EF4-FFF2-40B4-BE49-F238E27FC236}">
                <a16:creationId xmlns:a16="http://schemas.microsoft.com/office/drawing/2014/main" id="{CF23EBE2-F019-09FF-397C-6F593ADFD5B1}"/>
              </a:ext>
            </a:extLst>
          </p:cNvPr>
          <p:cNvSpPr txBox="1"/>
          <p:nvPr/>
        </p:nvSpPr>
        <p:spPr>
          <a:xfrm>
            <a:off x="6803103" y="4392611"/>
            <a:ext cx="2918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Grafen for en isoterm proces er en hyperbel</a:t>
            </a:r>
          </a:p>
        </p:txBody>
      </p:sp>
    </p:spTree>
    <p:extLst>
      <p:ext uri="{BB962C8B-B14F-4D97-AF65-F5344CB8AC3E}">
        <p14:creationId xmlns:p14="http://schemas.microsoft.com/office/powerpoint/2010/main" val="600044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52780-BB3B-2DD1-5127-F399C018D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E8880FC1-D7D1-1032-C072-C9A7A5C9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8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9C36EFD4-1CBA-6CAB-F3C9-274A5172CA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7198357" cy="3052149"/>
          </a:xfrm>
        </p:spPr>
        <p:txBody>
          <a:bodyPr/>
          <a:lstStyle/>
          <a:p>
            <a:r>
              <a:rPr lang="da-DK" b="0" dirty="0"/>
              <a:t>En </a:t>
            </a:r>
            <a:r>
              <a:rPr lang="da-DK" b="0" dirty="0" err="1"/>
              <a:t>isentropisk</a:t>
            </a:r>
            <a:r>
              <a:rPr lang="da-DK" b="0" dirty="0"/>
              <a:t> (reversibel </a:t>
            </a:r>
            <a:r>
              <a:rPr lang="da-DK" b="0" dirty="0" err="1"/>
              <a:t>adiabat</a:t>
            </a:r>
            <a:r>
              <a:rPr lang="da-DK" b="0" dirty="0"/>
              <a:t> proces) proces forløber i et sådan tempo at der ikke nås at udveksle varme Q med omgivelserne.</a:t>
            </a:r>
          </a:p>
          <a:p>
            <a:endParaRPr lang="da-DK" b="0" dirty="0"/>
          </a:p>
          <a:p>
            <a:r>
              <a:rPr lang="da-DK" b="0" dirty="0"/>
              <a:t>Dette vil blandt andet være gældende for forbrændingsmotorer da stempelslagene her foregår ved et relativt højt tempo.</a:t>
            </a:r>
          </a:p>
          <a:p>
            <a:endParaRPr lang="da-DK" b="0" dirty="0"/>
          </a:p>
          <a:p>
            <a:r>
              <a:rPr lang="da-DK" b="0" dirty="0"/>
              <a:t>Der gælder at:</a:t>
            </a:r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7C00C1F-1500-65E9-1B81-7D8F1946D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 err="1"/>
              <a:t>Isentropisk</a:t>
            </a:r>
            <a:r>
              <a:rPr lang="da-DK" dirty="0"/>
              <a:t> proces (konstant entropi S</a:t>
            </a:r>
            <a:r>
              <a:rPr lang="da-DK" b="0" dirty="0"/>
              <a:t>) </a:t>
            </a:r>
            <a:r>
              <a:rPr lang="da-DK" dirty="0"/>
              <a:t>1/2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5E2F5E99-E18F-AE3A-F352-2F1BDA6479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39496CAD-6377-E855-D0E8-3916185A5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5B6EB4BE-66F9-C863-0981-15365CDBE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792" y="4293096"/>
            <a:ext cx="2057400" cy="409575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769A7DC1-BC04-46BA-66C5-1981855EE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792" y="4826676"/>
            <a:ext cx="1857375" cy="428625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974FDD22-91D9-F850-E6BE-C84CFB74A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991" y="3869135"/>
            <a:ext cx="2631753" cy="54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00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0A660-860F-F114-8833-F9ACA903F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1D507468-FB6B-CCB1-6D9C-D81828AF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9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6B95368D-978B-8135-89B8-E3E2A4111A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6478277" cy="3906390"/>
          </a:xfrm>
        </p:spPr>
        <p:txBody>
          <a:bodyPr/>
          <a:lstStyle/>
          <a:p>
            <a:r>
              <a:rPr lang="da-DK" b="0" dirty="0"/>
              <a:t>Da der ikke udveksles varme Q med omgivelserne bliver tilvæksten i indre energi:</a:t>
            </a:r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Det udførte arbejde kan findes som:</a:t>
            </a:r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19B4217-CA4F-1741-73CD-F8874E062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 err="1"/>
              <a:t>Isentropisk</a:t>
            </a:r>
            <a:r>
              <a:rPr lang="da-DK" dirty="0"/>
              <a:t> proces (konstant entropi S</a:t>
            </a:r>
            <a:r>
              <a:rPr lang="da-DK" b="0" dirty="0"/>
              <a:t>) </a:t>
            </a:r>
            <a:r>
              <a:rPr lang="da-DK" dirty="0"/>
              <a:t>2/2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581BF650-D683-8DB5-DDC9-8DDFC3A0305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51CA7D7-28CB-E911-E74E-9F61A8EB8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C5D759FE-998E-C3CD-D24A-67D5256C8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988" y="2568525"/>
            <a:ext cx="1276350" cy="295275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A6FA2218-4AAC-D553-D70C-B25C7B72F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054" y="4200026"/>
            <a:ext cx="3352800" cy="723900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06DDADC4-75EF-4E13-A192-41C105F33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439" y="1511230"/>
            <a:ext cx="2560769" cy="2997890"/>
          </a:xfrm>
          <a:prstGeom prst="rect">
            <a:avLst/>
          </a:prstGeom>
        </p:spPr>
      </p:pic>
      <p:sp>
        <p:nvSpPr>
          <p:cNvPr id="16" name="Tekstfelt 15">
            <a:extLst>
              <a:ext uri="{FF2B5EF4-FFF2-40B4-BE49-F238E27FC236}">
                <a16:creationId xmlns:a16="http://schemas.microsoft.com/office/drawing/2014/main" id="{7292E68A-2455-2042-7607-6ED1327C5923}"/>
              </a:ext>
            </a:extLst>
          </p:cNvPr>
          <p:cNvSpPr txBox="1"/>
          <p:nvPr/>
        </p:nvSpPr>
        <p:spPr>
          <a:xfrm>
            <a:off x="6553200" y="4508427"/>
            <a:ext cx="335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/>
              <a:t>Som for den isotermiske proces er grafen </a:t>
            </a:r>
          </a:p>
          <a:p>
            <a:r>
              <a:rPr lang="da-DK" sz="1200" dirty="0"/>
              <a:t>for en </a:t>
            </a:r>
            <a:r>
              <a:rPr lang="da-DK" sz="1200" dirty="0" err="1"/>
              <a:t>isentropisk</a:t>
            </a:r>
            <a:r>
              <a:rPr lang="da-DK" sz="1200" dirty="0"/>
              <a:t> proces en hyperbel.</a:t>
            </a:r>
          </a:p>
          <a:p>
            <a:endParaRPr lang="da-DK" sz="1200" dirty="0"/>
          </a:p>
          <a:p>
            <a:r>
              <a:rPr lang="da-DK" sz="1200" dirty="0"/>
              <a:t>Da der ikke udveksles varme med omgivelserne</a:t>
            </a:r>
          </a:p>
          <a:p>
            <a:r>
              <a:rPr lang="da-DK" sz="1200" dirty="0"/>
              <a:t>stiger grafen for den </a:t>
            </a:r>
            <a:r>
              <a:rPr lang="da-DK" sz="1200" dirty="0" err="1"/>
              <a:t>isentropiske</a:t>
            </a:r>
            <a:r>
              <a:rPr lang="da-DK" sz="1200" dirty="0"/>
              <a:t> proces hurtigere.</a:t>
            </a:r>
          </a:p>
        </p:txBody>
      </p:sp>
    </p:spTree>
    <p:extLst>
      <p:ext uri="{BB962C8B-B14F-4D97-AF65-F5344CB8AC3E}">
        <p14:creationId xmlns:p14="http://schemas.microsoft.com/office/powerpoint/2010/main" val="2211276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4AF71-1053-84C4-8680-BC978F1E9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E4AA28A2-3BBE-7C19-4A81-B2E37EBD0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10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CE41FF23-210A-51F7-F383-8CAA122220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7198357" cy="3052149"/>
          </a:xfrm>
        </p:spPr>
        <p:txBody>
          <a:bodyPr/>
          <a:lstStyle/>
          <a:p>
            <a:r>
              <a:rPr lang="da-DK" b="0" dirty="0"/>
              <a:t>De processer eller tilstandsforandringer vi har set på indtil videre er alle specialtilfælde af en polytrop proces.</a:t>
            </a:r>
          </a:p>
          <a:p>
            <a:endParaRPr lang="da-DK" b="0" dirty="0"/>
          </a:p>
          <a:p>
            <a:r>
              <a:rPr lang="da-DK" b="0" dirty="0"/>
              <a:t>Der gælder at:</a:t>
            </a:r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 err="1"/>
              <a:t>Polytropeksponenten</a:t>
            </a:r>
            <a:r>
              <a:rPr lang="da-DK" b="0" dirty="0"/>
              <a:t> er enten oplyst i opgaven eller må beregnes.</a:t>
            </a:r>
          </a:p>
          <a:p>
            <a:endParaRPr lang="da-DK" b="0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45F54AFC-D4DB-73D3-0476-7AEC0EACF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01" y="962770"/>
            <a:ext cx="9582536" cy="480067"/>
          </a:xfrm>
        </p:spPr>
        <p:txBody>
          <a:bodyPr/>
          <a:lstStyle/>
          <a:p>
            <a:r>
              <a:rPr lang="da-DK" dirty="0"/>
              <a:t>Polytrop proces (bemærk at langt fra alle formler er medtaget!</a:t>
            </a:r>
            <a:r>
              <a:rPr lang="da-DK" b="0" dirty="0"/>
              <a:t>) </a:t>
            </a:r>
            <a:r>
              <a:rPr lang="da-DK" dirty="0"/>
              <a:t>1/2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2F06C21-3584-06EE-6F33-8181B89EDCB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A1285B0-0EB6-C78E-0237-F2EAAB5AD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A5E5472D-165D-479A-B988-782C42906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760" y="3515846"/>
            <a:ext cx="2019300" cy="276225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DDEB4F71-CFE8-22D0-1853-653AE1A72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760" y="4004699"/>
            <a:ext cx="1866900" cy="333375"/>
          </a:xfrm>
          <a:prstGeom prst="rect">
            <a:avLst/>
          </a:prstGeom>
        </p:spPr>
      </p:pic>
      <p:pic>
        <p:nvPicPr>
          <p:cNvPr id="17" name="Billede 16">
            <a:extLst>
              <a:ext uri="{FF2B5EF4-FFF2-40B4-BE49-F238E27FC236}">
                <a16:creationId xmlns:a16="http://schemas.microsoft.com/office/drawing/2014/main" id="{015AFD57-A338-8EAA-33CD-B63A48E29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552" y="2969843"/>
            <a:ext cx="2820096" cy="5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737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CDA87-B1AA-7AF2-88C7-CEAC7F2E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FDBD29D-C791-04CD-5DC1-E8381695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11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954F1B70-648D-0D64-03BE-B4673EC400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6478277" cy="3906390"/>
          </a:xfrm>
        </p:spPr>
        <p:txBody>
          <a:bodyPr/>
          <a:lstStyle/>
          <a:p>
            <a:r>
              <a:rPr lang="da-DK" b="0" dirty="0"/>
              <a:t>Tilvæksten i indre energi kan findes som:</a:t>
            </a:r>
          </a:p>
          <a:p>
            <a:endParaRPr lang="da-DK" b="0" dirty="0"/>
          </a:p>
          <a:p>
            <a:r>
              <a:rPr lang="da-DK" b="0" dirty="0"/>
              <a:t>Den tilførte varmeenergi beregnes som:</a:t>
            </a:r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Det udførte arbejde kan </a:t>
            </a:r>
            <a:r>
              <a:rPr lang="da-DK" dirty="0"/>
              <a:t>blandt andet </a:t>
            </a:r>
            <a:r>
              <a:rPr lang="da-DK" b="0" dirty="0"/>
              <a:t>findes som:</a:t>
            </a:r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5ED90DC0-D28E-59E5-EAAA-862E75A58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962770"/>
            <a:ext cx="9433047" cy="480067"/>
          </a:xfrm>
        </p:spPr>
        <p:txBody>
          <a:bodyPr/>
          <a:lstStyle/>
          <a:p>
            <a:r>
              <a:rPr lang="da-DK" dirty="0"/>
              <a:t>Polytrop proces (bemærk at langt fra alle formler er medtaget!</a:t>
            </a:r>
            <a:r>
              <a:rPr lang="da-DK" b="0" dirty="0"/>
              <a:t>) 2</a:t>
            </a:r>
            <a:r>
              <a:rPr lang="da-DK" dirty="0"/>
              <a:t>/2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3C60944-8908-95FF-6B9F-4A3992B0B17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BB59B963-2756-F99F-3654-D850101BC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5AD63378-D9B7-5DDE-E20E-751D11F8A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301" y="3267202"/>
            <a:ext cx="2314575" cy="390525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78B102AC-1FF9-9F62-4E28-A530B08FC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301" y="4671511"/>
            <a:ext cx="3000375" cy="638175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275A6DF5-2C7D-A221-6A27-6E6112436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4679" y="2368774"/>
            <a:ext cx="2019300" cy="352425"/>
          </a:xfrm>
          <a:prstGeom prst="rect">
            <a:avLst/>
          </a:prstGeom>
        </p:spPr>
      </p:pic>
      <p:pic>
        <p:nvPicPr>
          <p:cNvPr id="17" name="Billede 16">
            <a:extLst>
              <a:ext uri="{FF2B5EF4-FFF2-40B4-BE49-F238E27FC236}">
                <a16:creationId xmlns:a16="http://schemas.microsoft.com/office/drawing/2014/main" id="{0A1EB43F-4791-73CA-620B-6F4493C30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551" y="1572069"/>
            <a:ext cx="3867027" cy="32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78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34C7F-0D29-CC7F-25C2-BBF7EF8D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8668CA13-217B-0059-EFD7-4A96D0AA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12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314BD245-589A-0639-9E43-20649B8147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39"/>
            <a:ext cx="9116187" cy="4320545"/>
          </a:xfrm>
        </p:spPr>
        <p:txBody>
          <a:bodyPr/>
          <a:lstStyle/>
          <a:p>
            <a:r>
              <a:rPr lang="da-DK" dirty="0"/>
              <a:t>Regn opgave: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9.22.1, 9.22.2, 9.23.1, 9.24.1, 9.25.1 og 9.26.1</a:t>
            </a:r>
          </a:p>
          <a:p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pPr marL="536433" lvl="1" indent="0">
              <a:buNone/>
            </a:pPr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570F343-9D06-7EEB-518B-73178C50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Opgaveregning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187B7C1-177F-7290-2788-EFA6A61CF4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24-02-2026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76342854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 v1.0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0B86947F2F384791A43E453BD63C53" ma:contentTypeVersion="3" ma:contentTypeDescription="Opret et nyt dokument." ma:contentTypeScope="" ma:versionID="924b14b58be40a76b67bff0b65d02dc8">
  <xsd:schema xmlns:xsd="http://www.w3.org/2001/XMLSchema" xmlns:xs="http://www.w3.org/2001/XMLSchema" xmlns:p="http://schemas.microsoft.com/office/2006/metadata/properties" xmlns:ns2="b0b3f9a3-cc49-4c1b-8e77-4a04ffe98b8e" targetNamespace="http://schemas.microsoft.com/office/2006/metadata/properties" ma:root="true" ma:fieldsID="a7c221301ad9a472da9d5e0a356bdffd" ns2:_="">
    <xsd:import namespace="b0b3f9a3-cc49-4c1b-8e77-4a04ffe98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b3f9a3-cc49-4c1b-8e77-4a04ffe98b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5587E0-1E1F-487C-87AA-2FD65DF18E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C7150C-8886-4E50-9C42-E25BE38FCADE}"/>
</file>

<file path=customXml/itemProps3.xml><?xml version="1.0" encoding="utf-8"?>
<ds:datastoreItem xmlns:ds="http://schemas.openxmlformats.org/officeDocument/2006/customXml" ds:itemID="{7634AB23-3E4C-4006-AFFA-F6D9CE03D5EB}">
  <ds:schemaRefs>
    <ds:schemaRef ds:uri="http://purl.org/dc/dcmitype/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0be61fce-68b2-4a0e-80ea-205159f95b8a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Martec - powerpoint skabelon_v1</Template>
  <TotalTime>21048</TotalTime>
  <Words>542</Words>
  <Application>Microsoft Office PowerPoint</Application>
  <PresentationFormat>A4-papir (210 x 297 mm)</PresentationFormat>
  <Paragraphs>199</Paragraphs>
  <Slides>12</Slides>
  <Notes>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12</vt:i4>
      </vt:variant>
    </vt:vector>
  </HeadingPairs>
  <TitlesOfParts>
    <vt:vector size="15" baseType="lpstr">
      <vt:lpstr>Arial</vt:lpstr>
      <vt:lpstr>Calibri</vt:lpstr>
      <vt:lpstr>Martec v1.0</vt:lpstr>
      <vt:lpstr>Dagens program</vt:lpstr>
      <vt:lpstr>Isobar tilstandsforandring (konstant tryk) 1/2</vt:lpstr>
      <vt:lpstr>Isobar tilstandsforandring (konstant tryk) 2/2</vt:lpstr>
      <vt:lpstr>Isokor tilstandsforandring (konstant volumen V) 1/2</vt:lpstr>
      <vt:lpstr>Isokor tilstandsforandring (konstant volumen V) 2/2</vt:lpstr>
      <vt:lpstr>Isoterm proces (konstant temperatur T) 1/2</vt:lpstr>
      <vt:lpstr>Isoterm proces (konstant temperatur T) 2/2</vt:lpstr>
      <vt:lpstr>Isentropisk proces (konstant entropi S) 1/2</vt:lpstr>
      <vt:lpstr>Isentropisk proces (konstant entropi S) 2/2</vt:lpstr>
      <vt:lpstr>Polytrop proces (bemærk at langt fra alle formler er medtaget!) 1/2</vt:lpstr>
      <vt:lpstr>Polytrop proces (bemærk at langt fra alle formler er medtaget!) 2/2</vt:lpstr>
      <vt:lpstr>Opgaveregning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Niels Ilberg Jacobsen</dc:creator>
  <cp:lastModifiedBy>Anders Kirkegaard</cp:lastModifiedBy>
  <cp:revision>50</cp:revision>
  <cp:lastPrinted>2025-01-28T07:28:24Z</cp:lastPrinted>
  <dcterms:created xsi:type="dcterms:W3CDTF">2015-02-09T14:06:07Z</dcterms:created>
  <dcterms:modified xsi:type="dcterms:W3CDTF">2026-02-24T23:07:17Z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0x010100190B86947F2F384791A43E453BD63C53</vt:lpwstr>
  </property>
</Properties>
</file>