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8" r:id="rId2"/>
    <p:sldId id="309" r:id="rId3"/>
    <p:sldId id="310" r:id="rId4"/>
    <p:sldId id="315" r:id="rId5"/>
    <p:sldId id="312" r:id="rId6"/>
    <p:sldId id="316" r:id="rId7"/>
    <p:sldId id="311" r:id="rId8"/>
    <p:sldId id="313" r:id="rId9"/>
    <p:sldId id="314" r:id="rId10"/>
    <p:sldId id="317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326467-9C17-4CDB-A817-5A5B4A4D5458}" v="8" dt="2026-02-13T10:14:45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 Kirkegaard" userId="4d5129ff-daee-434f-8316-c65cf7b9684f" providerId="ADAL" clId="{D1F5929C-7253-413A-9EB4-2CCDBC53EEC0}"/>
    <pc:docChg chg="modSld">
      <pc:chgData name="Anders Kirkegaard" userId="4d5129ff-daee-434f-8316-c65cf7b9684f" providerId="ADAL" clId="{D1F5929C-7253-413A-9EB4-2CCDBC53EEC0}" dt="2026-02-13T10:14:45.463" v="17" actId="20577"/>
      <pc:docMkLst>
        <pc:docMk/>
      </pc:docMkLst>
      <pc:sldChg chg="modSp mod">
        <pc:chgData name="Anders Kirkegaard" userId="4d5129ff-daee-434f-8316-c65cf7b9684f" providerId="ADAL" clId="{D1F5929C-7253-413A-9EB4-2CCDBC53EEC0}" dt="2026-02-13T10:12:16.231" v="9" actId="1037"/>
        <pc:sldMkLst>
          <pc:docMk/>
          <pc:sldMk cId="1351578577" sldId="310"/>
        </pc:sldMkLst>
        <pc:spChg chg="mod">
          <ac:chgData name="Anders Kirkegaard" userId="4d5129ff-daee-434f-8316-c65cf7b9684f" providerId="ADAL" clId="{D1F5929C-7253-413A-9EB4-2CCDBC53EEC0}" dt="2026-02-13T10:11:55.749" v="7" actId="20577"/>
          <ac:spMkLst>
            <pc:docMk/>
            <pc:sldMk cId="1351578577" sldId="310"/>
            <ac:spMk id="12" creationId="{D4D5DB88-621F-94D1-86E3-064F033D6C1C}"/>
          </ac:spMkLst>
        </pc:spChg>
        <pc:picChg chg="mod">
          <ac:chgData name="Anders Kirkegaard" userId="4d5129ff-daee-434f-8316-c65cf7b9684f" providerId="ADAL" clId="{D1F5929C-7253-413A-9EB4-2CCDBC53EEC0}" dt="2026-02-13T10:12:16.231" v="9" actId="1037"/>
          <ac:picMkLst>
            <pc:docMk/>
            <pc:sldMk cId="1351578577" sldId="310"/>
            <ac:picMk id="21" creationId="{BC0988AF-BEF4-7A6D-75B8-1794FFE0C531}"/>
          </ac:picMkLst>
        </pc:picChg>
      </pc:sldChg>
      <pc:sldChg chg="modSp">
        <pc:chgData name="Anders Kirkegaard" userId="4d5129ff-daee-434f-8316-c65cf7b9684f" providerId="ADAL" clId="{D1F5929C-7253-413A-9EB4-2CCDBC53EEC0}" dt="2026-02-13T10:14:45.463" v="17" actId="20577"/>
        <pc:sldMkLst>
          <pc:docMk/>
          <pc:sldMk cId="339418088" sldId="311"/>
        </pc:sldMkLst>
        <pc:spChg chg="mod">
          <ac:chgData name="Anders Kirkegaard" userId="4d5129ff-daee-434f-8316-c65cf7b9684f" providerId="ADAL" clId="{D1F5929C-7253-413A-9EB4-2CCDBC53EEC0}" dt="2026-02-13T10:14:45.463" v="17" actId="20577"/>
          <ac:spMkLst>
            <pc:docMk/>
            <pc:sldMk cId="339418088" sldId="311"/>
            <ac:spMk id="6" creationId="{954E66ED-07C3-B130-CB52-25F4D5E1ED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F858B-AABA-4614-962A-5D8E6512D4DC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DC7A5-1301-4921-A769-AE9D446459C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856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989E5-59D1-54AE-2FE0-B9D7F1A4C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A6E3726-1B82-0E5D-619A-9DA6CBC53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0E3BFED-27DC-3D0C-32FA-0D921A9C1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8951ABCD-027D-059B-9F64-EEE97B0C172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6D8D7DE-3215-B40A-D0F7-2E174E2D851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DDD6455-19D4-5632-0B80-C924A68F65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2023BE4-208E-9D86-06C8-188856005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688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320C-9433-1E60-05ED-3F85B23A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B00E4A3A-C2C6-A0A6-E416-ECC7BBDAF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DF12AEB-9C05-2100-5529-D1CAB773E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BA7834E3-6E38-B85A-424F-22810E24A64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F57FE9C-A262-0601-73E0-E195C823C13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7B1E661-0014-7B10-5629-476011D95A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AE83C53-7EBF-B782-0F41-241C0D07E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0393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E9285-50CD-FDDF-C2B1-C28C40CA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6997246-CED9-8D6C-523C-087DFD918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D84FD9B4-BA1E-ADCF-68F8-FC94CED7A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19220946-0631-2877-900A-AA54DBDF0AC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3601203-60FA-D4A8-FB6F-C68D1A76BF7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5F6B955-22BD-D930-A09D-B3CEC8168F3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CDA9E2D-CE5D-D635-FB75-D3E09D480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42664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D8CE6-C07C-D866-A20C-2A1429F5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A937DE2-AA88-BBDA-9D40-B0DB6B428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228CA5B-CEE2-A8B2-42D4-C0D5B5D24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7B965B17-6379-190B-0DE6-E7D0559DD8F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1B4F05D-5BA5-6AE7-FC85-E9F02D491C5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8A299F2-18EB-79B7-FFE8-CF3C313BA3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2FA95FFE-32E0-8710-4930-7FC15BE8B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5429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716F-6A36-219E-5F54-2A3F44C30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2852292-357C-1776-B31F-BB090A93A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47038E84-3CA6-DC6A-FF1A-82E62947C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1228ADE3-46DE-7D1F-2004-2F70F4A7063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4E080F1-3038-5410-C42A-94323956A87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D812175-8101-3491-5006-0C9C84FC4F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0F93BD9-4F4F-94EC-CC56-3F3555435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63559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431AB-C79C-2BDE-1D0F-B2DE9427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1B611DC-CA27-B81A-9F40-A67D05035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ED211C2-06A1-F334-6146-E0E6B4EB48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919647E8-F7D7-41BF-05E8-1AF699A9788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9D1A04D-15BE-0502-D28E-EB1CAF0BB57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7E77E09-BF74-47A4-2222-F3D03504A4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6DE982B-CCF9-45BF-4F49-94C92CCC6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29063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F9CA-521F-C981-5190-34EB738CC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205E8E9-B132-FF03-433B-54B048950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20C34616-A4BD-D008-D3EF-5CF65FE03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5B78BCE2-7B39-195D-F403-0B9FF02486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714518E-5F74-4AD2-2A84-C2D18209204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6577AA3-4735-A224-D058-B70BA7E213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AA0BE4F-8EB7-270D-617E-0677F659A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06713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9C088-B343-F565-08EB-AB5D4612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F32D507-3BD2-24D7-9B88-B6A51B832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9390FA4-8A67-63B3-7A50-701F782A1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CBBAB6F2-1F2A-9FE6-3FA5-FFFC10A17A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D2E8CFE-2751-7AB7-30ED-349AB7799C5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EE3CEFD-7366-9442-2AD6-E50B071688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8B91738-0804-04CC-A8C9-BC3AF1C69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5374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5952B-0183-884F-CD4A-F215D7C70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2DE6546-61CC-5E3A-2AD7-E3978FEB2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FEE443F-D952-AAD2-15B1-5BD110E9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A41D644-31BB-AB30-B2BE-400B796D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0F8AA1F-D7AE-72C9-7CCD-105A623BD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41262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EAFF1-8830-41DA-333C-2CB5C6416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2F192E-0AA0-7885-486C-8F18A8557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BB0AFAD-6ABD-A95A-44B7-B196E6BC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A2F73BB-9A5E-794F-5F90-DC7A58F75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5C0BE0-1FA6-FC83-3A43-9D14134CB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975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593FDB-0BB0-36AE-07E2-7A19599AE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5937FEE-9BC8-04AB-6307-5AB226656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3B4F807-24E5-0EDA-FC09-FFC34A2A3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F00B171-ADF8-909A-41C0-9002AF14B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F6D5BAB-C042-C2C6-EBE1-0314706B1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8211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ABBC1-9882-B375-BEF3-8C608868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2869893-43BC-09EC-8883-4CB1CA492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673E335-1922-D56D-7D0C-1D3866C01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9ACE3C9-63B5-6F4F-6F93-60B0F800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A7C3788-5AF5-24C6-6AE9-D59C1938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DCC0143-DBEE-BDE9-9C8D-E849C98B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10154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A07DDE-181A-CC33-03F5-387AEB8A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8E06371-24E4-DEDD-45E6-6C943E828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C5F42A3-19D1-741A-3F22-A02140934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6D2B02F-0A5B-D323-FB1E-00FDECF98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F2566BF-58E7-1BF4-4398-7F3A46BAF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2DF4F3FF-7010-7AD0-6056-238851EE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8CEC779E-2DAB-DC8D-49C6-32590A1F0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5AC93417-322A-B313-873A-1EB6837A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91657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ED5784-3B9E-2F38-1C33-A631D7E3A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0BF9CC3-D925-40F1-0D9E-070CB8E9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58A4BFA-2140-4021-96BB-C492832E3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37E5DA8-5B1D-7187-EAA9-9356E1C1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5667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0F323014-C1EE-F36E-131E-7350E2D2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E9CE10C-3B3B-4D17-FF7B-0A3F840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0FC9471-AD18-CAE2-938B-5AC9C865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071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83634D-D7E6-BA01-CBE6-38C60F07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AE8AD2-3E02-9231-3344-AB98FEFEB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2635134-F946-25CF-6D13-97DA0B8A0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7A19A1C-F727-C875-CA4F-E2F76EF60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422D2A8-D42F-F971-7640-49BF9EB3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3E77074-9474-2C82-BA42-006E615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766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65AA5E-8431-A352-1757-1E5C1D0F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A2202B8-C8B5-EE0B-4994-7F28EB5F5B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6FD2FCD-50AE-898E-0EA6-DFFC5353C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EC80C8A-556A-6CD1-6A2A-3C794C364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3890D84-AE9C-EC64-F9AC-1F9F003C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5E3BEDD-5429-28CC-7971-9BF6339D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03787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C97390-DC0E-6BDA-B4DC-6EC0978A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70AA72B-F192-2EE8-20DC-F343FC249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7D20329-8226-2045-B638-DE4CC690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2494F60-AF07-A47F-5013-391CDE2D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638C1B8-56AC-3C8E-F99A-934FEA91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46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E756805C-CD7F-6C7E-EA99-F386B764B2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8F2D3CAD-A87B-7D09-16F0-9BBDEB5CC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CBB5DF6-F8C5-BD7C-995F-8CE2BD4D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6013620-3ED7-0766-9274-19FD67E71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29732B0-5661-DAD5-2477-D9D052857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6289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8616339" y="6309386"/>
            <a:ext cx="311920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455251" y="2228841"/>
            <a:ext cx="11161488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427953" y="1628758"/>
            <a:ext cx="11188786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240001" y="6312002"/>
            <a:ext cx="1080144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4165602" y="6309386"/>
            <a:ext cx="38608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553" y="258166"/>
            <a:ext cx="189221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0938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2D90D5FD-307C-A4F5-C1C7-94DA1071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E112D6C-95AA-E03E-E1C4-BA79A5206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B1D28B6-C3BE-7B42-E97E-ECBBCEC35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96640-B413-48E7-A57E-D7928CFB79B4}" type="datetimeFigureOut">
              <a:rPr lang="da-DK" smtClean="0"/>
              <a:t>13-02-2026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88BA046-5B29-A863-F0DB-83998657A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E85EAC-4CA2-1EF1-008C-370A6FCB0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6F257-9490-4594-BE21-FEA840B06B5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5856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364F6B0-1E07-72EC-9C89-DDB049F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DADD530-95D3-1180-7A82-446F48CA4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9130" y="904308"/>
            <a:ext cx="9068709" cy="5405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457200" lvl="1" indent="-457200"/>
            <a:r>
              <a:rPr lang="da-DK" sz="1800" b="1" dirty="0"/>
              <a:t>Tilført varmeenergi</a:t>
            </a:r>
          </a:p>
          <a:p>
            <a:pPr marL="457200" lvl="1" indent="-457200"/>
            <a:r>
              <a:rPr lang="da-DK" sz="1800" b="1" dirty="0"/>
              <a:t>Indiceret ydelse</a:t>
            </a:r>
          </a:p>
          <a:p>
            <a:pPr marL="457200" lvl="1" indent="-457200"/>
            <a:r>
              <a:rPr lang="da-DK" sz="1800" b="1" dirty="0"/>
              <a:t>Specifikt brændstofforbrug</a:t>
            </a:r>
          </a:p>
          <a:p>
            <a:pPr marL="457200" lvl="1" indent="-457200"/>
            <a:r>
              <a:rPr lang="da-DK" sz="1800" b="1" dirty="0"/>
              <a:t>Motorens bremseydelse og mekanisk virkningsgrad</a:t>
            </a:r>
          </a:p>
          <a:p>
            <a:pPr marL="457200" lvl="1" indent="-457200"/>
            <a:r>
              <a:rPr lang="da-DK" sz="1800" b="1" dirty="0"/>
              <a:t>Motorens termiske virkningsgrad</a:t>
            </a:r>
          </a:p>
          <a:p>
            <a:pPr marL="457200" lvl="1" indent="-457200"/>
            <a:r>
              <a:rPr lang="da-DK" sz="1800" b="1" dirty="0"/>
              <a:t>Motorens økonomiske virkningsgrad</a:t>
            </a:r>
          </a:p>
          <a:p>
            <a:pPr marL="457200" lvl="1" indent="-457200"/>
            <a:r>
              <a:rPr lang="da-DK" sz="1800" b="1" dirty="0"/>
              <a:t>Dieselmotorens termiske balance</a:t>
            </a:r>
          </a:p>
          <a:p>
            <a:pPr marL="457200" lvl="1" indent="-457200"/>
            <a:r>
              <a:rPr lang="da-DK" sz="1800" b="1" dirty="0"/>
              <a:t>Opgaveregning</a:t>
            </a:r>
          </a:p>
          <a:p>
            <a:pPr marL="457200" lvl="1" indent="-457200"/>
            <a:endParaRPr lang="da-DK" sz="3600" b="1" dirty="0"/>
          </a:p>
          <a:p>
            <a:pPr marL="457200" lvl="1" indent="-457200"/>
            <a:endParaRPr lang="da-DK" sz="3600" b="1" dirty="0"/>
          </a:p>
          <a:p>
            <a:pPr marL="457200" lvl="1" indent="-457200"/>
            <a:endParaRPr lang="da-DK" sz="3600" b="1" dirty="0"/>
          </a:p>
          <a:p>
            <a:pPr marL="457200" lvl="1" indent="-457200"/>
            <a:endParaRPr lang="da-DK" sz="3600" b="1" dirty="0"/>
          </a:p>
          <a:p>
            <a:pPr marL="457200" lvl="1" indent="-457200"/>
            <a:endParaRPr lang="da-DK" sz="3300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sz="1800" b="1" dirty="0"/>
          </a:p>
          <a:p>
            <a:pPr marL="536433" lvl="1" indent="0">
              <a:buNone/>
            </a:pPr>
            <a:endParaRPr lang="da-DK" dirty="0">
              <a:solidFill>
                <a:srgbClr val="FF0000"/>
              </a:solidFill>
            </a:endParaRPr>
          </a:p>
          <a:p>
            <a:pPr marL="879333" lvl="1" indent="-342900"/>
            <a:endParaRPr lang="da-DK" dirty="0">
              <a:solidFill>
                <a:srgbClr val="FF0000"/>
              </a:solidFill>
            </a:endParaRPr>
          </a:p>
          <a:p>
            <a:pPr marL="879333" lvl="1" indent="-342900"/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>
              <a:solidFill>
                <a:srgbClr val="FF0000"/>
              </a:solidFill>
            </a:endParaRPr>
          </a:p>
          <a:p>
            <a:pPr marL="879333" lvl="1" indent="-342900"/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/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006793E-B127-4A92-293F-3CFF603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dirty="0"/>
              <a:t>Dagens program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C6A99DA-CAFB-848A-6E9A-A029577AC7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9FD94A-32F4-273E-CB83-0B00245D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647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A2B9-DFFA-62AB-785F-CB603099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EC4A56F-11C6-D5C6-5EA1-77DE3E43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9C0E4627-A994-83D4-1F7E-83B126F6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dirty="0"/>
              <a:t>Tilført varmeenergi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7A130126-2427-7D04-AD4F-8E2D187B5C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69FF7FC-666B-4070-E3ED-42EF7F81D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00DCD1BD-B2AF-D732-618B-09A1F95A0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" y="1190625"/>
            <a:ext cx="9264627" cy="396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2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4FE6D-6DFB-217A-5F29-0FC63A579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B6C94CB-1126-83AC-FE18-64B4FA10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8E59D6C-D5FA-C242-4AEE-EC88FD8DE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dirty="0"/>
              <a:t>Indiceret ydelse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55BC388-199B-31DE-5D46-F1D3F14124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877D18F-7C0E-2EBF-2019-49E26A36D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D4D5DB88-621F-94D1-86E3-064F033D6C1C}"/>
              </a:ext>
            </a:extLst>
          </p:cNvPr>
          <p:cNvSpPr txBox="1"/>
          <p:nvPr/>
        </p:nvSpPr>
        <p:spPr>
          <a:xfrm>
            <a:off x="660211" y="990685"/>
            <a:ext cx="6097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800" b="1" i="1" u="sng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Indiceret ydelse P</a:t>
            </a:r>
            <a:r>
              <a:rPr lang="da-DK" sz="1800" b="1" i="1" u="sng" baseline="-250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i </a:t>
            </a:r>
            <a:endParaRPr lang="da-D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a-DK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Den indicerede ydelse, eller effekt om man vil, findes ved måling af trykket (indiceret tryk) direkte i cylinderkammeret ved placering af en tryksensor i cylinderdækslet. Under kørsel måles trykket og plottes som funktion af cylindervolumen (beregnes ved kendskab til </a:t>
            </a:r>
            <a:r>
              <a:rPr lang="da-DK" sz="18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krumtaplacering</a:t>
            </a:r>
            <a:r>
              <a:rPr lang="da-DK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) og man får derved et </a:t>
            </a:r>
            <a:r>
              <a:rPr lang="da-DK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p,V</a:t>
            </a:r>
            <a:r>
              <a:rPr lang="da-DK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-diagram hvor arealet af dette er det udførte arbejde.</a:t>
            </a:r>
            <a:endParaRPr lang="da-D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a-DK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 </a:t>
            </a:r>
            <a:endParaRPr lang="da-DK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a-DK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Oftest arbejdes der i stedet for det indicerede tryk med et såkaldt indiceret middeltryk.</a:t>
            </a:r>
            <a:endParaRPr lang="da-DK" dirty="0"/>
          </a:p>
        </p:txBody>
      </p:sp>
      <p:pic>
        <p:nvPicPr>
          <p:cNvPr id="21" name="Billede 20">
            <a:extLst>
              <a:ext uri="{FF2B5EF4-FFF2-40B4-BE49-F238E27FC236}">
                <a16:creationId xmlns:a16="http://schemas.microsoft.com/office/drawing/2014/main" id="{BC0988AF-BEF4-7A6D-75B8-1794FFE0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59" y="4512958"/>
            <a:ext cx="6396625" cy="1702753"/>
          </a:xfrm>
          <a:prstGeom prst="rect">
            <a:avLst/>
          </a:prstGeom>
        </p:spPr>
      </p:pic>
      <p:sp>
        <p:nvSpPr>
          <p:cNvPr id="13" name="Text Box 10">
            <a:extLst>
              <a:ext uri="{FF2B5EF4-FFF2-40B4-BE49-F238E27FC236}">
                <a16:creationId xmlns:a16="http://schemas.microsoft.com/office/drawing/2014/main" id="{77B27801-D6AF-6111-AAB4-E0BFA0128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840" y="2098165"/>
            <a:ext cx="3096895" cy="314325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da-DK" sz="1000"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2-takt motorens p-V diagrammer danner grundlag for beregning af motorydelsen</a:t>
            </a:r>
            <a:endParaRPr lang="da-DK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2175BB8F-52D8-02C2-D6E0-04BDD1162D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90"/>
          <a:stretch>
            <a:fillRect/>
          </a:stretch>
        </p:blipFill>
        <p:spPr>
          <a:xfrm>
            <a:off x="6588126" y="2593948"/>
            <a:ext cx="2876550" cy="2428875"/>
          </a:xfrm>
          <a:prstGeom prst="rect">
            <a:avLst/>
          </a:prstGeom>
        </p:spPr>
      </p:pic>
      <p:sp>
        <p:nvSpPr>
          <p:cNvPr id="15" name="Text Box 11">
            <a:extLst>
              <a:ext uri="{FF2B5EF4-FFF2-40B4-BE49-F238E27FC236}">
                <a16:creationId xmlns:a16="http://schemas.microsoft.com/office/drawing/2014/main" id="{2C264511-A511-4335-BCA5-43E67A715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14155" y="2279140"/>
            <a:ext cx="3077845" cy="185737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da-DK" sz="1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Højden på et rektangel i p-V diagrammet med samme grundlinie og areal som ”banankurvens” indesluttede areal kaldes det indicerede middeltryk p</a:t>
            </a:r>
            <a:r>
              <a:rPr lang="da-DK" sz="1000" baseline="-2500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i</a:t>
            </a:r>
            <a:endParaRPr lang="da-DK" sz="12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72EA0784-FF44-C1CB-0C0D-F4F095780A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691" y="3023463"/>
            <a:ext cx="288544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7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20AC-3288-570B-0467-64B55DC6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F376EA2B-DE0E-A4F5-D6C0-BAA14AD9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81CC656-46FD-C763-E474-5DC6C4A9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dirty="0"/>
              <a:t>Indiceret ydelse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8C0E225-964E-2653-DDE3-9AEA12128B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62EE6C5-500C-B008-D088-6EA674CDB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7E55615C-D2A7-14F2-B5E9-07614F56B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648" y="2413762"/>
            <a:ext cx="3077845" cy="1857375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dash"/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da-DK" sz="10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Højden på et rektangel i p-V diagrammet med samme </a:t>
            </a:r>
            <a:r>
              <a:rPr lang="da-DK" sz="1000" dirty="0" err="1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grundlinie</a:t>
            </a:r>
            <a:r>
              <a:rPr lang="da-DK" sz="10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 og areal som ”banankurvens” indesluttede areal kaldes det indicerede middeltryk p</a:t>
            </a:r>
            <a:r>
              <a:rPr lang="da-DK" sz="1000" baseline="-250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ahoma" panose="020B0604030504040204" pitchFamily="34" charset="0"/>
              </a:rPr>
              <a:t>i</a:t>
            </a:r>
            <a:endParaRPr lang="da-D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DAE00190-8C29-E29A-73D6-A74CCC1C8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850" y="3078055"/>
            <a:ext cx="2885440" cy="1066800"/>
          </a:xfrm>
          <a:prstGeom prst="rect">
            <a:avLst/>
          </a:prstGeo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4107C77C-1E75-5114-61E0-CAF53B310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88" y="984573"/>
            <a:ext cx="7028028" cy="1082807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AF5D2BB9-D770-E8DC-BAEC-4CD4EBA3A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02" y="2128020"/>
            <a:ext cx="7770260" cy="319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EEDC-718B-C784-58AE-3114C738E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6D20804-E86E-FB25-A485-00671A90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D33C3CB-2B91-F7AA-80DE-D5BE0FEF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sz="2400" b="1" dirty="0"/>
              <a:t>Motorens bremseydelse og mekanisk virkningsgrad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B7E9B0E-8F78-409C-F3A1-77C2F217D87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960C039-5953-E777-1D43-8986656C6B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9C4CD533-5F0A-A6DF-9A2A-222603F5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702" y="884732"/>
            <a:ext cx="8318554" cy="584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D4A2-D05D-01B7-3A67-E635E0F4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5CE6574-8C42-755D-FC43-E3B5CF5F6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BF75830-4696-5A72-1196-12FE5FD4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sz="2400" b="1" dirty="0"/>
              <a:t>Motorens bremseydelse og mekanisk virkningsgrad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FAAF884-86AE-E8FF-10F8-37C3165F25D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61CB7ED-3321-7F3F-40DA-DC7B88B36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27029D0F-EDE0-69F6-1753-7E22C63AE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1976438"/>
            <a:ext cx="7780788" cy="242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95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A02B-4718-A814-11A0-24A8F1DA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3BCDA9E-CCCA-07E6-00D5-60E450C0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12E05C1-E73A-0719-578F-9A6F7E24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sz="2400" b="1" dirty="0"/>
              <a:t>Specifikt brændstofforbrug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DE5B9B4-93CA-5E18-BF28-BB390121D2D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CFD99FBB-F539-87E0-AC88-B71BD87CA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54E66ED-07C3-B130-CB52-25F4D5E1EDFD}"/>
                  </a:ext>
                </a:extLst>
              </p:cNvPr>
              <p:cNvSpPr txBox="1"/>
              <p:nvPr/>
            </p:nvSpPr>
            <p:spPr>
              <a:xfrm>
                <a:off x="1461073" y="1258161"/>
                <a:ext cx="8563207" cy="37171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a-DK" sz="1800" b="1" i="1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Specifikt brændstofforbrug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da-DK" sz="18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En motors specifikke brændstofforbrug udtrykkes normalt som brændstofforbruget i forhold til enten den indicerede ydelse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sz="18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eller bremseydelsen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da-DK" sz="18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. Udtrykkes normalt i g/kWh eller i kg/kWh. Bemærk at 1 kWh = 3,6MJ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da-DK" sz="1800" b="1" i="1" dirty="0">
                    <a:solidFill>
                      <a:srgbClr val="FF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 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sz="18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  [ kg /kWh ] 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da-DK" sz="1800" dirty="0">
                    <a:solidFill>
                      <a:srgbClr val="FF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 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h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a-DK" sz="18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da-DK" sz="18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   [ kg /kWh ]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da-DK" sz="1800" b="1" i="1" dirty="0">
                    <a:solidFill>
                      <a:srgbClr val="FF0000"/>
                    </a:solidFill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 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da-DK" sz="18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hvor,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da-DK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da-DK" sz="16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	= </a:t>
                </a:r>
                <a14:m>
                  <m:oMath xmlns:m="http://schemas.openxmlformats.org/officeDocument/2006/math"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𝑏𝑟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æ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𝑛𝑑𝑠𝑡𝑜𝑓𝑓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𝑜𝑟𝑏𝑟𝑢𝑔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𝑝𝑟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r>
                      <a:rPr lang="da-DK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𝑡𝑖𝑚𝑒</m:t>
                    </m:r>
                  </m:oMath>
                </a14:m>
                <a:r>
                  <a:rPr lang="da-DK" sz="16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[kg/h]</a:t>
                </a:r>
                <a:endParaRPr lang="da-DK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54E66ED-07C3-B130-CB52-25F4D5E1E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73" y="1258161"/>
                <a:ext cx="8563207" cy="3717171"/>
              </a:xfrm>
              <a:prstGeom prst="rect">
                <a:avLst/>
              </a:prstGeom>
              <a:blipFill>
                <a:blip r:embed="rId3"/>
                <a:stretch>
                  <a:fillRect l="-641" t="-820" b="-114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1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18E2D-0D18-7745-CAA9-E2C542EA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2F4D41C-F022-C115-4428-3053B15E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343E8ED-4BA1-38D0-32EB-7DCCA4CBB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r>
              <a:rPr lang="da-DK" sz="2400" b="1" dirty="0"/>
              <a:t>Motorens termiske virkningsgrad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1E2FA39-2724-C3EA-A567-BD5FD55D2FC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88B5A6BB-F222-D567-FE90-96F07996D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32894821-D592-0FF4-C54E-4D3BCF324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522" y="2100618"/>
            <a:ext cx="8056160" cy="188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81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88AE-3297-6CBA-8674-3D010AC7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2B51557-23DD-7346-EAF0-6B82920D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40AE185-4015-8C70-B912-6094A40F2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22" y="404665"/>
            <a:ext cx="9090889" cy="480067"/>
          </a:xfrm>
        </p:spPr>
        <p:txBody>
          <a:bodyPr/>
          <a:lstStyle/>
          <a:p>
            <a:br>
              <a:rPr lang="da-DK" sz="2400" b="1" dirty="0"/>
            </a:br>
            <a:r>
              <a:rPr lang="da-DK" sz="2400" b="1" dirty="0"/>
              <a:t>Motorens økonomiske virkningsgrad</a:t>
            </a:r>
            <a:br>
              <a:rPr lang="da-DK" sz="2400" b="1" dirty="0"/>
            </a:b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8575B48-9A1F-7269-503C-FB434BA73DC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3CAA40B-4A00-7CDC-BA71-C4D16F0C6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87018D09-0E28-EABF-89FF-8B475F2A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02" y="1427400"/>
            <a:ext cx="7996664" cy="2699326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E3E62E92-C69A-79F0-3573-854FB9953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930" y="4669394"/>
            <a:ext cx="6152472" cy="104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27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F589C4E-751D-32D6-7103-80F6C03A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5057DA2-FE2C-F7BD-2232-A338AEAC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07" y="844012"/>
            <a:ext cx="11188786" cy="480067"/>
          </a:xfrm>
        </p:spPr>
        <p:txBody>
          <a:bodyPr/>
          <a:lstStyle/>
          <a:p>
            <a:r>
              <a:rPr lang="da-DK" dirty="0"/>
              <a:t>Dieselmotorens termiske balance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32060A9-153E-90D3-3310-E96DA8F3590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13-02-2026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F1342EC-A496-63A6-FE55-CDE710164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Pladsholder til indhold 5">
            <a:extLst>
              <a:ext uri="{FF2B5EF4-FFF2-40B4-BE49-F238E27FC236}">
                <a16:creationId xmlns:a16="http://schemas.microsoft.com/office/drawing/2014/main" id="{76DD8EF1-38AE-301B-1638-CBC439B308B4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/>
              <a:t>A = Tilført varmeenergi</a:t>
            </a:r>
          </a:p>
          <a:p>
            <a:r>
              <a:rPr lang="da-DK"/>
              <a:t>B = Varmetab med kølevand</a:t>
            </a:r>
          </a:p>
          <a:p>
            <a:r>
              <a:rPr lang="da-DK"/>
              <a:t>C = Varmetab med smøreolie</a:t>
            </a:r>
          </a:p>
          <a:p>
            <a:r>
              <a:rPr lang="da-DK"/>
              <a:t>D = Varmetab med røggas</a:t>
            </a:r>
          </a:p>
          <a:p>
            <a:r>
              <a:rPr lang="da-DK"/>
              <a:t>F = Varmetab med stråling og konvektion</a:t>
            </a:r>
          </a:p>
          <a:p>
            <a:r>
              <a:rPr lang="da-DK"/>
              <a:t>E= Nyttiggjort varmeenergi, som omsættes til mekanisk energi</a:t>
            </a:r>
            <a:endParaRPr lang="da-DK" dirty="0"/>
          </a:p>
        </p:txBody>
      </p:sp>
      <p:pic>
        <p:nvPicPr>
          <p:cNvPr id="10" name="Pladsholder til indhold 9">
            <a:extLst>
              <a:ext uri="{FF2B5EF4-FFF2-40B4-BE49-F238E27FC236}">
                <a16:creationId xmlns:a16="http://schemas.microsoft.com/office/drawing/2014/main" id="{0CB44FDD-F73C-37C8-2398-D510F508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39" y="1926225"/>
            <a:ext cx="4038600" cy="30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26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0B86947F2F384791A43E453BD63C53" ma:contentTypeVersion="3" ma:contentTypeDescription="Opret et nyt dokument." ma:contentTypeScope="" ma:versionID="924b14b58be40a76b67bff0b65d02dc8">
  <xsd:schema xmlns:xsd="http://www.w3.org/2001/XMLSchema" xmlns:xs="http://www.w3.org/2001/XMLSchema" xmlns:p="http://schemas.microsoft.com/office/2006/metadata/properties" xmlns:ns2="b0b3f9a3-cc49-4c1b-8e77-4a04ffe98b8e" targetNamespace="http://schemas.microsoft.com/office/2006/metadata/properties" ma:root="true" ma:fieldsID="a7c221301ad9a472da9d5e0a356bdffd" ns2:_="">
    <xsd:import namespace="b0b3f9a3-cc49-4c1b-8e77-4a04ffe98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3f9a3-cc49-4c1b-8e77-4a04ffe98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10008C-5EAB-4F64-BB02-664AB715FCF0}"/>
</file>

<file path=customXml/itemProps2.xml><?xml version="1.0" encoding="utf-8"?>
<ds:datastoreItem xmlns:ds="http://schemas.openxmlformats.org/officeDocument/2006/customXml" ds:itemID="{D2DB7E52-64C2-4402-BD84-72176D5A7505}"/>
</file>

<file path=customXml/itemProps3.xml><?xml version="1.0" encoding="utf-8"?>
<ds:datastoreItem xmlns:ds="http://schemas.openxmlformats.org/officeDocument/2006/customXml" ds:itemID="{1CF76777-5EEA-46A6-B68F-6F09D6FB4F5E}"/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339</Words>
  <Application>Microsoft Office PowerPoint</Application>
  <PresentationFormat>Widescreen</PresentationFormat>
  <Paragraphs>99</Paragraphs>
  <Slides>10</Slides>
  <Notes>9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Bookman Old Style</vt:lpstr>
      <vt:lpstr>Cambria Math</vt:lpstr>
      <vt:lpstr>Times New Roman</vt:lpstr>
      <vt:lpstr>Office-tema</vt:lpstr>
      <vt:lpstr>Dagens program</vt:lpstr>
      <vt:lpstr>Tilført varmeenergi</vt:lpstr>
      <vt:lpstr>Indiceret ydelse</vt:lpstr>
      <vt:lpstr>Indiceret ydelse</vt:lpstr>
      <vt:lpstr>Motorens bremseydelse og mekanisk virkningsgrad</vt:lpstr>
      <vt:lpstr>Motorens bremseydelse og mekanisk virkningsgrad</vt:lpstr>
      <vt:lpstr>Specifikt brændstofforbrug</vt:lpstr>
      <vt:lpstr>Motorens termiske virkningsgrad</vt:lpstr>
      <vt:lpstr> Motorens økonomiske virkningsgrad </vt:lpstr>
      <vt:lpstr>Dieselmotorens termiske balance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Holm Nielsen</dc:creator>
  <cp:lastModifiedBy>Anders Kirkegaard</cp:lastModifiedBy>
  <cp:revision>1</cp:revision>
  <dcterms:created xsi:type="dcterms:W3CDTF">2025-02-02T10:47:42Z</dcterms:created>
  <dcterms:modified xsi:type="dcterms:W3CDTF">2026-02-13T10:14:53Z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0x010100190B86947F2F384791A43E453BD63C53</vt:lpwstr>
  </property>
  <property fmtid="{D5CDD505-2E9C-101B-9397-08002B2CF9AE}" pid="3" name="Order">
    <vt:r8>38200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