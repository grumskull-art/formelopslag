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712" r:id="rId4"/>
  </p:sldMasterIdLst>
  <p:notesMasterIdLst>
    <p:notesMasterId r:id="rId33"/>
  </p:notesMasterIdLst>
  <p:handoutMasterIdLst>
    <p:handoutMasterId r:id="rId34"/>
  </p:handoutMasterIdLst>
  <p:sldIdLst>
    <p:sldId id="308" r:id="rId5"/>
    <p:sldId id="309" r:id="rId6"/>
    <p:sldId id="311" r:id="rId7"/>
    <p:sldId id="313" r:id="rId8"/>
    <p:sldId id="310" r:id="rId9"/>
    <p:sldId id="319" r:id="rId10"/>
    <p:sldId id="321" r:id="rId11"/>
    <p:sldId id="323" r:id="rId12"/>
    <p:sldId id="324" r:id="rId13"/>
    <p:sldId id="325" r:id="rId14"/>
    <p:sldId id="326" r:id="rId15"/>
    <p:sldId id="327" r:id="rId16"/>
    <p:sldId id="328" r:id="rId17"/>
    <p:sldId id="320" r:id="rId18"/>
    <p:sldId id="322" r:id="rId19"/>
    <p:sldId id="331" r:id="rId20"/>
    <p:sldId id="330" r:id="rId21"/>
    <p:sldId id="333" r:id="rId22"/>
    <p:sldId id="334" r:id="rId23"/>
    <p:sldId id="332" r:id="rId24"/>
    <p:sldId id="317" r:id="rId25"/>
    <p:sldId id="292" r:id="rId26"/>
    <p:sldId id="298" r:id="rId27"/>
    <p:sldId id="299" r:id="rId28"/>
    <p:sldId id="300" r:id="rId29"/>
    <p:sldId id="318" r:id="rId30"/>
    <p:sldId id="312" r:id="rId31"/>
    <p:sldId id="315" r:id="rId32"/>
  </p:sldIdLst>
  <p:sldSz cx="9906000" cy="6858000" type="A4"/>
  <p:notesSz cx="9926638" cy="6797675"/>
  <p:embeddedFontLst>
    <p:embeddedFont>
      <p:font typeface="Cambria Math" panose="02040503050406030204" pitchFamily="18" charset="0"/>
      <p:regular r:id="rId35"/>
    </p:embeddedFont>
  </p:embeddedFontLst>
  <p:defaultTextStyle>
    <a:defPPr>
      <a:defRPr lang="da-DK"/>
    </a:defPPr>
    <a:lvl1pPr marL="0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36433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72866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609298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45731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82164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18597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755029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91462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sektion" id="{367A50A3-E1A1-411C-B60A-C790A055E8D1}">
          <p14:sldIdLst>
            <p14:sldId id="308"/>
            <p14:sldId id="309"/>
            <p14:sldId id="311"/>
            <p14:sldId id="313"/>
            <p14:sldId id="310"/>
            <p14:sldId id="319"/>
            <p14:sldId id="321"/>
            <p14:sldId id="323"/>
            <p14:sldId id="324"/>
            <p14:sldId id="325"/>
            <p14:sldId id="326"/>
            <p14:sldId id="327"/>
            <p14:sldId id="328"/>
            <p14:sldId id="320"/>
            <p14:sldId id="322"/>
            <p14:sldId id="331"/>
            <p14:sldId id="330"/>
            <p14:sldId id="333"/>
            <p14:sldId id="334"/>
            <p14:sldId id="332"/>
            <p14:sldId id="317"/>
            <p14:sldId id="292"/>
            <p14:sldId id="298"/>
            <p14:sldId id="299"/>
            <p14:sldId id="300"/>
            <p14:sldId id="318"/>
            <p14:sldId id="312"/>
            <p14:sldId id="31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1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273"/>
    <a:srgbClr val="76D2B6"/>
    <a:srgbClr val="0080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17" autoAdjust="0"/>
    <p:restoredTop sz="94590" autoAdjust="0"/>
  </p:normalViewPr>
  <p:slideViewPr>
    <p:cSldViewPr snapToObjects="1">
      <p:cViewPr>
        <p:scale>
          <a:sx n="100" d="100"/>
          <a:sy n="100" d="100"/>
        </p:scale>
        <p:origin x="1818" y="468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76" d="100"/>
          <a:sy n="76" d="100"/>
        </p:scale>
        <p:origin x="-1908" y="-90"/>
      </p:cViewPr>
      <p:guideLst>
        <p:guide orient="horz" pos="2141"/>
        <p:guide pos="31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1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ers Kirkegaard" userId="4d5129ff-daee-434f-8316-c65cf7b9684f" providerId="ADAL" clId="{D1F5929C-7253-413A-9EB4-2CCDBC53EEC0}"/>
    <pc:docChg chg="modSld">
      <pc:chgData name="Anders Kirkegaard" userId="4d5129ff-daee-434f-8316-c65cf7b9684f" providerId="ADAL" clId="{D1F5929C-7253-413A-9EB4-2CCDBC53EEC0}" dt="2026-02-10T14:29:52.053" v="12" actId="20577"/>
      <pc:docMkLst>
        <pc:docMk/>
      </pc:docMkLst>
      <pc:sldChg chg="modSp mod">
        <pc:chgData name="Anders Kirkegaard" userId="4d5129ff-daee-434f-8316-c65cf7b9684f" providerId="ADAL" clId="{D1F5929C-7253-413A-9EB4-2CCDBC53EEC0}" dt="2026-02-10T14:29:52.053" v="12" actId="20577"/>
        <pc:sldMkLst>
          <pc:docMk/>
          <pc:sldMk cId="178441564" sldId="298"/>
        </pc:sldMkLst>
        <pc:spChg chg="mod">
          <ac:chgData name="Anders Kirkegaard" userId="4d5129ff-daee-434f-8316-c65cf7b9684f" providerId="ADAL" clId="{D1F5929C-7253-413A-9EB4-2CCDBC53EEC0}" dt="2026-02-10T14:29:52.053" v="12" actId="20577"/>
          <ac:spMkLst>
            <pc:docMk/>
            <pc:sldMk cId="178441564" sldId="298"/>
            <ac:spMk id="7" creationId="{DBABF4BE-A82E-6213-1ACA-C25BDF223ECA}"/>
          </ac:spMkLst>
        </pc:spChg>
      </pc:sldChg>
      <pc:sldChg chg="modSp mod">
        <pc:chgData name="Anders Kirkegaard" userId="4d5129ff-daee-434f-8316-c65cf7b9684f" providerId="ADAL" clId="{D1F5929C-7253-413A-9EB4-2CCDBC53EEC0}" dt="2026-02-10T13:39:49.099" v="10" actId="20577"/>
        <pc:sldMkLst>
          <pc:docMk/>
          <pc:sldMk cId="2115098384" sldId="313"/>
        </pc:sldMkLst>
        <pc:spChg chg="mod">
          <ac:chgData name="Anders Kirkegaard" userId="4d5129ff-daee-434f-8316-c65cf7b9684f" providerId="ADAL" clId="{D1F5929C-7253-413A-9EB4-2CCDBC53EEC0}" dt="2026-02-10T13:39:49.099" v="10" actId="20577"/>
          <ac:spMkLst>
            <pc:docMk/>
            <pc:sldMk cId="2115098384" sldId="313"/>
            <ac:spMk id="9" creationId="{9B39BE8B-0FD9-F4C8-159A-06BC0A1F49E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39884"/>
          </a:xfrm>
          <a:prstGeom prst="rect">
            <a:avLst/>
          </a:prstGeom>
        </p:spPr>
        <p:txBody>
          <a:bodyPr vert="horz" lIns="91001" tIns="45501" rIns="91001" bIns="45501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sz="quarter" idx="1"/>
          </p:nvPr>
        </p:nvSpPr>
        <p:spPr>
          <a:xfrm>
            <a:off x="5622797" y="0"/>
            <a:ext cx="4301543" cy="339884"/>
          </a:xfrm>
          <a:prstGeom prst="rect">
            <a:avLst/>
          </a:prstGeom>
        </p:spPr>
        <p:txBody>
          <a:bodyPr vert="horz" lIns="91001" tIns="45501" rIns="91001" bIns="45501" rtlCol="0"/>
          <a:lstStyle>
            <a:lvl1pPr algn="r">
              <a:defRPr sz="1200"/>
            </a:lvl1pPr>
          </a:lstStyle>
          <a:p>
            <a:fld id="{0AE49F00-0C9E-4AB3-AEF3-93A1138AB15A}" type="datetime1">
              <a:rPr lang="da-DK" smtClean="0"/>
              <a:pPr/>
              <a:t>10-02-2026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1543" cy="339884"/>
          </a:xfrm>
          <a:prstGeom prst="rect">
            <a:avLst/>
          </a:prstGeom>
        </p:spPr>
        <p:txBody>
          <a:bodyPr vert="horz" lIns="91001" tIns="45501" rIns="91001" bIns="45501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3"/>
          </p:nvPr>
        </p:nvSpPr>
        <p:spPr>
          <a:xfrm>
            <a:off x="5622797" y="6456612"/>
            <a:ext cx="4301543" cy="339884"/>
          </a:xfrm>
          <a:prstGeom prst="rect">
            <a:avLst/>
          </a:prstGeom>
        </p:spPr>
        <p:txBody>
          <a:bodyPr vert="horz" lIns="91001" tIns="45501" rIns="91001" bIns="45501" rtlCol="0" anchor="b"/>
          <a:lstStyle>
            <a:lvl1pPr algn="r">
              <a:defRPr sz="1200"/>
            </a:lvl1pPr>
          </a:lstStyle>
          <a:p>
            <a:fld id="{2A938149-C147-4FB1-A460-A81341C02630}" type="slidenum">
              <a:rPr lang="da-DK" smtClean="0"/>
              <a:pPr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52701112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39884"/>
          </a:xfrm>
          <a:prstGeom prst="rect">
            <a:avLst/>
          </a:prstGeom>
        </p:spPr>
        <p:txBody>
          <a:bodyPr vert="horz" lIns="91001" tIns="45501" rIns="91001" bIns="45501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5622797" y="0"/>
            <a:ext cx="4301543" cy="339884"/>
          </a:xfrm>
          <a:prstGeom prst="rect">
            <a:avLst/>
          </a:prstGeom>
        </p:spPr>
        <p:txBody>
          <a:bodyPr vert="horz" lIns="91001" tIns="45501" rIns="91001" bIns="45501" rtlCol="0"/>
          <a:lstStyle>
            <a:lvl1pPr algn="r">
              <a:defRPr sz="1200"/>
            </a:lvl1pPr>
          </a:lstStyle>
          <a:p>
            <a:fld id="{95666CCB-B7BD-45F2-9C52-503B2080BF50}" type="datetime1">
              <a:rPr lang="da-DK" smtClean="0"/>
              <a:pPr/>
              <a:t>10-02-2026</a:t>
            </a:fld>
            <a:endParaRPr lang="da-DK"/>
          </a:p>
        </p:txBody>
      </p:sp>
      <p:sp>
        <p:nvSpPr>
          <p:cNvPr id="4" name="Pladsholder til dias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3122613" y="509588"/>
            <a:ext cx="3681412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001" tIns="45501" rIns="91001" bIns="45501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vert="horz" lIns="91001" tIns="45501" rIns="91001" bIns="45501" rtlCol="0">
            <a:normAutofit/>
          </a:bodyPr>
          <a:lstStyle/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39884"/>
          </a:xfrm>
          <a:prstGeom prst="rect">
            <a:avLst/>
          </a:prstGeom>
        </p:spPr>
        <p:txBody>
          <a:bodyPr vert="horz" lIns="91001" tIns="45501" rIns="91001" bIns="45501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5"/>
          </p:nvPr>
        </p:nvSpPr>
        <p:spPr>
          <a:xfrm>
            <a:off x="5622797" y="6456612"/>
            <a:ext cx="4301543" cy="339884"/>
          </a:xfrm>
          <a:prstGeom prst="rect">
            <a:avLst/>
          </a:prstGeom>
        </p:spPr>
        <p:txBody>
          <a:bodyPr vert="horz" lIns="91001" tIns="45501" rIns="91001" bIns="45501" rtlCol="0" anchor="b"/>
          <a:lstStyle>
            <a:lvl1pPr algn="r">
              <a:defRPr sz="1200"/>
            </a:lvl1pPr>
          </a:lstStyle>
          <a:p>
            <a:fld id="{C0745616-2564-45CF-B293-4F9F1738F760}" type="slidenum">
              <a:rPr lang="da-DK" smtClean="0"/>
              <a:pPr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91919819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107286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36433" algn="l" defTabSz="107286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072866" algn="l" defTabSz="107286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609298" algn="l" defTabSz="107286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145731" algn="l" defTabSz="107286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682164" algn="l" defTabSz="107286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18597" algn="l" defTabSz="107286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755029" algn="l" defTabSz="107286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291462" algn="l" defTabSz="107286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idehoved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dato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5666CCB-B7BD-45F2-9C52-503B2080BF50}" type="datetime1">
              <a:rPr lang="da-DK" smtClean="0"/>
              <a:pPr/>
              <a:t>10-02-2026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45616-2564-45CF-B293-4F9F1738F760}" type="slidenum">
              <a:rPr lang="da-DK" smtClean="0"/>
              <a:pPr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002107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idehoved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dato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5666CCB-B7BD-45F2-9C52-503B2080BF50}" type="datetime1">
              <a:rPr lang="da-DK" smtClean="0"/>
              <a:pPr/>
              <a:t>10-02-2026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45616-2564-45CF-B293-4F9F1738F760}" type="slidenum">
              <a:rPr lang="da-DK" smtClean="0"/>
              <a:pPr/>
              <a:t>11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86371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idehoved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dato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5666CCB-B7BD-45F2-9C52-503B2080BF50}" type="datetime1">
              <a:rPr lang="da-DK" smtClean="0"/>
              <a:pPr/>
              <a:t>10-02-2026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45616-2564-45CF-B293-4F9F1738F760}" type="slidenum">
              <a:rPr lang="da-DK" smtClean="0"/>
              <a:pPr/>
              <a:t>13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072134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idehoved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dato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5666CCB-B7BD-45F2-9C52-503B2080BF50}" type="datetime1">
              <a:rPr lang="da-DK" smtClean="0"/>
              <a:pPr/>
              <a:t>10-02-2026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45616-2564-45CF-B293-4F9F1738F760}" type="slidenum">
              <a:rPr lang="da-DK" smtClean="0"/>
              <a:pPr/>
              <a:t>14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505533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A63CA-7505-1D36-28D1-6CD66F734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88B2BB6B-E80B-F5A2-A86A-08D8D766D5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D0979D31-4E96-B18F-56B4-50C2FFB84A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idehoved 3">
            <a:extLst>
              <a:ext uri="{FF2B5EF4-FFF2-40B4-BE49-F238E27FC236}">
                <a16:creationId xmlns:a16="http://schemas.microsoft.com/office/drawing/2014/main" id="{E4221509-7136-091F-8CE5-0053AEBA94F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A8FCC487-DB7D-54BC-480B-F38E0509B61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5666CCB-B7BD-45F2-9C52-503B2080BF50}" type="datetime1">
              <a:rPr lang="da-DK" smtClean="0"/>
              <a:pPr/>
              <a:t>10-02-2026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08CD415A-6F09-E50C-F5FC-49E7FE78418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72E02E15-C0D8-CA5F-47F4-77F8E140D0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45616-2564-45CF-B293-4F9F1738F760}" type="slidenum">
              <a:rPr lang="da-DK" smtClean="0"/>
              <a:pPr/>
              <a:t>17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465893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7EE1D-4340-845A-52DC-E2B557034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954383AB-095C-AD2A-7261-BAC4667510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D7982A9D-E951-E517-0610-C215EE3E87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idehoved 3">
            <a:extLst>
              <a:ext uri="{FF2B5EF4-FFF2-40B4-BE49-F238E27FC236}">
                <a16:creationId xmlns:a16="http://schemas.microsoft.com/office/drawing/2014/main" id="{17B86419-C649-4E78-527E-418CC6B54CC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78F88054-9E72-311E-4B75-777B184AE521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5666CCB-B7BD-45F2-9C52-503B2080BF50}" type="datetime1">
              <a:rPr lang="da-DK" smtClean="0"/>
              <a:pPr/>
              <a:t>10-02-2026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245F6D4E-6216-CD0E-002E-AC1C28DC6D5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B8F91CC0-B1B1-10AB-C9DB-8D61E1518F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45616-2564-45CF-B293-4F9F1738F760}" type="slidenum">
              <a:rPr lang="da-DK" smtClean="0"/>
              <a:pPr/>
              <a:t>18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443060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29523-7FE7-BC4E-551A-F5053DEB6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F27303BF-BCDD-D99E-1B44-D80A32D12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1D62DBCE-86D2-D554-2007-8ED2BB1239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idehoved 3">
            <a:extLst>
              <a:ext uri="{FF2B5EF4-FFF2-40B4-BE49-F238E27FC236}">
                <a16:creationId xmlns:a16="http://schemas.microsoft.com/office/drawing/2014/main" id="{C9D8B0F7-9C97-074A-5272-FA0EE08882D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4B9BE148-20E1-8E5A-A953-B9BED3CF54F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5666CCB-B7BD-45F2-9C52-503B2080BF50}" type="datetime1">
              <a:rPr lang="da-DK" smtClean="0"/>
              <a:pPr/>
              <a:t>10-02-2026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710C1B26-B177-06E3-4B4F-77003B25488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E281753D-8CAB-AFED-CF9E-446C938B43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45616-2564-45CF-B293-4F9F1738F760}" type="slidenum">
              <a:rPr lang="da-DK" smtClean="0"/>
              <a:pPr/>
              <a:t>19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295860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Kategori 1: Gas eller blanding af gas og Diesel. Kategori 2: Gas eller blanding af gas og Diesel. Kategori 3: Gas eller blanding af gas og Diesel eller heavy </a:t>
            </a:r>
            <a:r>
              <a:rPr lang="da-DK" dirty="0" err="1"/>
              <a:t>fuel</a:t>
            </a:r>
            <a:r>
              <a:rPr lang="da-DK" dirty="0"/>
              <a:t>. Bruges som fremdrift i LNG tankere. Kategori 4: Gas eller blanding af gas og Diesel eller heavy </a:t>
            </a:r>
            <a:r>
              <a:rPr lang="da-DK" dirty="0" err="1"/>
              <a:t>fuel</a:t>
            </a:r>
            <a:endParaRPr lang="da-DK" dirty="0"/>
          </a:p>
          <a:p>
            <a:endParaRPr lang="da-DK" dirty="0"/>
          </a:p>
        </p:txBody>
      </p:sp>
      <p:sp>
        <p:nvSpPr>
          <p:cNvPr id="4" name="Pladsholder til sidehoved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dato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5666CCB-B7BD-45F2-9C52-503B2080BF50}" type="datetime1">
              <a:rPr lang="da-DK" smtClean="0"/>
              <a:pPr/>
              <a:t>10-02-2026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45616-2564-45CF-B293-4F9F1738F760}" type="slidenum">
              <a:rPr lang="da-DK" smtClean="0"/>
              <a:pPr/>
              <a:t>21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54072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idehoved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dato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5666CCB-B7BD-45F2-9C52-503B2080BF50}" type="datetime1">
              <a:rPr lang="da-DK" smtClean="0"/>
              <a:pPr/>
              <a:t>10-02-2026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45616-2564-45CF-B293-4F9F1738F760}" type="slidenum">
              <a:rPr lang="da-DK" smtClean="0"/>
              <a:pPr/>
              <a:t>22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712265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idehoved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dato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5666CCB-B7BD-45F2-9C52-503B2080BF50}" type="datetime1">
              <a:rPr lang="da-DK" smtClean="0"/>
              <a:pPr/>
              <a:t>10-02-2026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45616-2564-45CF-B293-4F9F1738F760}" type="slidenum">
              <a:rPr lang="da-DK" smtClean="0"/>
              <a:pPr/>
              <a:t>27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503273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A7300-632B-3AEC-9C3A-1386F2A88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7E68CA76-8195-CF0B-CE16-6E7F864EF6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1469EBCB-790E-4BC6-EAB6-9E3100C4D9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idehoved 3">
            <a:extLst>
              <a:ext uri="{FF2B5EF4-FFF2-40B4-BE49-F238E27FC236}">
                <a16:creationId xmlns:a16="http://schemas.microsoft.com/office/drawing/2014/main" id="{B5A7FD4F-F453-CD68-06ED-B703B5A4AD9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4563994D-41E0-266C-D0E5-381A942B033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5666CCB-B7BD-45F2-9C52-503B2080BF50}" type="datetime1">
              <a:rPr lang="da-DK" smtClean="0"/>
              <a:pPr/>
              <a:t>10-02-2026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259E21DE-EAEA-8C82-D36E-E3E38A623B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DC5AC581-37FA-1683-F1CB-70D280B630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45616-2564-45CF-B293-4F9F1738F760}" type="slidenum">
              <a:rPr lang="da-DK" smtClean="0"/>
              <a:pPr/>
              <a:t>28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54516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59" b="14030"/>
          <a:stretch/>
        </p:blipFill>
        <p:spPr>
          <a:xfrm>
            <a:off x="0" y="-1"/>
            <a:ext cx="9906000" cy="5145207"/>
          </a:xfrm>
          <a:prstGeom prst="rect">
            <a:avLst/>
          </a:prstGeom>
        </p:spPr>
      </p:pic>
      <p:sp>
        <p:nvSpPr>
          <p:cNvPr id="7" name="Rektangel 6"/>
          <p:cNvSpPr/>
          <p:nvPr userDrawn="1"/>
        </p:nvSpPr>
        <p:spPr>
          <a:xfrm>
            <a:off x="0" y="5145206"/>
            <a:ext cx="9906000" cy="84034"/>
          </a:xfrm>
          <a:prstGeom prst="rect">
            <a:avLst/>
          </a:prstGeom>
          <a:solidFill>
            <a:srgbClr val="76D2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10" name="Billed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3384" y="5739931"/>
            <a:ext cx="1537425" cy="560487"/>
          </a:xfrm>
          <a:prstGeom prst="rect">
            <a:avLst/>
          </a:prstGeom>
        </p:spPr>
      </p:pic>
      <p:sp>
        <p:nvSpPr>
          <p:cNvPr id="3" name="Pladsholder til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273050" y="5499100"/>
            <a:ext cx="7200900" cy="521074"/>
          </a:xfrm>
        </p:spPr>
        <p:txBody>
          <a:bodyPr/>
          <a:lstStyle>
            <a:lvl1pPr>
              <a:defRPr sz="3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 err="1"/>
              <a:t>Præsentationtitel</a:t>
            </a:r>
            <a:endParaRPr lang="da-DK" dirty="0"/>
          </a:p>
        </p:txBody>
      </p:sp>
      <p:sp>
        <p:nvSpPr>
          <p:cNvPr id="4" name="Pladsholder til tekst 3"/>
          <p:cNvSpPr>
            <a:spLocks noGrp="1"/>
          </p:cNvSpPr>
          <p:nvPr>
            <p:ph type="body" sz="quarter" idx="11" hasCustomPrompt="1"/>
          </p:nvPr>
        </p:nvSpPr>
        <p:spPr>
          <a:xfrm>
            <a:off x="272582" y="6129338"/>
            <a:ext cx="5670550" cy="450850"/>
          </a:xfrm>
        </p:spPr>
        <p:txBody>
          <a:bodyPr/>
          <a:lstStyle>
            <a:lvl2pPr marL="39114" indent="0">
              <a:buNone/>
              <a:defRPr>
                <a:solidFill>
                  <a:schemeClr val="tx1"/>
                </a:solidFill>
              </a:defRPr>
            </a:lvl2pPr>
          </a:lstStyle>
          <a:p>
            <a:pPr lvl="1"/>
            <a:r>
              <a:rPr lang="da-DK" dirty="0"/>
              <a:t>[Dato, sted, forfatter]</a:t>
            </a:r>
          </a:p>
        </p:txBody>
      </p:sp>
    </p:spTree>
    <p:extLst>
      <p:ext uri="{BB962C8B-B14F-4D97-AF65-F5344CB8AC3E}">
        <p14:creationId xmlns:p14="http://schemas.microsoft.com/office/powerpoint/2010/main" val="1721833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ktion star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2352" y="2828920"/>
            <a:ext cx="9361300" cy="901179"/>
          </a:xfrm>
        </p:spPr>
        <p:txBody>
          <a:bodyPr>
            <a:normAutofit/>
          </a:bodyPr>
          <a:lstStyle>
            <a:lvl1pPr algn="ctr">
              <a:defRPr sz="2300" baseline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SEKTIONS OVERSKRIFT</a:t>
            </a: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7000775" y="6309385"/>
            <a:ext cx="253435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9" name="Pladsholder til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272353" y="1388728"/>
            <a:ext cx="9361921" cy="1151467"/>
          </a:xfrm>
        </p:spPr>
        <p:txBody>
          <a:bodyPr anchor="ctr">
            <a:noAutofit/>
          </a:bodyPr>
          <a:lstStyle>
            <a:lvl1pPr algn="ctr">
              <a:buNone/>
              <a:defRPr sz="700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da-DK" dirty="0" err="1"/>
              <a:t>Nr</a:t>
            </a:r>
            <a:endParaRPr lang="da-DK" dirty="0"/>
          </a:p>
        </p:txBody>
      </p:sp>
      <p:sp>
        <p:nvSpPr>
          <p:cNvPr id="11" name="Pladsholder til tekst 10"/>
          <p:cNvSpPr>
            <a:spLocks noGrp="1"/>
          </p:cNvSpPr>
          <p:nvPr>
            <p:ph type="body" sz="quarter" idx="14" hasCustomPrompt="1"/>
          </p:nvPr>
        </p:nvSpPr>
        <p:spPr>
          <a:xfrm>
            <a:off x="271727" y="3789050"/>
            <a:ext cx="9362546" cy="2038351"/>
          </a:xfrm>
        </p:spPr>
        <p:txBody>
          <a:bodyPr>
            <a:normAutofit/>
          </a:bodyPr>
          <a:lstStyle>
            <a:lvl1pPr algn="ctr">
              <a:buNone/>
              <a:defRPr lang="da-DK" sz="2100" b="0" i="0" baseline="0" dirty="0">
                <a:solidFill>
                  <a:schemeClr val="bg1">
                    <a:lumMod val="50000"/>
                  </a:schemeClr>
                </a:solidFill>
              </a:defRPr>
            </a:lvl1pPr>
            <a:lvl4pPr>
              <a:buNone/>
              <a:defRPr lang="da-DK" dirty="0"/>
            </a:lvl4pPr>
          </a:lstStyle>
          <a:p>
            <a:pPr lvl="0"/>
            <a:r>
              <a:rPr lang="da-DK" dirty="0"/>
              <a:t>Beskrivende tekst</a:t>
            </a:r>
          </a:p>
        </p:txBody>
      </p:sp>
      <p:sp>
        <p:nvSpPr>
          <p:cNvPr id="7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3384552" y="6356353"/>
            <a:ext cx="31369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8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195000" y="6312001"/>
            <a:ext cx="877617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4708341F-0F0E-47FB-8512-CCC8C3F1C977}" type="datetime1">
              <a:rPr lang="da-DK" smtClean="0"/>
              <a:pPr/>
              <a:t>10-02-2026</a:t>
            </a:fld>
            <a:endParaRPr lang="da-DK" dirty="0"/>
          </a:p>
        </p:txBody>
      </p:sp>
      <p:pic>
        <p:nvPicPr>
          <p:cNvPr id="10" name="Billed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308" y="258165"/>
            <a:ext cx="1537425" cy="5604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hold med text og tynd stre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7000775" y="6309385"/>
            <a:ext cx="253435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1" name="Pladsholder til indhold 10"/>
          <p:cNvSpPr>
            <a:spLocks noGrp="1"/>
          </p:cNvSpPr>
          <p:nvPr>
            <p:ph sz="quarter" idx="13" hasCustomPrompt="1"/>
          </p:nvPr>
        </p:nvSpPr>
        <p:spPr>
          <a:xfrm>
            <a:off x="369891" y="2228840"/>
            <a:ext cx="9068709" cy="3960529"/>
          </a:xfrm>
          <a:prstGeom prst="rect">
            <a:avLst/>
          </a:prstGeom>
        </p:spPr>
        <p:txBody>
          <a:bodyPr/>
          <a:lstStyle>
            <a:lvl1pPr>
              <a:defRPr sz="18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  <a:lvl2pPr marL="312919" indent="-281255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2pPr>
            <a:lvl3pPr marL="528982" indent="-21606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3pPr>
            <a:lvl4pPr marL="735733" indent="-206751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4pPr>
            <a:lvl5pPr marL="944346" indent="-20861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6pPr>
            <a:lvl7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7pPr>
          </a:lstStyle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</p:txBody>
      </p:sp>
      <p:sp>
        <p:nvSpPr>
          <p:cNvPr id="14" name="Titel 5"/>
          <p:cNvSpPr>
            <a:spLocks noGrp="1"/>
          </p:cNvSpPr>
          <p:nvPr>
            <p:ph type="title" hasCustomPrompt="1"/>
          </p:nvPr>
        </p:nvSpPr>
        <p:spPr>
          <a:xfrm>
            <a:off x="347711" y="1628757"/>
            <a:ext cx="9090889" cy="480067"/>
          </a:xfrm>
        </p:spPr>
        <p:txBody>
          <a:bodyPr>
            <a:noAutofit/>
          </a:bodyPr>
          <a:lstStyle>
            <a:lvl1pPr>
              <a:defRPr sz="2300" b="1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195000" y="6312001"/>
            <a:ext cx="1157520" cy="366183"/>
          </a:xfrm>
        </p:spPr>
        <p:txBody>
          <a:bodyPr/>
          <a:lstStyle>
            <a:lvl1pPr>
              <a:defRPr sz="1000" b="1" baseline="0">
                <a:solidFill>
                  <a:srgbClr val="006273"/>
                </a:solidFill>
                <a:latin typeface="Arial" pitchFamily="34" charset="0"/>
              </a:defRPr>
            </a:lvl1pPr>
          </a:lstStyle>
          <a:p>
            <a:fld id="{4708341F-0F0E-47FB-8512-CCC8C3F1C977}" type="datetime1">
              <a:rPr lang="da-DK" smtClean="0"/>
              <a:pPr/>
              <a:t>10-02-2026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3384552" y="6309385"/>
            <a:ext cx="31369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da-DK" dirty="0"/>
          </a:p>
        </p:txBody>
      </p:sp>
      <p:pic>
        <p:nvPicPr>
          <p:cNvPr id="9" name="Billed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198" y="258165"/>
            <a:ext cx="153742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020059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hold med text og tynd streg uden bundstreg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7000775" y="6309385"/>
            <a:ext cx="253435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1" name="Pladsholder til indhold 10"/>
          <p:cNvSpPr>
            <a:spLocks noGrp="1"/>
          </p:cNvSpPr>
          <p:nvPr>
            <p:ph sz="quarter" idx="13" hasCustomPrompt="1"/>
          </p:nvPr>
        </p:nvSpPr>
        <p:spPr>
          <a:xfrm>
            <a:off x="369891" y="2228840"/>
            <a:ext cx="9068709" cy="3960529"/>
          </a:xfrm>
          <a:prstGeom prst="rect">
            <a:avLst/>
          </a:prstGeom>
        </p:spPr>
        <p:txBody>
          <a:bodyPr/>
          <a:lstStyle>
            <a:lvl1pPr>
              <a:defRPr sz="1800" baseline="0">
                <a:solidFill>
                  <a:srgbClr val="006273"/>
                </a:solidFill>
              </a:defRPr>
            </a:lvl1pPr>
            <a:lvl2pPr marL="312919" indent="-281255">
              <a:defRPr sz="1400" baseline="0">
                <a:solidFill>
                  <a:srgbClr val="006273"/>
                </a:solidFill>
              </a:defRPr>
            </a:lvl2pPr>
            <a:lvl3pPr marL="528982" indent="-216063">
              <a:defRPr sz="1400" baseline="0">
                <a:solidFill>
                  <a:srgbClr val="006273"/>
                </a:solidFill>
              </a:defRPr>
            </a:lvl3pPr>
            <a:lvl4pPr marL="735733" indent="-206751">
              <a:defRPr sz="1400" baseline="0">
                <a:solidFill>
                  <a:srgbClr val="006273"/>
                </a:solidFill>
              </a:defRPr>
            </a:lvl4pPr>
            <a:lvl5pPr marL="944346" indent="-208613">
              <a:defRPr sz="1400" baseline="0">
                <a:solidFill>
                  <a:srgbClr val="006273"/>
                </a:solidFill>
              </a:defRPr>
            </a:lvl5pPr>
            <a:lvl6pPr>
              <a:defRPr sz="1400" baseline="0">
                <a:solidFill>
                  <a:srgbClr val="006273"/>
                </a:solidFill>
              </a:defRPr>
            </a:lvl6pPr>
            <a:lvl7pPr>
              <a:defRPr sz="1400" baseline="0">
                <a:solidFill>
                  <a:srgbClr val="006273"/>
                </a:solidFill>
              </a:defRPr>
            </a:lvl7pPr>
          </a:lstStyle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</p:txBody>
      </p:sp>
      <p:sp>
        <p:nvSpPr>
          <p:cNvPr id="14" name="Titel 5"/>
          <p:cNvSpPr>
            <a:spLocks noGrp="1"/>
          </p:cNvSpPr>
          <p:nvPr>
            <p:ph type="title" hasCustomPrompt="1"/>
          </p:nvPr>
        </p:nvSpPr>
        <p:spPr>
          <a:xfrm>
            <a:off x="347711" y="1628757"/>
            <a:ext cx="9090889" cy="480067"/>
          </a:xfrm>
        </p:spPr>
        <p:txBody>
          <a:bodyPr>
            <a:noAutofit/>
          </a:bodyPr>
          <a:lstStyle>
            <a:lvl1pPr>
              <a:defRPr sz="2300" b="1" baseline="0">
                <a:solidFill>
                  <a:srgbClr val="006273"/>
                </a:solidFill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195000" y="6312001"/>
            <a:ext cx="877617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4708341F-0F0E-47FB-8512-CCC8C3F1C977}" type="datetime1">
              <a:rPr lang="da-DK" smtClean="0"/>
              <a:pPr/>
              <a:t>10-02-2026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3384552" y="6309385"/>
            <a:ext cx="31369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da-DK" dirty="0"/>
          </a:p>
        </p:txBody>
      </p:sp>
      <p:pic>
        <p:nvPicPr>
          <p:cNvPr id="9" name="Billed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199" y="258165"/>
            <a:ext cx="153742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498528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: Indhold med tek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7000775" y="6309385"/>
            <a:ext cx="253435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1" name="Pladsholder til indhold 10"/>
          <p:cNvSpPr>
            <a:spLocks noGrp="1"/>
          </p:cNvSpPr>
          <p:nvPr>
            <p:ph sz="quarter" idx="13" hasCustomPrompt="1"/>
          </p:nvPr>
        </p:nvSpPr>
        <p:spPr>
          <a:xfrm>
            <a:off x="369891" y="2228840"/>
            <a:ext cx="9068709" cy="3960529"/>
          </a:xfrm>
          <a:prstGeom prst="rect">
            <a:avLst/>
          </a:prstGeom>
        </p:spPr>
        <p:txBody>
          <a:bodyPr/>
          <a:lstStyle>
            <a:lvl1pPr>
              <a:defRPr sz="18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  <a:lvl2pPr marL="312919" indent="-281255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2pPr>
            <a:lvl3pPr marL="528982" indent="-21606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3pPr>
            <a:lvl4pPr marL="735733" indent="-206751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4pPr>
            <a:lvl5pPr marL="944346" indent="-20861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6pPr>
            <a:lvl7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7pPr>
          </a:lstStyle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</p:txBody>
      </p:sp>
      <p:sp>
        <p:nvSpPr>
          <p:cNvPr id="14" name="Titel 5"/>
          <p:cNvSpPr>
            <a:spLocks noGrp="1"/>
          </p:cNvSpPr>
          <p:nvPr>
            <p:ph type="title" hasCustomPrompt="1"/>
          </p:nvPr>
        </p:nvSpPr>
        <p:spPr>
          <a:xfrm>
            <a:off x="347711" y="1628757"/>
            <a:ext cx="9090889" cy="480067"/>
          </a:xfrm>
        </p:spPr>
        <p:txBody>
          <a:bodyPr>
            <a:noAutofit/>
          </a:bodyPr>
          <a:lstStyle>
            <a:lvl1pPr>
              <a:defRPr sz="2300" b="1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195000" y="6312001"/>
            <a:ext cx="877617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4708341F-0F0E-47FB-8512-CCC8C3F1C977}" type="datetime1">
              <a:rPr lang="da-DK" smtClean="0"/>
              <a:pPr/>
              <a:t>10-02-2026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3384552" y="6309385"/>
            <a:ext cx="31369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da-DK" dirty="0"/>
          </a:p>
        </p:txBody>
      </p:sp>
      <p:pic>
        <p:nvPicPr>
          <p:cNvPr id="9" name="Billed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199" y="258165"/>
            <a:ext cx="153742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985682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om: Indhold med tek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7000775" y="6309385"/>
            <a:ext cx="253435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195000" y="6312001"/>
            <a:ext cx="877617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4708341F-0F0E-47FB-8512-CCC8C3F1C977}" type="datetime1">
              <a:rPr lang="da-DK" smtClean="0"/>
              <a:pPr/>
              <a:t>10-02-2026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3384552" y="6309385"/>
            <a:ext cx="31369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da-DK" dirty="0"/>
          </a:p>
        </p:txBody>
      </p:sp>
      <p:pic>
        <p:nvPicPr>
          <p:cNvPr id="9" name="Billed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3420" y="258165"/>
            <a:ext cx="153742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880721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dsholder til titel 13"/>
          <p:cNvSpPr>
            <a:spLocks noGrp="1"/>
          </p:cNvSpPr>
          <p:nvPr>
            <p:ph type="title"/>
          </p:nvPr>
        </p:nvSpPr>
        <p:spPr>
          <a:xfrm>
            <a:off x="467404" y="275167"/>
            <a:ext cx="8971196" cy="1143000"/>
          </a:xfrm>
          <a:prstGeom prst="rect">
            <a:avLst/>
          </a:prstGeom>
        </p:spPr>
        <p:txBody>
          <a:bodyPr vert="horz" lIns="107287" tIns="53643" rIns="107287" bIns="53643" rtlCol="0" anchor="ctr">
            <a:normAutofit/>
          </a:bodyPr>
          <a:lstStyle/>
          <a:p>
            <a:r>
              <a:rPr lang="da-DK" dirty="0"/>
              <a:t>KLIK FOR AT REDIGERE TITELTYPOGRAFI I MASTEREN</a:t>
            </a:r>
          </a:p>
        </p:txBody>
      </p:sp>
      <p:sp>
        <p:nvSpPr>
          <p:cNvPr id="16" name="Pladsholder til dato 15"/>
          <p:cNvSpPr>
            <a:spLocks noGrp="1"/>
          </p:cNvSpPr>
          <p:nvPr>
            <p:ph type="dt" sz="half" idx="2"/>
          </p:nvPr>
        </p:nvSpPr>
        <p:spPr>
          <a:xfrm>
            <a:off x="370879" y="6356353"/>
            <a:ext cx="2534351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l"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708341F-0F0E-47FB-8512-CCC8C3F1C977}" type="datetime1">
              <a:rPr lang="da-DK" smtClean="0"/>
              <a:pPr/>
              <a:t>10-02-2026</a:t>
            </a:fld>
            <a:endParaRPr lang="da-DK" dirty="0"/>
          </a:p>
        </p:txBody>
      </p:sp>
      <p:sp>
        <p:nvSpPr>
          <p:cNvPr id="17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3384552" y="6356353"/>
            <a:ext cx="31369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da-DK" dirty="0"/>
          </a:p>
        </p:txBody>
      </p:sp>
      <p:sp>
        <p:nvSpPr>
          <p:cNvPr id="18" name="Pladsholder til diasnummer 17"/>
          <p:cNvSpPr>
            <a:spLocks noGrp="1"/>
          </p:cNvSpPr>
          <p:nvPr>
            <p:ph type="sldNum" sz="quarter" idx="4"/>
          </p:nvPr>
        </p:nvSpPr>
        <p:spPr>
          <a:xfrm>
            <a:off x="7000775" y="6356353"/>
            <a:ext cx="2534351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r"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8" name="Pladsholder til tekst 7"/>
          <p:cNvSpPr>
            <a:spLocks noGrp="1"/>
          </p:cNvSpPr>
          <p:nvPr>
            <p:ph type="body" idx="1"/>
          </p:nvPr>
        </p:nvSpPr>
        <p:spPr>
          <a:xfrm>
            <a:off x="467404" y="1600202"/>
            <a:ext cx="8971196" cy="4525433"/>
          </a:xfrm>
          <a:prstGeom prst="rect">
            <a:avLst/>
          </a:prstGeom>
        </p:spPr>
        <p:txBody>
          <a:bodyPr vert="horz" lIns="107287" tIns="53643" rIns="107287" bIns="53643" rtlCol="0">
            <a:noAutofit/>
          </a:bodyPr>
          <a:lstStyle/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 err="1"/>
              <a:t>Level</a:t>
            </a:r>
            <a:r>
              <a:rPr lang="da-DK" dirty="0"/>
              <a:t> 6</a:t>
            </a:r>
          </a:p>
          <a:p>
            <a:pPr lvl="6"/>
            <a:r>
              <a:rPr lang="da-DK" dirty="0" err="1"/>
              <a:t>Level</a:t>
            </a:r>
            <a:r>
              <a:rPr lang="da-DK" dirty="0"/>
              <a:t> 7</a:t>
            </a:r>
          </a:p>
          <a:p>
            <a:pPr lvl="5"/>
            <a:endParaRPr lang="da-DK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20" r:id="rId2"/>
    <p:sldLayoutId id="2147483765" r:id="rId3"/>
    <p:sldLayoutId id="2147483768" r:id="rId4"/>
    <p:sldLayoutId id="2147483770" r:id="rId5"/>
    <p:sldLayoutId id="2147483771" r:id="rId6"/>
  </p:sldLayoutIdLst>
  <p:hf hdr="0"/>
  <p:txStyles>
    <p:titleStyle>
      <a:lvl1pPr marL="420951" indent="-420951" algn="l" defTabSz="1072866" rtl="0" eaLnBrk="1" latinLnBrk="0" hangingPunct="1">
        <a:spcBef>
          <a:spcPct val="0"/>
        </a:spcBef>
        <a:buClr>
          <a:schemeClr val="tx2"/>
        </a:buClr>
        <a:buFont typeface="+mj-lt"/>
        <a:buNone/>
        <a:defRPr sz="2800" b="1" kern="1200">
          <a:solidFill>
            <a:srgbClr val="006273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0" indent="0" algn="l" defTabSz="1072866" rtl="0" eaLnBrk="1" latinLnBrk="0" hangingPunct="1">
        <a:spcBef>
          <a:spcPct val="20000"/>
        </a:spcBef>
        <a:buSzPct val="25000"/>
        <a:buFontTx/>
        <a:buNone/>
        <a:defRPr sz="2100" b="1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1pPr>
      <a:lvl2pPr marL="312919" indent="-273805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9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2pPr>
      <a:lvl3pPr marL="528982" indent="-21606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3pPr>
      <a:lvl4pPr marL="735733" indent="-206751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4pPr>
      <a:lvl5pPr marL="944346" indent="-20861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5pPr>
      <a:lvl6pPr marL="1152958" indent="-20861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tabLst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6pPr>
      <a:lvl7pPr marL="1369022" indent="-21606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7pPr>
      <a:lvl8pPr marL="4023246" indent="-268216" algn="l" defTabSz="1072866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59678" indent="-268216" algn="l" defTabSz="1072866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6433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72866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9298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45731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82164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18597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55029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91462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QLN_6jPJgv0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3364F6B0-1E07-72EC-9C89-DDB049F12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</a:t>
            </a:fld>
            <a:endParaRPr lang="da-DK" dirty="0"/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7DADD530-95D3-1180-7A82-446F48CA418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6129" y="904308"/>
            <a:ext cx="9068709" cy="5049384"/>
          </a:xfrm>
        </p:spPr>
        <p:txBody>
          <a:bodyPr/>
          <a:lstStyle/>
          <a:p>
            <a:r>
              <a:rPr lang="da-DK" dirty="0"/>
              <a:t>Pænt goddag</a:t>
            </a:r>
          </a:p>
          <a:p>
            <a:r>
              <a:rPr lang="da-DK" dirty="0"/>
              <a:t>Præsentation af faget 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/>
              <a:t>Studieordning og solotaksonomi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/>
              <a:t>Forløbsplan (I Teams)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/>
              <a:t>Eksamensform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/>
              <a:t>Porteføljeopgaver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/>
              <a:t>Midtvejs / slutevaluering / løbende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/>
              <a:t>Microsoft Teams</a:t>
            </a:r>
          </a:p>
          <a:p>
            <a:pPr marL="0" lvl="1" indent="0">
              <a:buNone/>
            </a:pPr>
            <a:r>
              <a:rPr lang="da-DK" sz="1800" b="1" dirty="0" err="1"/>
              <a:t>MathCad</a:t>
            </a:r>
            <a:endParaRPr lang="da-DK" sz="1800" b="1" dirty="0"/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/>
              <a:t>Forhåndskendskab?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/>
              <a:t>Anvendelse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/>
              <a:t>Installation</a:t>
            </a:r>
          </a:p>
          <a:p>
            <a:pPr marL="0" lvl="1" indent="0">
              <a:buNone/>
              <a:tabLst>
                <a:tab pos="0" algn="l"/>
              </a:tabLst>
            </a:pPr>
            <a:r>
              <a:rPr lang="da-DK" sz="1800" b="1" dirty="0"/>
              <a:t>Dieselmotoren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/>
              <a:t>Anvendelser</a:t>
            </a:r>
          </a:p>
          <a:p>
            <a:pPr marL="879333" lvl="1" indent="-342900"/>
            <a:r>
              <a:rPr lang="da-DK" dirty="0"/>
              <a:t>Takter (2 og 4-takt)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/>
              <a:t>Hoveddele – klassifikation, konstruktion og funktion 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/>
              <a:t>Opgave: Hoveddele – konstruktion og funktion 2-taktsmotoren</a:t>
            </a:r>
          </a:p>
          <a:p>
            <a:pPr marL="879333" lvl="1" indent="-342900"/>
            <a:r>
              <a:rPr lang="da-DK" dirty="0"/>
              <a:t>Opgave: Hoveddele – konstruktion og funktion 4-taktsmotoren 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/>
              <a:t>V-p </a:t>
            </a:r>
            <a:r>
              <a:rPr lang="da-DK" dirty="0"/>
              <a:t>diagrammet 4-takt dieselmotor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/>
              <a:t>V-p diagrammet og arbejde generelt</a:t>
            </a:r>
          </a:p>
          <a:p>
            <a:pPr marL="536433" lvl="1" indent="0">
              <a:buNone/>
            </a:pPr>
            <a:endParaRPr lang="da-DK" dirty="0"/>
          </a:p>
          <a:p>
            <a:pPr marL="0" lvl="1" indent="0">
              <a:buNone/>
            </a:pPr>
            <a:endParaRPr lang="da-DK" b="1" dirty="0"/>
          </a:p>
          <a:p>
            <a:pPr marL="0" lvl="1" indent="0">
              <a:buNone/>
            </a:pPr>
            <a:endParaRPr lang="da-DK" sz="1800" b="1" dirty="0"/>
          </a:p>
          <a:p>
            <a:pPr marL="0" lvl="1" indent="0">
              <a:buNone/>
            </a:pPr>
            <a:endParaRPr lang="da-DK" dirty="0"/>
          </a:p>
          <a:p>
            <a:pPr marL="879333" lvl="1" indent="-342900">
              <a:buFont typeface="Arial" panose="020B0604020202020204" pitchFamily="34" charset="0"/>
              <a:buChar char="•"/>
            </a:pPr>
            <a:endParaRPr lang="da-DK" dirty="0"/>
          </a:p>
          <a:p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7006793E-B127-4A92-293F-3CFF603B3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521" y="404664"/>
            <a:ext cx="9090889" cy="480067"/>
          </a:xfrm>
        </p:spPr>
        <p:txBody>
          <a:bodyPr/>
          <a:lstStyle/>
          <a:p>
            <a:r>
              <a:rPr lang="da-DK" dirty="0"/>
              <a:t>Dagens program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6C6A99DA-CAFB-848A-6E9A-A029577AC77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10-02-2026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7E9FD94A-32F4-273E-CB83-0B00245DAF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964763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F25C7-92E0-49FF-42F5-86BF12148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ECBD4A7B-F20A-F2FD-A59E-7433E22D4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2</a:t>
            </a:fld>
            <a:endParaRPr lang="da-DK" dirty="0"/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DCE9F813-1336-A287-BF56-1530040D60E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0980" y="1628800"/>
            <a:ext cx="9068709" cy="4536504"/>
          </a:xfrm>
        </p:spPr>
        <p:txBody>
          <a:bodyPr/>
          <a:lstStyle/>
          <a:p>
            <a:r>
              <a:rPr lang="da-DK" dirty="0"/>
              <a:t>Sø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/>
              <a:t>Fremdrift skibe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/>
              <a:t>Generator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/>
              <a:t>Nødgenerator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/>
              <a:t>Brandpumper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/>
              <a:t>Redningsbåde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/>
              <a:t>Cargopumper</a:t>
            </a:r>
          </a:p>
          <a:p>
            <a:pPr marL="0" lvl="1" indent="0">
              <a:buNone/>
            </a:pPr>
            <a:r>
              <a:rPr lang="da-DK" sz="1800" b="1" dirty="0"/>
              <a:t>Land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/>
              <a:t>Fremdrift køretøjer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/>
              <a:t>Generator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/>
              <a:t>Nødgenerator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 err="1"/>
              <a:t>Osv</a:t>
            </a:r>
            <a:r>
              <a:rPr lang="da-DK" dirty="0"/>
              <a:t>…</a:t>
            </a:r>
          </a:p>
          <a:p>
            <a:pPr marL="0" lvl="1" indent="534988">
              <a:buNone/>
            </a:pPr>
            <a:endParaRPr lang="da-DK" dirty="0"/>
          </a:p>
          <a:p>
            <a:pPr marL="0" lvl="1" indent="0">
              <a:buNone/>
            </a:pPr>
            <a:endParaRPr lang="da-DK" b="1" dirty="0"/>
          </a:p>
          <a:p>
            <a:pPr marL="0" lvl="1" indent="0">
              <a:buNone/>
            </a:pPr>
            <a:endParaRPr lang="da-DK" sz="1800" b="1" dirty="0"/>
          </a:p>
          <a:p>
            <a:pPr marL="0" lvl="1" indent="0">
              <a:buNone/>
            </a:pPr>
            <a:endParaRPr lang="da-DK" dirty="0"/>
          </a:p>
          <a:p>
            <a:pPr marL="879333" lvl="1" indent="-342900">
              <a:buFont typeface="Arial" panose="020B0604020202020204" pitchFamily="34" charset="0"/>
              <a:buChar char="•"/>
            </a:pPr>
            <a:endParaRPr lang="da-DK" dirty="0"/>
          </a:p>
          <a:p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6E952219-B7E8-4CF1-13F5-255B6C276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891" y="980728"/>
            <a:ext cx="9090889" cy="480067"/>
          </a:xfrm>
        </p:spPr>
        <p:txBody>
          <a:bodyPr/>
          <a:lstStyle/>
          <a:p>
            <a:r>
              <a:rPr lang="da-DK" dirty="0"/>
              <a:t>Dieselmotorens anvendelsesområder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F909EB59-A737-49CA-8E91-8D3553931C3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10-02-2026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A38E2D0B-0234-1E6B-D0C8-80F8029504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1026" name="Picture 2" descr="The new propulsion arrangement designed by Wärtsilä and RINA offers a future-proof and efficient alternative to conventional designs. © Wärtsilä Corporation ">
            <a:extLst>
              <a:ext uri="{FF2B5EF4-FFF2-40B4-BE49-F238E27FC236}">
                <a16:creationId xmlns:a16="http://schemas.microsoft.com/office/drawing/2014/main" id="{4398DB01-450C-83CB-B98B-8D7F72689C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6816" y="1494236"/>
            <a:ext cx="3041915" cy="1711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arine Propulsion">
            <a:extLst>
              <a:ext uri="{FF2B5EF4-FFF2-40B4-BE49-F238E27FC236}">
                <a16:creationId xmlns:a16="http://schemas.microsoft.com/office/drawing/2014/main" id="{D84540C8-720E-A503-E9A5-5DF4F30823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9184" y="1688097"/>
            <a:ext cx="2364854" cy="1466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AT-C18-Generator-Set-1-scalia-blog-default">
            <a:extLst>
              <a:ext uri="{FF2B5EF4-FFF2-40B4-BE49-F238E27FC236}">
                <a16:creationId xmlns:a16="http://schemas.microsoft.com/office/drawing/2014/main" id="{18DFB23A-87E8-8440-E789-BBC9EEA8C4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8944" y="3685239"/>
            <a:ext cx="2643758" cy="1909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5635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4EBE2-8D7F-F7E6-7B97-E6D24743C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ED77FEF8-CCFF-E2EF-EC13-1CE330884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3</a:t>
            </a:fld>
            <a:endParaRPr lang="da-DK" dirty="0"/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F95E398F-CFE5-E821-9CA4-53ED772207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781" y="1160748"/>
            <a:ext cx="9068709" cy="4536504"/>
          </a:xfrm>
        </p:spPr>
        <p:txBody>
          <a:bodyPr/>
          <a:lstStyle/>
          <a:p>
            <a:r>
              <a:rPr lang="da-DK" dirty="0"/>
              <a:t>2-takt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/>
              <a:t>Større skibe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/>
              <a:t>Enkeltmotor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/>
              <a:t>Krydshovedmotor eller </a:t>
            </a:r>
            <a:r>
              <a:rPr lang="da-DK" dirty="0" err="1"/>
              <a:t>trunkmotor</a:t>
            </a:r>
            <a:endParaRPr lang="da-DK" dirty="0"/>
          </a:p>
          <a:p>
            <a:pPr marL="0" lvl="1" indent="0">
              <a:buNone/>
            </a:pPr>
            <a:r>
              <a:rPr lang="da-DK" sz="1800" b="1" dirty="0"/>
              <a:t>4-takt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/>
              <a:t>Mindre skibe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/>
              <a:t>Enkelt motor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/>
              <a:t>Dobbelt motoranlæg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/>
              <a:t>Flermotors anlæg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 err="1"/>
              <a:t>Trunk</a:t>
            </a:r>
            <a:r>
              <a:rPr lang="da-DK" dirty="0"/>
              <a:t> motor</a:t>
            </a:r>
          </a:p>
          <a:p>
            <a:pPr marL="0" lvl="1" indent="534988">
              <a:buNone/>
            </a:pPr>
            <a:endParaRPr lang="da-DK" dirty="0">
              <a:solidFill>
                <a:srgbClr val="FF0000"/>
              </a:solidFill>
            </a:endParaRPr>
          </a:p>
          <a:p>
            <a:pPr marL="0" lvl="1" indent="0">
              <a:buNone/>
            </a:pPr>
            <a:endParaRPr lang="da-DK" b="1" dirty="0"/>
          </a:p>
          <a:p>
            <a:pPr marL="0" lvl="1" indent="0">
              <a:buNone/>
            </a:pPr>
            <a:endParaRPr lang="da-DK" sz="1800" b="1" dirty="0"/>
          </a:p>
          <a:p>
            <a:pPr marL="0" lvl="1" indent="0">
              <a:buNone/>
            </a:pPr>
            <a:endParaRPr lang="da-DK" dirty="0"/>
          </a:p>
          <a:p>
            <a:pPr marL="879333" lvl="1" indent="-342900">
              <a:buFont typeface="Arial" panose="020B0604020202020204" pitchFamily="34" charset="0"/>
              <a:buChar char="•"/>
            </a:pPr>
            <a:endParaRPr lang="da-DK" dirty="0"/>
          </a:p>
          <a:p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D867119C-B356-B0DD-72BE-E2D731C6B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537" y="558450"/>
            <a:ext cx="9090889" cy="480067"/>
          </a:xfrm>
        </p:spPr>
        <p:txBody>
          <a:bodyPr/>
          <a:lstStyle/>
          <a:p>
            <a:r>
              <a:rPr lang="da-DK" dirty="0"/>
              <a:t>Dieselmotoren 2-takt VS 4-takt til søs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9B7859D2-8AAC-2DB7-ABF8-12AEF493D12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10-02-2026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8CF9621B-A758-AF6C-86E9-5D3AFE6E1F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46B085C-42F1-121F-9D45-9F2F95BEC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9712" y="1454132"/>
            <a:ext cx="2763479" cy="2307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32/44CR propulsion">
            <a:extLst>
              <a:ext uri="{FF2B5EF4-FFF2-40B4-BE49-F238E27FC236}">
                <a16:creationId xmlns:a16="http://schemas.microsoft.com/office/drawing/2014/main" id="{C59FAE65-710D-F348-0919-08DED3DB00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984" y="3731251"/>
            <a:ext cx="3712412" cy="208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BBF883A-897B-DC47-7C1D-D58DA8D351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658" y="3854423"/>
            <a:ext cx="2389510" cy="2979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0180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E39BC-96DD-624D-102D-7AB7FEF16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2E810760-3690-2658-07D2-21EA58186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4</a:t>
            </a:fld>
            <a:endParaRPr lang="da-DK" dirty="0"/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9B39BE8B-0FD9-F4C8-159A-06BC0A1F49E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0980" y="1628800"/>
            <a:ext cx="9068709" cy="4536504"/>
          </a:xfrm>
        </p:spPr>
        <p:txBody>
          <a:bodyPr/>
          <a:lstStyle/>
          <a:p>
            <a:pPr marL="0" lvl="1" indent="0">
              <a:buNone/>
            </a:pPr>
            <a:r>
              <a:rPr lang="da-DK" sz="1800" b="1" dirty="0"/>
              <a:t>2-takt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/>
              <a:t>1. Kompressionsslag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/>
              <a:t>2. Arbejdsslag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/>
              <a:t>1 omdrejning på krumtap pr. cyklus</a:t>
            </a:r>
          </a:p>
          <a:p>
            <a:pPr marL="0" lvl="1" indent="534988">
              <a:buNone/>
            </a:pPr>
            <a:endParaRPr lang="da-DK" dirty="0"/>
          </a:p>
          <a:p>
            <a:pPr marL="0" lvl="1" indent="534988">
              <a:buNone/>
            </a:pPr>
            <a:endParaRPr lang="da-DK" dirty="0"/>
          </a:p>
          <a:p>
            <a:pPr marL="0" lvl="1" indent="534988">
              <a:buNone/>
            </a:pPr>
            <a:endParaRPr lang="da-DK" dirty="0"/>
          </a:p>
          <a:p>
            <a:pPr marL="0" lvl="1" indent="534988">
              <a:buNone/>
            </a:pPr>
            <a:endParaRPr lang="da-DK" dirty="0"/>
          </a:p>
          <a:p>
            <a:pPr marL="0" lvl="1" indent="534988">
              <a:buNone/>
            </a:pPr>
            <a:endParaRPr lang="da-DK" dirty="0"/>
          </a:p>
          <a:p>
            <a:pPr marL="0" lvl="1" indent="0">
              <a:buNone/>
            </a:pPr>
            <a:r>
              <a:rPr lang="da-DK" sz="1800" b="1" dirty="0"/>
              <a:t>4-takt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/>
              <a:t>1. Indsugningsslag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/>
              <a:t>2. Kompressionsslag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/>
              <a:t>3. Arbejdsslag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/>
              <a:t>4. Udstødningsslag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/>
              <a:t>2 omdrejninger på krumtap pr. cyklus</a:t>
            </a:r>
          </a:p>
          <a:p>
            <a:pPr marL="536433" lvl="1" indent="0">
              <a:buNone/>
            </a:pPr>
            <a:endParaRPr lang="da-DK" dirty="0">
              <a:solidFill>
                <a:srgbClr val="FF0000"/>
              </a:solidFill>
            </a:endParaRPr>
          </a:p>
          <a:p>
            <a:pPr marL="0" lvl="1" indent="0">
              <a:buNone/>
            </a:pPr>
            <a:endParaRPr lang="da-DK" b="1" dirty="0"/>
          </a:p>
          <a:p>
            <a:pPr marL="0" lvl="1" indent="0">
              <a:buNone/>
            </a:pPr>
            <a:endParaRPr lang="da-DK" sz="1800" b="1" dirty="0"/>
          </a:p>
          <a:p>
            <a:pPr marL="0" lvl="1" indent="0">
              <a:buNone/>
            </a:pPr>
            <a:endParaRPr lang="da-DK" dirty="0"/>
          </a:p>
          <a:p>
            <a:pPr marL="879333" lvl="1" indent="-342900">
              <a:buFont typeface="Arial" panose="020B0604020202020204" pitchFamily="34" charset="0"/>
              <a:buChar char="•"/>
            </a:pPr>
            <a:endParaRPr lang="da-DK" dirty="0"/>
          </a:p>
          <a:p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0E4C00EF-6226-CDB4-C8C2-5C0A77BA5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891" y="980728"/>
            <a:ext cx="9090889" cy="480067"/>
          </a:xfrm>
        </p:spPr>
        <p:txBody>
          <a:bodyPr/>
          <a:lstStyle/>
          <a:p>
            <a:r>
              <a:rPr lang="da-DK" dirty="0"/>
              <a:t>Dieselmotorens funktion - Takter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85834A12-96EB-A3A4-B81F-CD2E5A35B40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10-02-2026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133C1EB5-3457-F646-08EB-2E8E8EF14A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4102" name="Picture 6" descr="The Working Of A Four Stroke Diesel Engine">
            <a:extLst>
              <a:ext uri="{FF2B5EF4-FFF2-40B4-BE49-F238E27FC236}">
                <a16:creationId xmlns:a16="http://schemas.microsoft.com/office/drawing/2014/main" id="{174F2F82-CA6C-038F-119E-80F4D8A67C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4919" y="3693913"/>
            <a:ext cx="4520952" cy="2639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B5A5354F-4FF9-2D5C-A132-2873B9571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437639"/>
            <a:ext cx="2339795" cy="1914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38EF30B-9216-29B0-2290-1157BF894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1707" y="1437639"/>
            <a:ext cx="2378782" cy="1914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5098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6B32C9C-0740-B475-ECBC-96DF208DB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2BD51298-AC7A-7C81-0001-D78CDA6A9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5</a:t>
            </a:fld>
            <a:endParaRPr lang="da-DK" dirty="0"/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C9C64740-3FE3-F834-97D0-B2AA9BC18F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0980" y="1628800"/>
            <a:ext cx="9068709" cy="4536504"/>
          </a:xfrm>
        </p:spPr>
        <p:txBody>
          <a:bodyPr/>
          <a:lstStyle/>
          <a:p>
            <a:r>
              <a:rPr lang="da-DK" dirty="0"/>
              <a:t>Hvad der skal til for start og kørsel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/>
              <a:t>Startluft / starter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/>
              <a:t>Luft til forbrænding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/>
              <a:t>Olie til forbrænding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/>
              <a:t>Smøreolie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/>
              <a:t>Kølevand</a:t>
            </a:r>
          </a:p>
          <a:p>
            <a:pPr marL="0" lvl="1" indent="534988">
              <a:buNone/>
            </a:pPr>
            <a:endParaRPr lang="da-DK" dirty="0"/>
          </a:p>
          <a:p>
            <a:pPr marL="0" lvl="1" indent="0">
              <a:buNone/>
            </a:pPr>
            <a:endParaRPr lang="da-DK" b="1" dirty="0"/>
          </a:p>
          <a:p>
            <a:pPr marL="0" lvl="1" indent="0">
              <a:buNone/>
            </a:pPr>
            <a:endParaRPr lang="da-DK" sz="1800" b="1" dirty="0"/>
          </a:p>
          <a:p>
            <a:pPr marL="0" lvl="1" indent="0">
              <a:buNone/>
            </a:pPr>
            <a:endParaRPr lang="da-DK" dirty="0"/>
          </a:p>
          <a:p>
            <a:pPr marL="879333" lvl="1" indent="-342900">
              <a:buFont typeface="Arial" panose="020B0604020202020204" pitchFamily="34" charset="0"/>
              <a:buChar char="•"/>
            </a:pPr>
            <a:endParaRPr lang="da-DK" dirty="0"/>
          </a:p>
          <a:p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8FA19059-A301-12D7-6274-9E16E7FF3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891" y="980728"/>
            <a:ext cx="9090889" cy="480067"/>
          </a:xfrm>
        </p:spPr>
        <p:txBody>
          <a:bodyPr/>
          <a:lstStyle/>
          <a:p>
            <a:r>
              <a:rPr lang="da-DK" dirty="0"/>
              <a:t>Dieselmotorens funktion og hoveddele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A049156D-229E-0812-D8E2-474A6F04D95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10-02-2026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E809ED35-571E-0348-7AD0-1D9E1C5906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3074" name="Picture 2" descr="Marine Diesel Engine Pneumatic Starters Common Layout">
            <a:extLst>
              <a:ext uri="{FF2B5EF4-FFF2-40B4-BE49-F238E27FC236}">
                <a16:creationId xmlns:a16="http://schemas.microsoft.com/office/drawing/2014/main" id="{0190C4C5-4661-0BD4-ADF2-FD0EB2FA9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984" y="1460795"/>
            <a:ext cx="4588768" cy="2016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kstfelt 4">
            <a:extLst>
              <a:ext uri="{FF2B5EF4-FFF2-40B4-BE49-F238E27FC236}">
                <a16:creationId xmlns:a16="http://schemas.microsoft.com/office/drawing/2014/main" id="{49653C8F-04B7-2EE5-DB68-7466644B5A98}"/>
              </a:ext>
            </a:extLst>
          </p:cNvPr>
          <p:cNvSpPr txBox="1"/>
          <p:nvPr/>
        </p:nvSpPr>
        <p:spPr>
          <a:xfrm>
            <a:off x="5372573" y="3437599"/>
            <a:ext cx="32671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dirty="0">
                <a:solidFill>
                  <a:srgbClr val="006273"/>
                </a:solidFill>
              </a:rPr>
              <a:t>Eksempel på startluftsystem 4-takts Diesel</a:t>
            </a:r>
          </a:p>
        </p:txBody>
      </p:sp>
    </p:spTree>
    <p:extLst>
      <p:ext uri="{BB962C8B-B14F-4D97-AF65-F5344CB8AC3E}">
        <p14:creationId xmlns:p14="http://schemas.microsoft.com/office/powerpoint/2010/main" val="1488485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F7330A61-1CFC-7CE6-2E51-11F1B2756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6</a:t>
            </a:fld>
            <a:endParaRPr lang="da-DK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8151AEB-C6C2-90F3-7579-9F91BECA3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193" y="427821"/>
            <a:ext cx="9090889" cy="480067"/>
          </a:xfrm>
        </p:spPr>
        <p:txBody>
          <a:bodyPr/>
          <a:lstStyle/>
          <a:p>
            <a:r>
              <a:rPr lang="da-DK" dirty="0"/>
              <a:t>Dieselmotorens konstruktion 2-takt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C743BBFA-A01D-46E8-0EAC-CEBC2D83C87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10-02-2026</a:t>
            </a:fld>
            <a:endParaRPr lang="da-DK" dirty="0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05D50265-9ECB-1A80-FB62-029F9653B4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E49E1721-B65B-F75E-A739-8E596E912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736" y="921208"/>
            <a:ext cx="5328592" cy="5805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088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8F83D-5907-F795-CC6E-251BC853F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58501C29-7FC5-C889-44BF-19AE1D02F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7</a:t>
            </a:fld>
            <a:endParaRPr lang="da-DK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4592CC42-5614-A2A1-53F7-97F35C671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00" y="908720"/>
            <a:ext cx="9090889" cy="480067"/>
          </a:xfrm>
        </p:spPr>
        <p:txBody>
          <a:bodyPr/>
          <a:lstStyle/>
          <a:p>
            <a:r>
              <a:rPr lang="da-DK" dirty="0"/>
              <a:t>Dieselmotorens konstruktion 2-takt Bundramme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B74D5943-1300-7DB3-A8DA-FF6D980ED58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10-02-2026</a:t>
            </a:fld>
            <a:endParaRPr lang="da-DK" dirty="0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670142D9-FCDA-5904-D9EC-6D58B6928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096D83CF-B839-DE04-1F4C-ADE87F1AB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742" y="1818944"/>
            <a:ext cx="8877300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539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C73B3-BCEA-530B-D887-26A1D56D8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A28F3A77-996C-0265-F37A-2447404A3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8</a:t>
            </a:fld>
            <a:endParaRPr lang="da-DK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B392ED6F-5D26-C6D2-30B9-3A01B4608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995" y="872723"/>
            <a:ext cx="9090889" cy="480067"/>
          </a:xfrm>
        </p:spPr>
        <p:txBody>
          <a:bodyPr/>
          <a:lstStyle/>
          <a:p>
            <a:r>
              <a:rPr lang="da-DK" dirty="0"/>
              <a:t>Dieselmotorens konstruktion 2-takt Krumtapaksel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2E9B1B7F-DE8B-1579-4635-7FDCE435F1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10-02-2026</a:t>
            </a:fld>
            <a:endParaRPr lang="da-DK" dirty="0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C3BC708A-C90E-4FAE-4D2A-8F36AD8C1B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ED9247D8-CDB9-0641-3D44-E39C9EE47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4728" y="1484784"/>
            <a:ext cx="5595720" cy="530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387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814E5-F8D9-E3BA-010D-B653C4C75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102CADFC-11B5-4EF0-A388-E008FFBA1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9</a:t>
            </a:fld>
            <a:endParaRPr lang="da-DK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ECFA4F76-A0FF-8A8A-53F2-F1F6DC3CF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905" y="720048"/>
            <a:ext cx="9090889" cy="480067"/>
          </a:xfrm>
        </p:spPr>
        <p:txBody>
          <a:bodyPr/>
          <a:lstStyle/>
          <a:p>
            <a:r>
              <a:rPr lang="da-DK" dirty="0"/>
              <a:t>Dieselmotorens konstruktion 2-takt Krumtapaksel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51DC3571-F3B5-E940-EB85-1B9A366B3F2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10-02-2026</a:t>
            </a:fld>
            <a:endParaRPr lang="da-DK" dirty="0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2B6C2FEC-0517-29FF-B5CF-4649E00325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5AA8EBCA-B8F4-F3CE-93EB-0937077D3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28" y="1628800"/>
            <a:ext cx="8658225" cy="43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248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3A9D2-E162-3336-D5C1-BB14A71D0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63DEBAA7-D64D-2733-E9EE-5420F9F27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10</a:t>
            </a:fld>
            <a:endParaRPr lang="da-DK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B1D6C0F1-78E6-CB57-C4FE-DEC22826F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00" y="1169627"/>
            <a:ext cx="9090889" cy="480067"/>
          </a:xfrm>
        </p:spPr>
        <p:txBody>
          <a:bodyPr/>
          <a:lstStyle/>
          <a:p>
            <a:r>
              <a:rPr lang="da-DK" dirty="0"/>
              <a:t>Dieselmotorens konstruktion 2-takt A-stativ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9E422EDB-A4A1-DC74-35AE-1EB2D6E939F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10-02-2026</a:t>
            </a:fld>
            <a:endParaRPr lang="da-DK" dirty="0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05FC3E13-3F0E-30F7-DB00-63E0EA8F65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5BD409AE-03AF-5C06-C9D3-309A22839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288" y="2108824"/>
            <a:ext cx="8769424" cy="425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684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1B2C4-CF9F-DB9F-C757-A34FC0E32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533FB970-C8E5-487A-1456-65FDD26D7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11</a:t>
            </a:fld>
            <a:endParaRPr lang="da-DK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3E20995C-C766-2521-2EAC-0D5BA4B16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079" y="1088487"/>
            <a:ext cx="9090889" cy="480067"/>
          </a:xfrm>
        </p:spPr>
        <p:txBody>
          <a:bodyPr/>
          <a:lstStyle/>
          <a:p>
            <a:r>
              <a:rPr lang="da-DK" dirty="0"/>
              <a:t>Dieselmotorens konstruktion 2-takt A-stativ sprængdæksel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EF9EC42F-4FA9-CEC8-2914-240E02D919F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10-02-2026</a:t>
            </a:fld>
            <a:endParaRPr lang="da-DK" dirty="0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122CE2D1-65AA-2239-2082-9F0DBB289F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12" name="Billede 11">
            <a:extLst>
              <a:ext uri="{FF2B5EF4-FFF2-40B4-BE49-F238E27FC236}">
                <a16:creationId xmlns:a16="http://schemas.microsoft.com/office/drawing/2014/main" id="{95E53B27-82D2-F188-AD53-8E3F8E018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8062" y="2179857"/>
            <a:ext cx="5953330" cy="4620815"/>
          </a:xfrm>
          <a:prstGeom prst="rect">
            <a:avLst/>
          </a:prstGeom>
        </p:spPr>
      </p:pic>
      <p:pic>
        <p:nvPicPr>
          <p:cNvPr id="14" name="Billede 13">
            <a:extLst>
              <a:ext uri="{FF2B5EF4-FFF2-40B4-BE49-F238E27FC236}">
                <a16:creationId xmlns:a16="http://schemas.microsoft.com/office/drawing/2014/main" id="{3263FBC1-C533-C83D-72E1-5687D514CD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00" y="1846116"/>
            <a:ext cx="1510880" cy="4725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498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6C58F-9515-4C8E-85BF-A49BDF3E1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1BE6B4CC-3660-0E12-A0D6-F942E7D66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12</a:t>
            </a:fld>
            <a:endParaRPr lang="da-DK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5CDE7BFA-7620-BE46-0C18-BBA30BF08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536" y="663906"/>
            <a:ext cx="9090889" cy="480067"/>
          </a:xfrm>
        </p:spPr>
        <p:txBody>
          <a:bodyPr/>
          <a:lstStyle/>
          <a:p>
            <a:r>
              <a:rPr lang="da-DK" dirty="0"/>
              <a:t>Dieselmotorens konstruktion 2-takt Cylinderramme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F03355AC-43B0-77FD-1213-258ABF7678E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10-02-2026</a:t>
            </a:fld>
            <a:endParaRPr lang="da-DK" dirty="0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2B0AE6FF-1569-D184-A8E7-957924839B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DD049EB7-20D3-B337-CFB6-DFFE4B802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312" y="1266605"/>
            <a:ext cx="8337376" cy="5558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553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0A0E3-C70F-E1B6-FB28-79537E10B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D05ED15A-1633-4AC3-F2A1-B15CF5191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13</a:t>
            </a:fld>
            <a:endParaRPr lang="da-DK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04D87FBC-2819-9479-F23F-74C57C9A1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525" y="1012346"/>
            <a:ext cx="9090889" cy="480067"/>
          </a:xfrm>
        </p:spPr>
        <p:txBody>
          <a:bodyPr/>
          <a:lstStyle/>
          <a:p>
            <a:r>
              <a:rPr lang="da-DK" dirty="0"/>
              <a:t>Dieselmotorens konstruktion 2-takt Cylinderramme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7709C2A4-A66F-CDAD-EC64-113AFAB450B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10-02-2026</a:t>
            </a:fld>
            <a:endParaRPr lang="da-DK" dirty="0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EE8365B2-EDC3-94F0-1055-79BBF35FEA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E97C5145-832C-C87B-3849-0B77A720B4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2782" y="3973206"/>
            <a:ext cx="5976664" cy="2829958"/>
          </a:xfrm>
          <a:prstGeom prst="rect">
            <a:avLst/>
          </a:prstGeom>
        </p:spPr>
      </p:pic>
      <p:pic>
        <p:nvPicPr>
          <p:cNvPr id="12" name="Billede 11">
            <a:extLst>
              <a:ext uri="{FF2B5EF4-FFF2-40B4-BE49-F238E27FC236}">
                <a16:creationId xmlns:a16="http://schemas.microsoft.com/office/drawing/2014/main" id="{FA5A2ABC-B44A-75ED-9FBC-3F496693F8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586" y="1492413"/>
            <a:ext cx="4301270" cy="531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74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D7B55D03-4089-4876-A562-B9B80F50F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14</a:t>
            </a:fld>
            <a:endParaRPr lang="da-DK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EA0D883F-F3A1-B503-7C58-C4294488A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104" y="1207424"/>
            <a:ext cx="9090889" cy="480067"/>
          </a:xfrm>
        </p:spPr>
        <p:txBody>
          <a:bodyPr/>
          <a:lstStyle/>
          <a:p>
            <a:r>
              <a:rPr lang="da-DK" dirty="0"/>
              <a:t>Dieselmotorens konstruktion 2-takt Cylinderramme og Topdæksel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61978364-5C5B-C598-6467-14FA5410BCC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10-02-2026</a:t>
            </a:fld>
            <a:endParaRPr lang="da-DK" dirty="0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A0C92179-4E6F-FD6A-3516-3B6F32E6C1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9B9650D5-92F0-74A2-5AD7-86B5CDB75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88840"/>
            <a:ext cx="3928742" cy="4536504"/>
          </a:xfrm>
          <a:prstGeom prst="rect">
            <a:avLst/>
          </a:prstGeom>
        </p:spPr>
      </p:pic>
      <p:pic>
        <p:nvPicPr>
          <p:cNvPr id="10" name="Billede 9">
            <a:extLst>
              <a:ext uri="{FF2B5EF4-FFF2-40B4-BE49-F238E27FC236}">
                <a16:creationId xmlns:a16="http://schemas.microsoft.com/office/drawing/2014/main" id="{47C1E8EC-E452-F6F9-5943-EA1AA04F4F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2204" y="2789584"/>
            <a:ext cx="5877073" cy="3663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2349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1E92E-118E-D8F1-888C-E2D8AA2AF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B8EFE8DE-A8B8-7C27-EC4A-760D55E29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15</a:t>
            </a:fld>
            <a:endParaRPr lang="da-DK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561D059F-30E5-DE37-AB4D-82CBD68CF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528" y="343911"/>
            <a:ext cx="9090889" cy="480067"/>
          </a:xfrm>
        </p:spPr>
        <p:txBody>
          <a:bodyPr/>
          <a:lstStyle/>
          <a:p>
            <a:r>
              <a:rPr lang="da-DK" dirty="0"/>
              <a:t>Dieselmotorens konstruktion 2-takt Øvrige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9A779FF7-DD5A-320F-12B1-4218E45D7C0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10-02-2026</a:t>
            </a:fld>
            <a:endParaRPr lang="da-DK" dirty="0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FF88B407-B738-13A8-034F-BBE675BD53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FBE45B87-6183-9F14-3A2A-BFA4CC084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282" y="942418"/>
            <a:ext cx="6002170" cy="5910998"/>
          </a:xfrm>
          <a:prstGeom prst="rect">
            <a:avLst/>
          </a:prstGeom>
        </p:spPr>
      </p:pic>
      <p:pic>
        <p:nvPicPr>
          <p:cNvPr id="10" name="Billede 9">
            <a:extLst>
              <a:ext uri="{FF2B5EF4-FFF2-40B4-BE49-F238E27FC236}">
                <a16:creationId xmlns:a16="http://schemas.microsoft.com/office/drawing/2014/main" id="{DC952CC3-CF7C-CB88-0142-F61CAAA49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110" y="1340768"/>
            <a:ext cx="3151319" cy="34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8529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656E9CEB-A7FE-050C-A42A-C0FFC4777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16</a:t>
            </a:fld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F19E3D5-2530-5144-7086-A1348D7A203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9891" y="2228840"/>
            <a:ext cx="6671341" cy="3960529"/>
          </a:xfrm>
        </p:spPr>
        <p:txBody>
          <a:bodyPr/>
          <a:lstStyle/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r>
              <a:rPr lang="da-DK" dirty="0"/>
              <a:t>Opgave 2-takts motorens konstruktion og funktion (ligger i Teams), brug bogen: Noget om dieselmotorer samt internettet til hjælp.</a:t>
            </a:r>
          </a:p>
          <a:p>
            <a:endParaRPr lang="da-DK" dirty="0"/>
          </a:p>
          <a:p>
            <a:r>
              <a:rPr lang="da-DK" dirty="0"/>
              <a:t>Vi gennemgår opgaven sammen på tavlen efterfølgende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EC45632A-289F-2B62-83F7-0C9A57679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Dieselmotorens konstruktion 2-takt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D1E08831-D6B3-9DCE-4DA4-D6DAAB7FADE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10-02-2026</a:t>
            </a:fld>
            <a:endParaRPr lang="da-DK" dirty="0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41F2C1CC-7291-5983-A908-4330198039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E6CA203D-4BE9-0F82-1C27-B63B4F5D816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185248" y="2348880"/>
            <a:ext cx="2456939" cy="3328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5478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2C7DB-05EA-5F13-2220-32194926D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764A32EA-D68B-4438-5D9A-EF8E221BD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17</a:t>
            </a:fld>
            <a:endParaRPr lang="da-DK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415C072D-C1DE-E607-0579-386F30938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891" y="1293656"/>
            <a:ext cx="9090889" cy="480067"/>
          </a:xfrm>
        </p:spPr>
        <p:txBody>
          <a:bodyPr/>
          <a:lstStyle/>
          <a:p>
            <a:r>
              <a:rPr lang="da-DK" dirty="0"/>
              <a:t>Dieselmotorens konstruktion 4-takt Stativet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1561B237-A830-B197-35EB-E5EC39CBB1B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10-02-2026</a:t>
            </a:fld>
            <a:endParaRPr lang="da-DK" dirty="0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86861C4F-F385-DD99-67B2-2C83680DC7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9" name="Billede 8">
            <a:extLst>
              <a:ext uri="{FF2B5EF4-FFF2-40B4-BE49-F238E27FC236}">
                <a16:creationId xmlns:a16="http://schemas.microsoft.com/office/drawing/2014/main" id="{DB6933F7-122C-1EA5-7433-45BF219B8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856" y="1925098"/>
            <a:ext cx="6393160" cy="3628550"/>
          </a:xfrm>
          <a:prstGeom prst="rect">
            <a:avLst/>
          </a:prstGeom>
        </p:spPr>
      </p:pic>
      <p:sp>
        <p:nvSpPr>
          <p:cNvPr id="10" name="Tekstfelt 9">
            <a:extLst>
              <a:ext uri="{FF2B5EF4-FFF2-40B4-BE49-F238E27FC236}">
                <a16:creationId xmlns:a16="http://schemas.microsoft.com/office/drawing/2014/main" id="{36825A49-73CD-65D7-C627-9BE4872D8507}"/>
              </a:ext>
            </a:extLst>
          </p:cNvPr>
          <p:cNvSpPr txBox="1"/>
          <p:nvPr/>
        </p:nvSpPr>
        <p:spPr>
          <a:xfrm>
            <a:off x="5889104" y="4384845"/>
            <a:ext cx="36501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dirty="0"/>
              <a:t>Bemærk at cylinderstativet her er indbygget</a:t>
            </a:r>
          </a:p>
        </p:txBody>
      </p:sp>
    </p:spTree>
    <p:extLst>
      <p:ext uri="{BB962C8B-B14F-4D97-AF65-F5344CB8AC3E}">
        <p14:creationId xmlns:p14="http://schemas.microsoft.com/office/powerpoint/2010/main" val="14448111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F2AB6-478E-943C-A47C-E21C8B94D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0C75D9EE-7D28-038B-4D20-30D2538DA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18</a:t>
            </a:fld>
            <a:endParaRPr lang="da-DK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58BBB048-BDB3-89A3-C2F6-EF4AFE4F9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891" y="1293656"/>
            <a:ext cx="9090889" cy="480067"/>
          </a:xfrm>
        </p:spPr>
        <p:txBody>
          <a:bodyPr/>
          <a:lstStyle/>
          <a:p>
            <a:r>
              <a:rPr lang="da-DK" dirty="0"/>
              <a:t>Dieselmotorens konstruktion 4-takt Cylinderdæksel og vippetøj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876C4769-A523-F79B-D1C5-68A5D184C73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10-02-2026</a:t>
            </a:fld>
            <a:endParaRPr lang="da-DK" dirty="0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DE1E9682-C36B-1A7F-392E-CA8E58A7C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3CB15183-70B2-A7C5-0394-EC4D8B23CA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891" y="1847453"/>
            <a:ext cx="4392488" cy="4433539"/>
          </a:xfrm>
          <a:prstGeom prst="rect">
            <a:avLst/>
          </a:prstGeom>
        </p:spPr>
      </p:pic>
      <p:pic>
        <p:nvPicPr>
          <p:cNvPr id="11" name="Billede 10">
            <a:extLst>
              <a:ext uri="{FF2B5EF4-FFF2-40B4-BE49-F238E27FC236}">
                <a16:creationId xmlns:a16="http://schemas.microsoft.com/office/drawing/2014/main" id="{854EE016-7CFE-9DAF-3FE8-D54909D0A8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1738" y="2281760"/>
            <a:ext cx="4518073" cy="3590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0386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B5A1F-3A50-CE50-4DDA-7673B109A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05876D06-FE57-F50A-D47A-379BDABFD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19</a:t>
            </a:fld>
            <a:endParaRPr lang="da-DK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75220E08-9087-4AF5-4296-FED097D6B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555" y="813589"/>
            <a:ext cx="9090889" cy="480067"/>
          </a:xfrm>
        </p:spPr>
        <p:txBody>
          <a:bodyPr/>
          <a:lstStyle/>
          <a:p>
            <a:r>
              <a:rPr lang="da-DK" dirty="0"/>
              <a:t>Dieselmotorens konstruktion 4-takt Snit med vippetøj og stødstænger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0605C48B-0294-32F5-304D-C2F348E18C3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10-02-2026</a:t>
            </a:fld>
            <a:endParaRPr lang="da-DK" dirty="0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8EEFB9CC-4DEA-6160-0468-8960F1B6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8210D5E5-5088-E2B0-46D4-9AF2899C3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9054" y="1610092"/>
            <a:ext cx="5436001" cy="5230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979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41C0EE2D-77AB-A7F6-B195-BC52071C9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20</a:t>
            </a:fld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4552AA4-D94B-BD78-8EBA-53ACAA635A0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da-DK" dirty="0"/>
          </a:p>
          <a:p>
            <a:endParaRPr lang="da-DK" dirty="0"/>
          </a:p>
          <a:p>
            <a:r>
              <a:rPr lang="da-DK" dirty="0"/>
              <a:t>Opgave: Spørgsmål til filmen: How diesel </a:t>
            </a:r>
            <a:r>
              <a:rPr lang="da-DK" dirty="0" err="1"/>
              <a:t>engines</a:t>
            </a:r>
            <a:r>
              <a:rPr lang="da-DK" dirty="0"/>
              <a:t> </a:t>
            </a:r>
            <a:r>
              <a:rPr lang="da-DK" dirty="0" err="1"/>
              <a:t>work</a:t>
            </a:r>
            <a:r>
              <a:rPr lang="da-DK" dirty="0"/>
              <a:t> (ligger i Teams) </a:t>
            </a:r>
          </a:p>
          <a:p>
            <a:endParaRPr lang="da-DK" dirty="0"/>
          </a:p>
          <a:p>
            <a:r>
              <a:rPr lang="da-DK" dirty="0"/>
              <a:t>brug bogen: Noget om dieselmotorer samt internettet til hjælp.</a:t>
            </a:r>
          </a:p>
          <a:p>
            <a:endParaRPr lang="da-DK" dirty="0"/>
          </a:p>
          <a:p>
            <a:endParaRPr lang="da-DK" dirty="0"/>
          </a:p>
          <a:p>
            <a:r>
              <a:rPr lang="da-DK" dirty="0"/>
              <a:t>Vi gennemgår opgaven sammen på tavlen efterfølgende</a:t>
            </a:r>
          </a:p>
          <a:p>
            <a:endParaRPr lang="da-DK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88574A43-0BD1-3757-749C-FF05C328B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4-takts motoren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E3C82CC1-D7C0-8949-FAE3-66390F072A7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10-02-2026</a:t>
            </a:fld>
            <a:endParaRPr lang="da-DK" dirty="0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BC869A2D-9E36-FCF6-D645-718F13555B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6957728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7EFA0D25-B74E-7C20-602D-E4BC54EB7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21</a:t>
            </a:fld>
            <a:endParaRPr lang="da-DK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33E81711-8C64-166F-1F19-1A1839020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37" y="866699"/>
            <a:ext cx="9090889" cy="480067"/>
          </a:xfrm>
        </p:spPr>
        <p:txBody>
          <a:bodyPr/>
          <a:lstStyle/>
          <a:p>
            <a:r>
              <a:rPr lang="da-DK" dirty="0"/>
              <a:t>Klassifikation af gas (SG og Dual-</a:t>
            </a:r>
            <a:r>
              <a:rPr lang="da-DK" dirty="0" err="1"/>
              <a:t>fuel</a:t>
            </a:r>
            <a:r>
              <a:rPr lang="da-DK" dirty="0"/>
              <a:t> (DF motorer))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F2CEB34A-BC17-4970-65A1-7B90FC2A94E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10-02-2026</a:t>
            </a:fld>
            <a:endParaRPr lang="da-DK" dirty="0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F65D26F0-778B-B95F-72C0-23EB750DFA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7083CF4C-C36D-F191-F7C6-AE394E89BE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0752" y="1364172"/>
            <a:ext cx="5040560" cy="5461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2747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394730AD-5A68-7E5C-5112-136F2A160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22</a:t>
            </a:fld>
            <a:endParaRPr lang="da-DK" dirty="0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EE7BDF2A-761E-4940-A6E6-94FB9D74B5B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10-02-2026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4732C150-8B25-DF70-C9D5-C0C3CB8CDE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C2A44997-14F0-E885-951C-8CAD8A12CF52}"/>
              </a:ext>
            </a:extLst>
          </p:cNvPr>
          <p:cNvSpPr txBox="1"/>
          <p:nvPr/>
        </p:nvSpPr>
        <p:spPr>
          <a:xfrm>
            <a:off x="436019" y="5996840"/>
            <a:ext cx="78408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Link(7:55): </a:t>
            </a:r>
            <a:r>
              <a:rPr lang="da-DK" dirty="0">
                <a:hlinkClick r:id="rId3"/>
              </a:rPr>
              <a:t>Dual </a:t>
            </a:r>
            <a:r>
              <a:rPr lang="da-DK" dirty="0" err="1">
                <a:hlinkClick r:id="rId3"/>
              </a:rPr>
              <a:t>Fuel</a:t>
            </a:r>
            <a:r>
              <a:rPr lang="da-DK" dirty="0">
                <a:hlinkClick r:id="rId3"/>
              </a:rPr>
              <a:t> Engine, Gas Diesel Engine, </a:t>
            </a:r>
            <a:r>
              <a:rPr lang="da-DK" dirty="0" err="1">
                <a:hlinkClick r:id="rId3"/>
              </a:rPr>
              <a:t>Conventional</a:t>
            </a:r>
            <a:r>
              <a:rPr lang="da-DK" dirty="0">
                <a:hlinkClick r:id="rId3"/>
              </a:rPr>
              <a:t> Diesel Engine | </a:t>
            </a:r>
            <a:r>
              <a:rPr lang="da-DK" dirty="0" err="1">
                <a:hlinkClick r:id="rId3"/>
              </a:rPr>
              <a:t>Working</a:t>
            </a:r>
            <a:r>
              <a:rPr lang="da-DK" dirty="0">
                <a:hlinkClick r:id="rId3"/>
              </a:rPr>
              <a:t> </a:t>
            </a:r>
            <a:r>
              <a:rPr lang="da-DK" dirty="0" err="1">
                <a:hlinkClick r:id="rId3"/>
              </a:rPr>
              <a:t>Principle</a:t>
            </a:r>
            <a:r>
              <a:rPr lang="da-DK" dirty="0">
                <a:hlinkClick r:id="rId3"/>
              </a:rPr>
              <a:t> (youtube.com)</a:t>
            </a:r>
            <a:endParaRPr lang="da-DK" dirty="0"/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D9461250-35CC-625F-0351-20E865D89969}"/>
              </a:ext>
            </a:extLst>
          </p:cNvPr>
          <p:cNvSpPr txBox="1"/>
          <p:nvPr/>
        </p:nvSpPr>
        <p:spPr>
          <a:xfrm>
            <a:off x="344488" y="349206"/>
            <a:ext cx="291618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Dual </a:t>
            </a:r>
            <a:r>
              <a:rPr lang="da-DK" dirty="0" err="1"/>
              <a:t>fuel</a:t>
            </a:r>
            <a:r>
              <a:rPr lang="da-DK" dirty="0"/>
              <a:t> 4-stroke </a:t>
            </a:r>
            <a:r>
              <a:rPr lang="da-DK" dirty="0" err="1"/>
              <a:t>engine</a:t>
            </a:r>
            <a:endParaRPr lang="da-DK" dirty="0"/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E706C3D8-40D2-8E6A-B06B-EEFC19C3F6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592" y="891721"/>
            <a:ext cx="6710619" cy="4978101"/>
          </a:xfrm>
          <a:prstGeom prst="rect">
            <a:avLst/>
          </a:prstGeom>
        </p:spPr>
      </p:pic>
      <p:sp>
        <p:nvSpPr>
          <p:cNvPr id="9" name="Tekstfelt 8">
            <a:extLst>
              <a:ext uri="{FF2B5EF4-FFF2-40B4-BE49-F238E27FC236}">
                <a16:creationId xmlns:a16="http://schemas.microsoft.com/office/drawing/2014/main" id="{4352E33C-C73F-B2F2-5412-4A2EF2292FF4}"/>
              </a:ext>
            </a:extLst>
          </p:cNvPr>
          <p:cNvSpPr txBox="1"/>
          <p:nvPr/>
        </p:nvSpPr>
        <p:spPr>
          <a:xfrm>
            <a:off x="8162335" y="5085184"/>
            <a:ext cx="13532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000" dirty="0"/>
              <a:t>Gas: 300 bar</a:t>
            </a:r>
          </a:p>
          <a:p>
            <a:r>
              <a:rPr lang="da-DK" sz="1000" dirty="0" err="1"/>
              <a:t>Fuel</a:t>
            </a:r>
            <a:r>
              <a:rPr lang="da-DK" sz="1000" dirty="0"/>
              <a:t>: 1000 til 2000 bar</a:t>
            </a:r>
          </a:p>
        </p:txBody>
      </p:sp>
      <p:sp>
        <p:nvSpPr>
          <p:cNvPr id="10" name="Tekstfelt 9">
            <a:extLst>
              <a:ext uri="{FF2B5EF4-FFF2-40B4-BE49-F238E27FC236}">
                <a16:creationId xmlns:a16="http://schemas.microsoft.com/office/drawing/2014/main" id="{4A1D5033-0BC7-C2A7-7E0B-B80416E9310C}"/>
              </a:ext>
            </a:extLst>
          </p:cNvPr>
          <p:cNvSpPr txBox="1"/>
          <p:nvPr/>
        </p:nvSpPr>
        <p:spPr>
          <a:xfrm>
            <a:off x="8162335" y="3429000"/>
            <a:ext cx="12330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000" dirty="0"/>
              <a:t>Gas: 5 bar</a:t>
            </a:r>
          </a:p>
          <a:p>
            <a:r>
              <a:rPr lang="da-DK" sz="1000" dirty="0" err="1"/>
              <a:t>Fuel</a:t>
            </a:r>
            <a:r>
              <a:rPr lang="da-DK" sz="1000" dirty="0"/>
              <a:t>: 1000-2000 bar</a:t>
            </a:r>
          </a:p>
        </p:txBody>
      </p:sp>
    </p:spTree>
    <p:extLst>
      <p:ext uri="{BB962C8B-B14F-4D97-AF65-F5344CB8AC3E}">
        <p14:creationId xmlns:p14="http://schemas.microsoft.com/office/powerpoint/2010/main" val="20618607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DEE7140B-631A-F56D-BE07-E8875C9EE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23</a:t>
            </a:fld>
            <a:endParaRPr lang="da-DK" dirty="0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3432363C-F2E3-CF78-BA9B-C36BDEBF173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10-02-2026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BE9FC8AE-A71D-B2A4-2FCA-A8A4B5A220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70774BA2-EDF0-BB5E-D5C9-94B359BD4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5" y="1052736"/>
            <a:ext cx="7562850" cy="5143500"/>
          </a:xfrm>
          <a:prstGeom prst="rect">
            <a:avLst/>
          </a:prstGeom>
        </p:spPr>
      </p:pic>
      <p:sp>
        <p:nvSpPr>
          <p:cNvPr id="7" name="Tekstfelt 6">
            <a:extLst>
              <a:ext uri="{FF2B5EF4-FFF2-40B4-BE49-F238E27FC236}">
                <a16:creationId xmlns:a16="http://schemas.microsoft.com/office/drawing/2014/main" id="{DBABF4BE-A82E-6213-1ACA-C25BDF223ECA}"/>
              </a:ext>
            </a:extLst>
          </p:cNvPr>
          <p:cNvSpPr txBox="1"/>
          <p:nvPr/>
        </p:nvSpPr>
        <p:spPr>
          <a:xfrm>
            <a:off x="3204316" y="206349"/>
            <a:ext cx="349736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600" dirty="0" err="1"/>
              <a:t>Gasoline</a:t>
            </a:r>
            <a:r>
              <a:rPr lang="da-DK" sz="1600" dirty="0"/>
              <a:t> and SG </a:t>
            </a:r>
            <a:r>
              <a:rPr lang="da-DK" sz="1600" dirty="0" err="1"/>
              <a:t>engines</a:t>
            </a:r>
            <a:r>
              <a:rPr lang="da-DK" sz="1600" dirty="0"/>
              <a:t>. </a:t>
            </a:r>
          </a:p>
          <a:p>
            <a:r>
              <a:rPr lang="da-DK" sz="1600" dirty="0"/>
              <a:t>A mixture of </a:t>
            </a:r>
            <a:r>
              <a:rPr lang="da-DK" sz="1600" dirty="0" err="1"/>
              <a:t>oil</a:t>
            </a:r>
            <a:r>
              <a:rPr lang="da-DK" sz="1600" dirty="0"/>
              <a:t> and gas is </a:t>
            </a:r>
            <a:r>
              <a:rPr lang="da-DK" sz="1600" dirty="0" err="1"/>
              <a:t>compressed</a:t>
            </a:r>
            <a:r>
              <a:rPr lang="da-DK" sz="1600" dirty="0"/>
              <a:t>. </a:t>
            </a:r>
          </a:p>
          <a:p>
            <a:r>
              <a:rPr lang="da-DK" sz="1600" dirty="0"/>
              <a:t>Spark </a:t>
            </a:r>
            <a:r>
              <a:rPr lang="da-DK" sz="1600" dirty="0" err="1"/>
              <a:t>plug</a:t>
            </a:r>
            <a:r>
              <a:rPr lang="da-DK" sz="1600" dirty="0"/>
              <a:t> </a:t>
            </a:r>
            <a:r>
              <a:rPr lang="da-DK" sz="1600" dirty="0" err="1"/>
              <a:t>ignition</a:t>
            </a:r>
            <a:r>
              <a:rPr lang="da-DK" sz="1600" dirty="0"/>
              <a:t>.</a:t>
            </a:r>
          </a:p>
          <a:p>
            <a:endParaRPr lang="da-DK" sz="1600" dirty="0"/>
          </a:p>
        </p:txBody>
      </p:sp>
    </p:spTree>
    <p:extLst>
      <p:ext uri="{BB962C8B-B14F-4D97-AF65-F5344CB8AC3E}">
        <p14:creationId xmlns:p14="http://schemas.microsoft.com/office/powerpoint/2010/main" val="1784415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48C35A91-4E47-0AE9-BEAE-DC75DB0B8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24</a:t>
            </a:fld>
            <a:endParaRPr lang="da-DK" dirty="0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E6DCCD7A-156B-EDE5-B26F-97A7B147054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10-02-2026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465C6DAB-1F1D-C696-9F5D-EF5D478AE9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8B60EC96-98AE-1746-40A2-1BCDB636B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308" y="1052736"/>
            <a:ext cx="7323495" cy="4980232"/>
          </a:xfrm>
          <a:prstGeom prst="rect">
            <a:avLst/>
          </a:prstGeom>
        </p:spPr>
      </p:pic>
      <p:sp>
        <p:nvSpPr>
          <p:cNvPr id="7" name="Tekstfelt 6">
            <a:extLst>
              <a:ext uri="{FF2B5EF4-FFF2-40B4-BE49-F238E27FC236}">
                <a16:creationId xmlns:a16="http://schemas.microsoft.com/office/drawing/2014/main" id="{79537929-3BC8-3C11-5E14-ECEE543E4274}"/>
              </a:ext>
            </a:extLst>
          </p:cNvPr>
          <p:cNvSpPr txBox="1"/>
          <p:nvPr/>
        </p:nvSpPr>
        <p:spPr>
          <a:xfrm>
            <a:off x="2966430" y="186023"/>
            <a:ext cx="3973139" cy="1400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600" dirty="0"/>
              <a:t>DF </a:t>
            </a:r>
            <a:r>
              <a:rPr lang="da-DK" sz="1600" dirty="0" err="1"/>
              <a:t>engines</a:t>
            </a:r>
            <a:r>
              <a:rPr lang="da-DK" sz="1600" dirty="0"/>
              <a:t>.</a:t>
            </a:r>
          </a:p>
          <a:p>
            <a:r>
              <a:rPr lang="da-DK" sz="1600" dirty="0"/>
              <a:t>A mixture of air and gas is </a:t>
            </a:r>
            <a:r>
              <a:rPr lang="da-DK" sz="1600" dirty="0" err="1"/>
              <a:t>compressed</a:t>
            </a:r>
            <a:r>
              <a:rPr lang="da-DK" sz="1600" dirty="0"/>
              <a:t>.</a:t>
            </a:r>
          </a:p>
          <a:p>
            <a:r>
              <a:rPr lang="da-DK" sz="1600" dirty="0"/>
              <a:t>Pilot </a:t>
            </a:r>
            <a:r>
              <a:rPr lang="da-DK" sz="1600" dirty="0" err="1"/>
              <a:t>fuel</a:t>
            </a:r>
            <a:r>
              <a:rPr lang="da-DK" sz="1600" dirty="0"/>
              <a:t> </a:t>
            </a:r>
            <a:r>
              <a:rPr lang="da-DK" sz="1600" dirty="0" err="1"/>
              <a:t>ignites</a:t>
            </a:r>
            <a:r>
              <a:rPr lang="da-DK" sz="1600" dirty="0"/>
              <a:t> by </a:t>
            </a:r>
            <a:r>
              <a:rPr lang="da-DK" sz="1600" dirty="0" err="1"/>
              <a:t>compression</a:t>
            </a:r>
            <a:r>
              <a:rPr lang="da-DK" sz="1600" dirty="0"/>
              <a:t> </a:t>
            </a:r>
            <a:r>
              <a:rPr lang="da-DK" sz="1600" dirty="0" err="1"/>
              <a:t>temperature</a:t>
            </a:r>
            <a:endParaRPr lang="da-DK" sz="1600" dirty="0"/>
          </a:p>
          <a:p>
            <a:r>
              <a:rPr lang="da-DK" sz="1600" dirty="0"/>
              <a:t>and </a:t>
            </a:r>
            <a:r>
              <a:rPr lang="da-DK" sz="1600" dirty="0" err="1"/>
              <a:t>immediately</a:t>
            </a:r>
            <a:r>
              <a:rPr lang="da-DK" sz="1600" dirty="0"/>
              <a:t> </a:t>
            </a:r>
            <a:r>
              <a:rPr lang="da-DK" sz="1600" dirty="0" err="1"/>
              <a:t>ignites</a:t>
            </a:r>
            <a:r>
              <a:rPr lang="da-DK" sz="1600" dirty="0"/>
              <a:t> the </a:t>
            </a:r>
            <a:r>
              <a:rPr lang="da-DK" sz="1600" dirty="0" err="1"/>
              <a:t>gaseous</a:t>
            </a:r>
            <a:r>
              <a:rPr lang="da-DK" sz="1600" dirty="0"/>
              <a:t> </a:t>
            </a:r>
            <a:r>
              <a:rPr lang="da-DK" sz="1600" dirty="0" err="1"/>
              <a:t>fuel</a:t>
            </a:r>
            <a:r>
              <a:rPr lang="da-DK" sz="1600" dirty="0"/>
              <a:t>.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2375279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8BCCD2D2-2A6B-3EA0-A0C6-D135ABE47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25</a:t>
            </a:fld>
            <a:endParaRPr lang="da-DK" dirty="0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83040EF9-C0A6-153F-D0CF-079CF9C4CD1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10-02-2026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6480AB14-F86C-B290-3D04-E14FEFD8A6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C6B2323A-3983-22C0-6502-D26652C4C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041" y="1052736"/>
            <a:ext cx="7289507" cy="4942362"/>
          </a:xfrm>
          <a:prstGeom prst="rect">
            <a:avLst/>
          </a:prstGeom>
        </p:spPr>
      </p:pic>
      <p:sp>
        <p:nvSpPr>
          <p:cNvPr id="7" name="Tekstfelt 6">
            <a:extLst>
              <a:ext uri="{FF2B5EF4-FFF2-40B4-BE49-F238E27FC236}">
                <a16:creationId xmlns:a16="http://schemas.microsoft.com/office/drawing/2014/main" id="{C4E3E52A-D60D-BEE0-C67C-BB42569E6351}"/>
              </a:ext>
            </a:extLst>
          </p:cNvPr>
          <p:cNvSpPr txBox="1"/>
          <p:nvPr/>
        </p:nvSpPr>
        <p:spPr>
          <a:xfrm>
            <a:off x="3609940" y="199840"/>
            <a:ext cx="268612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600" dirty="0"/>
              <a:t>GD </a:t>
            </a:r>
            <a:r>
              <a:rPr lang="da-DK" sz="1600" dirty="0" err="1"/>
              <a:t>engines</a:t>
            </a:r>
            <a:r>
              <a:rPr lang="da-DK" sz="1600" dirty="0"/>
              <a:t>.</a:t>
            </a:r>
          </a:p>
          <a:p>
            <a:r>
              <a:rPr lang="da-DK" sz="1600" dirty="0"/>
              <a:t>High </a:t>
            </a:r>
            <a:r>
              <a:rPr lang="da-DK" sz="1600" dirty="0" err="1"/>
              <a:t>pressure</a:t>
            </a:r>
            <a:r>
              <a:rPr lang="da-DK" sz="1600" dirty="0"/>
              <a:t> gas is </a:t>
            </a:r>
            <a:r>
              <a:rPr lang="da-DK" sz="1600" dirty="0" err="1"/>
              <a:t>injected</a:t>
            </a:r>
            <a:r>
              <a:rPr lang="da-DK" sz="1600" dirty="0"/>
              <a:t>, </a:t>
            </a:r>
          </a:p>
          <a:p>
            <a:r>
              <a:rPr lang="da-DK" sz="1600" dirty="0" err="1"/>
              <a:t>immediately</a:t>
            </a:r>
            <a:r>
              <a:rPr lang="da-DK" sz="1600" dirty="0"/>
              <a:t> </a:t>
            </a:r>
            <a:r>
              <a:rPr lang="da-DK" sz="1600" dirty="0" err="1"/>
              <a:t>followed</a:t>
            </a:r>
            <a:r>
              <a:rPr lang="da-DK" sz="1600" dirty="0"/>
              <a:t> by high </a:t>
            </a:r>
          </a:p>
          <a:p>
            <a:r>
              <a:rPr lang="da-DK" sz="1600" dirty="0" err="1"/>
              <a:t>pressure</a:t>
            </a:r>
            <a:r>
              <a:rPr lang="da-DK" sz="1600" dirty="0"/>
              <a:t> </a:t>
            </a:r>
            <a:r>
              <a:rPr lang="da-DK" sz="1600" dirty="0" err="1"/>
              <a:t>fuel</a:t>
            </a:r>
            <a:r>
              <a:rPr lang="da-DK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11478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00BCAB45-3E4F-652B-59E2-65FDAB55E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26</a:t>
            </a:fld>
            <a:endParaRPr lang="da-DK" dirty="0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34D0FC5A-9A95-53A6-5C60-8B7D77EBC99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10-02-2026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134068EF-A328-3779-E43B-E53C260B56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776DFA7A-0665-BE67-F774-92AC377A7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04" y="179816"/>
            <a:ext cx="8466776" cy="614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1611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6D967-3A08-85EF-34B7-8D855E18C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E602580B-DFE1-1440-FCF4-273C568B8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27</a:t>
            </a:fld>
            <a:endParaRPr lang="da-DK" dirty="0"/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65D80609-0619-CB6A-06DC-10E1906670A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8645" y="1173907"/>
            <a:ext cx="9068709" cy="4536504"/>
          </a:xfrm>
        </p:spPr>
        <p:txBody>
          <a:bodyPr/>
          <a:lstStyle/>
          <a:p>
            <a:r>
              <a:rPr lang="da-DK" dirty="0"/>
              <a:t>V-p diagram (Indsugnings og udstødningsslag ikke vist)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/>
              <a:t>1-2 Indsugningsventil lukket, </a:t>
            </a:r>
            <a:r>
              <a:rPr lang="da-DK" b="1" dirty="0"/>
              <a:t>kompressionsslag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/>
              <a:t>2-3 TDC ved 2, stemplet står stille mens tryk pga. </a:t>
            </a:r>
            <a:r>
              <a:rPr lang="da-DK" b="1" dirty="0"/>
              <a:t>forbrænding</a:t>
            </a:r>
            <a:r>
              <a:rPr lang="da-DK" dirty="0"/>
              <a:t> opbygges (i virkeligheden sker indsprøjtning lidt før TDC)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/>
              <a:t>3-4 </a:t>
            </a:r>
            <a:r>
              <a:rPr lang="da-DK" b="1" dirty="0"/>
              <a:t>Fortsat forbrænding </a:t>
            </a:r>
            <a:r>
              <a:rPr lang="da-DK" dirty="0"/>
              <a:t>mens volumenudvidelse holder trykket konstant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/>
              <a:t>4-5 </a:t>
            </a:r>
            <a:r>
              <a:rPr lang="da-DK" b="1" dirty="0"/>
              <a:t>Arbejdsslag</a:t>
            </a:r>
            <a:r>
              <a:rPr lang="da-DK" dirty="0"/>
              <a:t> (3-4 er dybest set en del af dette) BDC ved 5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/>
              <a:t>5-1 Udstødningsventil åbnes (bemærk at udstødnings og indsugningsslag ikke er vist)</a:t>
            </a:r>
          </a:p>
          <a:p>
            <a:pPr marL="0" lvl="1" indent="0">
              <a:buNone/>
            </a:pPr>
            <a:endParaRPr lang="da-DK" sz="1800" b="1" dirty="0">
              <a:solidFill>
                <a:srgbClr val="FF0000"/>
              </a:solidFill>
            </a:endParaRPr>
          </a:p>
          <a:p>
            <a:pPr marL="0" lvl="1" indent="534988">
              <a:buNone/>
            </a:pPr>
            <a:endParaRPr lang="da-DK" dirty="0">
              <a:solidFill>
                <a:srgbClr val="FF0000"/>
              </a:solidFill>
            </a:endParaRPr>
          </a:p>
          <a:p>
            <a:pPr marL="0" lvl="1" indent="0">
              <a:buNone/>
            </a:pPr>
            <a:endParaRPr lang="da-DK" b="1" dirty="0"/>
          </a:p>
          <a:p>
            <a:pPr marL="0" lvl="1" indent="0">
              <a:buNone/>
            </a:pPr>
            <a:endParaRPr lang="da-DK" sz="1800" b="1" dirty="0"/>
          </a:p>
          <a:p>
            <a:pPr marL="0" lvl="1" indent="0">
              <a:buNone/>
            </a:pPr>
            <a:endParaRPr lang="da-DK" dirty="0"/>
          </a:p>
          <a:p>
            <a:pPr marL="879333" lvl="1" indent="-342900">
              <a:buFont typeface="Arial" panose="020B0604020202020204" pitchFamily="34" charset="0"/>
              <a:buChar char="•"/>
            </a:pPr>
            <a:endParaRPr lang="da-DK" dirty="0"/>
          </a:p>
          <a:p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A71617D5-89E3-8D76-61DE-4F317DF7D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526" y="693840"/>
            <a:ext cx="9090889" cy="480067"/>
          </a:xfrm>
        </p:spPr>
        <p:txBody>
          <a:bodyPr/>
          <a:lstStyle/>
          <a:p>
            <a:r>
              <a:rPr lang="da-DK" dirty="0"/>
              <a:t>Dieselmotoren 4-takt kredsproces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F35244BB-E090-DB35-C32C-98564FA6A51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10-02-2026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B5DFB2E2-23BA-78FB-94B2-D6278C0AC4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2283B8AE-4061-8C60-6902-07445326AB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736" y="3119406"/>
            <a:ext cx="5003902" cy="3443169"/>
          </a:xfrm>
          <a:prstGeom prst="rect">
            <a:avLst/>
          </a:prstGeom>
        </p:spPr>
      </p:pic>
      <p:pic>
        <p:nvPicPr>
          <p:cNvPr id="6" name="Billede 5">
            <a:extLst>
              <a:ext uri="{FF2B5EF4-FFF2-40B4-BE49-F238E27FC236}">
                <a16:creationId xmlns:a16="http://schemas.microsoft.com/office/drawing/2014/main" id="{58187FCD-FB90-EA03-ADB0-CF40A6DB01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1192" y="3158854"/>
            <a:ext cx="2691565" cy="3153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0541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0CF7D-83D3-0732-E032-41B7BF0AC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D9FB397B-13E5-FEF9-AFA8-99641679A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28</a:t>
            </a:fld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ladsholder til indhold 8">
                <a:extLst>
                  <a:ext uri="{FF2B5EF4-FFF2-40B4-BE49-F238E27FC236}">
                    <a16:creationId xmlns:a16="http://schemas.microsoft.com/office/drawing/2014/main" id="{0461E09F-DF65-6DFA-FC51-E62DCA1CBEA5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29735" y="1073646"/>
                <a:ext cx="9068709" cy="4536504"/>
              </a:xfrm>
            </p:spPr>
            <p:txBody>
              <a:bodyPr/>
              <a:lstStyle/>
              <a:p>
                <a:r>
                  <a:rPr lang="da-DK" dirty="0"/>
                  <a:t>Arbejde i V-p diagram</a:t>
                </a:r>
              </a:p>
              <a:p>
                <a:pPr marL="879333" lvl="1" indent="-342900">
                  <a:buFont typeface="Arial" panose="020B0604020202020204" pitchFamily="34" charset="0"/>
                  <a:buChar char="•"/>
                </a:pPr>
                <a:r>
                  <a:rPr lang="da-DK" dirty="0"/>
                  <a:t>Arbejdet en termodynamisk maskine udfører kan findes som arealet af V-p diagrammet </a:t>
                </a:r>
              </a:p>
              <a:p>
                <a:pPr marL="879333" lvl="1" indent="-342900">
                  <a:buFont typeface="Arial" panose="020B0604020202020204" pitchFamily="34" charset="0"/>
                  <a:buChar char="•"/>
                </a:pPr>
                <a:r>
                  <a:rPr lang="da-DK" dirty="0"/>
                  <a:t>Der udføres kun et arbejde når der finder en volumenændring sted</a:t>
                </a:r>
              </a:p>
              <a:p>
                <a:pPr marL="879333" lvl="1" indent="-342900"/>
                <a:r>
                  <a:rPr lang="da-DK" dirty="0"/>
                  <a:t>Arbejdet kan findes som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nor/>
                      </m:rP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m:rPr>
                        <m:nor/>
                      </m:rPr>
                      <a:rPr lang="da-DK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</m:t>
                    </m:r>
                  </m:oMath>
                </a14:m>
                <a:endParaRPr lang="da-DK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879333" lvl="1" indent="-342900"/>
                <a:r>
                  <a:rPr lang="da-DK" dirty="0">
                    <a:solidFill>
                      <a:srgbClr val="006273"/>
                    </a:solidFill>
                  </a:rPr>
                  <a:t>Enheden er </a:t>
                </a:r>
                <a14:m>
                  <m:oMath xmlns:m="http://schemas.openxmlformats.org/officeDocument/2006/math">
                    <m:r>
                      <a:rPr lang="da-DK" b="0" i="1" smtClean="0">
                        <a:solidFill>
                          <a:srgbClr val="006273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da-DK" b="0" i="1" smtClean="0">
                        <a:solidFill>
                          <a:srgbClr val="006273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a:rPr lang="da-DK" b="0" i="1" smtClean="0">
                        <a:solidFill>
                          <a:srgbClr val="006273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da-DK" dirty="0">
                  <a:solidFill>
                    <a:srgbClr val="006273"/>
                  </a:solidFill>
                </a:endParaRPr>
              </a:p>
              <a:p>
                <a:pPr marL="879333" lvl="1" indent="-342900"/>
                <a:endParaRPr lang="da-DK" sz="1800" b="1" dirty="0"/>
              </a:p>
              <a:p>
                <a:pPr marL="0" lvl="1" indent="0">
                  <a:buNone/>
                </a:pPr>
                <a:r>
                  <a:rPr lang="da-DK" sz="1800" b="1" dirty="0"/>
                  <a:t>Arbejde generelt</a:t>
                </a:r>
              </a:p>
              <a:p>
                <a:pPr marL="879333" lvl="1" indent="-342900">
                  <a:buFont typeface="Arial" panose="020B0604020202020204" pitchFamily="34" charset="0"/>
                  <a:buChar char="•"/>
                </a:pPr>
                <a:r>
                  <a:rPr lang="da-DK" dirty="0">
                    <a:solidFill>
                      <a:srgbClr val="006273"/>
                    </a:solidFill>
                  </a:rPr>
                  <a:t>Er defineret som </a:t>
                </a:r>
                <a14:m>
                  <m:oMath xmlns:m="http://schemas.openxmlformats.org/officeDocument/2006/math">
                    <m:r>
                      <a:rPr lang="da-DK" b="0" i="1" smtClean="0">
                        <a:solidFill>
                          <a:srgbClr val="006273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da-DK" b="0" i="1" smtClean="0">
                        <a:solidFill>
                          <a:srgbClr val="00627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b="0" i="1" smtClean="0">
                        <a:solidFill>
                          <a:srgbClr val="006273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da-DK" b="0" i="1" smtClean="0">
                        <a:solidFill>
                          <a:srgbClr val="00627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a-DK" b="0" i="1" smtClean="0">
                        <a:solidFill>
                          <a:srgbClr val="00627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da-DK" b="0" i="1" smtClean="0">
                        <a:solidFill>
                          <a:srgbClr val="00627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da-DK" b="0" i="0" smtClean="0">
                        <a:solidFill>
                          <a:srgbClr val="00627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cos</m:t>
                    </m:r>
                    <m:r>
                      <a:rPr lang="da-DK" b="0" i="1" smtClean="0">
                        <a:solidFill>
                          <a:srgbClr val="00627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⁡(</m:t>
                    </m:r>
                    <m:r>
                      <a:rPr lang="da-DK" b="0" i="1" smtClean="0">
                        <a:solidFill>
                          <a:srgbClr val="00627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da-DK" b="0" i="1" smtClean="0">
                        <a:solidFill>
                          <a:srgbClr val="00627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da-DK" dirty="0">
                  <a:solidFill>
                    <a:srgbClr val="006273"/>
                  </a:solidFill>
                </a:endParaRPr>
              </a:p>
              <a:p>
                <a:pPr marL="879333" lvl="1" indent="-342900">
                  <a:buFont typeface="Arial" panose="020B0604020202020204" pitchFamily="34" charset="0"/>
                  <a:buChar char="•"/>
                </a:pPr>
                <a:r>
                  <a:rPr lang="da-DK" dirty="0">
                    <a:solidFill>
                      <a:srgbClr val="006273"/>
                    </a:solidFill>
                  </a:rPr>
                  <a:t>Enheden er </a:t>
                </a:r>
                <a14:m>
                  <m:oMath xmlns:m="http://schemas.openxmlformats.org/officeDocument/2006/math">
                    <m:r>
                      <a:rPr lang="da-DK" b="0" i="1" smtClean="0">
                        <a:solidFill>
                          <a:srgbClr val="006273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da-DK" b="0" i="1" smtClean="0">
                        <a:solidFill>
                          <a:srgbClr val="006273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a:rPr lang="da-DK" b="0" i="1" smtClean="0">
                        <a:solidFill>
                          <a:srgbClr val="006273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da-DK" dirty="0">
                  <a:solidFill>
                    <a:srgbClr val="006273"/>
                  </a:solidFill>
                </a:endParaRPr>
              </a:p>
              <a:p>
                <a:pPr marL="0" lvl="1" indent="534988">
                  <a:buNone/>
                </a:pPr>
                <a:endParaRPr lang="da-DK" dirty="0">
                  <a:solidFill>
                    <a:srgbClr val="FF0000"/>
                  </a:solidFill>
                </a:endParaRPr>
              </a:p>
              <a:p>
                <a:pPr marL="0" lvl="1" indent="534988">
                  <a:buNone/>
                </a:pPr>
                <a:endParaRPr lang="da-DK" dirty="0">
                  <a:solidFill>
                    <a:srgbClr val="FF0000"/>
                  </a:solidFill>
                </a:endParaRPr>
              </a:p>
              <a:p>
                <a:pPr marL="0" lvl="1" indent="0">
                  <a:buNone/>
                </a:pPr>
                <a:r>
                  <a:rPr lang="da-DK" sz="1800" b="1" dirty="0"/>
                  <a:t>Fra areal i V-p diagram til arbejde</a:t>
                </a:r>
              </a:p>
              <a:p>
                <a:pPr marL="879333" lvl="1" indent="-342900"/>
                <a:r>
                  <a:rPr lang="da-DK" dirty="0">
                    <a:solidFill>
                      <a:srgbClr val="006273"/>
                    </a:solidFill>
                  </a:rPr>
                  <a:t>Definition på tryk </a:t>
                </a:r>
                <a14:m>
                  <m:oMath xmlns:m="http://schemas.openxmlformats.org/officeDocument/2006/math">
                    <m:r>
                      <a:rPr lang="da-DK" b="0" i="1" smtClean="0">
                        <a:solidFill>
                          <a:srgbClr val="006273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da-DK" b="0" i="1" smtClean="0">
                        <a:solidFill>
                          <a:srgbClr val="00627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a-DK" b="0" i="1" smtClean="0">
                            <a:solidFill>
                              <a:srgbClr val="00627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solidFill>
                              <a:srgbClr val="006273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l-GR" b="0" i="1" smtClean="0">
                            <a:solidFill>
                              <a:srgbClr val="006273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a:rPr lang="da-DK" b="0" i="1" smtClean="0">
                        <a:solidFill>
                          <a:srgbClr val="006273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da-DK" b="0" i="1" smtClean="0">
                        <a:solidFill>
                          <a:srgbClr val="006273"/>
                        </a:solidFill>
                        <a:latin typeface="Cambria Math" panose="02040503050406030204" pitchFamily="18" charset="0"/>
                      </a:rPr>
                      <m:t>𝑃𝑎</m:t>
                    </m:r>
                    <m:r>
                      <a:rPr lang="da-DK" b="0" i="1" smtClean="0">
                        <a:solidFill>
                          <a:srgbClr val="006273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da-DK" dirty="0">
                    <a:solidFill>
                      <a:srgbClr val="006273"/>
                    </a:solidFill>
                  </a:rPr>
                  <a:t>,</a:t>
                </a:r>
                <a:r>
                  <a:rPr lang="da-DK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𝑏𝑎𝑟</m:t>
                        </m:r>
                      </m:e>
                    </m:d>
                  </m:oMath>
                </a14:m>
                <a:r>
                  <a:rPr lang="da-DK" dirty="0"/>
                  <a:t>, </a:t>
                </a:r>
                <a14:m>
                  <m:oMath xmlns:m="http://schemas.openxmlformats.org/officeDocument/2006/math">
                    <m:r>
                      <a:rPr lang="da-DK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𝑎𝑡𝑚</m:t>
                    </m:r>
                    <m:r>
                      <a:rPr lang="da-DK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da-DK" dirty="0"/>
                  <a:t>…</a:t>
                </a:r>
              </a:p>
              <a:p>
                <a:pPr marL="879333" lvl="1" indent="-342900"/>
                <a:r>
                  <a:rPr lang="da-DK" dirty="0">
                    <a:solidFill>
                      <a:srgbClr val="006273"/>
                    </a:solidFill>
                  </a:rPr>
                  <a:t>Isoler </a:t>
                </a:r>
                <a14:m>
                  <m:oMath xmlns:m="http://schemas.openxmlformats.org/officeDocument/2006/math">
                    <m:r>
                      <a:rPr lang="da-DK" b="0" i="1" smtClean="0">
                        <a:solidFill>
                          <a:srgbClr val="006273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da-DK" dirty="0">
                    <a:solidFill>
                      <a:srgbClr val="006273"/>
                    </a:solidFill>
                  </a:rPr>
                  <a:t> og gang med </a:t>
                </a:r>
                <a14:m>
                  <m:oMath xmlns:m="http://schemas.openxmlformats.org/officeDocument/2006/math">
                    <m:r>
                      <a:rPr lang="da-DK" b="0" i="1" smtClean="0">
                        <a:solidFill>
                          <a:srgbClr val="006273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da-DK" dirty="0">
                    <a:solidFill>
                      <a:srgbClr val="006273"/>
                    </a:solidFill>
                  </a:rPr>
                  <a:t> på begge sider- </a:t>
                </a:r>
                <a:r>
                  <a:rPr lang="da-DK" sz="2400" dirty="0">
                    <a:solidFill>
                      <a:srgbClr val="006273"/>
                    </a:solidFill>
                  </a:rPr>
                  <a:t>lav selv udledningen færdig så du ender med </a:t>
                </a:r>
                <a14:m>
                  <m:oMath xmlns:m="http://schemas.openxmlformats.org/officeDocument/2006/math">
                    <m:r>
                      <a:rPr lang="da-DK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da-DK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da-DK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nor/>
                      </m:rPr>
                      <a:rPr lang="el-GR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m:rPr>
                        <m:nor/>
                      </m:rPr>
                      <a:rPr lang="da-DK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</m:t>
                    </m:r>
                  </m:oMath>
                </a14:m>
                <a:endParaRPr lang="da-DK" sz="2400" dirty="0">
                  <a:solidFill>
                    <a:srgbClr val="006273"/>
                  </a:solidFill>
                </a:endParaRPr>
              </a:p>
              <a:p>
                <a:pPr marL="0" lvl="1" indent="0">
                  <a:buNone/>
                </a:pPr>
                <a:endParaRPr lang="da-DK" b="1" dirty="0"/>
              </a:p>
              <a:p>
                <a:pPr marL="0" lvl="1" indent="0">
                  <a:buNone/>
                </a:pPr>
                <a:endParaRPr lang="da-DK" sz="1800" b="1" dirty="0"/>
              </a:p>
              <a:p>
                <a:pPr marL="0" lvl="1" indent="0">
                  <a:buNone/>
                </a:pPr>
                <a:endParaRPr lang="da-DK" dirty="0"/>
              </a:p>
              <a:p>
                <a:pPr marL="879333" lvl="1" indent="-342900">
                  <a:buFont typeface="Arial" panose="020B0604020202020204" pitchFamily="34" charset="0"/>
                  <a:buChar char="•"/>
                </a:pPr>
                <a:endParaRPr lang="da-DK" dirty="0"/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9" name="Pladsholder til indhold 8">
                <a:extLst>
                  <a:ext uri="{FF2B5EF4-FFF2-40B4-BE49-F238E27FC236}">
                    <a16:creationId xmlns:a16="http://schemas.microsoft.com/office/drawing/2014/main" id="{0461E09F-DF65-6DFA-FC51-E62DCA1CBE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29735" y="1073646"/>
                <a:ext cx="9068709" cy="4536504"/>
              </a:xfrm>
              <a:blipFill>
                <a:blip r:embed="rId3"/>
                <a:stretch>
                  <a:fillRect l="-336" t="-538" b="-403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el 7">
            <a:extLst>
              <a:ext uri="{FF2B5EF4-FFF2-40B4-BE49-F238E27FC236}">
                <a16:creationId xmlns:a16="http://schemas.microsoft.com/office/drawing/2014/main" id="{9142D1C8-074D-6B63-7A73-F9B53FA53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555" y="599456"/>
            <a:ext cx="9090889" cy="480067"/>
          </a:xfrm>
        </p:spPr>
        <p:txBody>
          <a:bodyPr/>
          <a:lstStyle/>
          <a:p>
            <a:r>
              <a:rPr lang="da-DK" dirty="0"/>
              <a:t>V-p diagram og arbejde generelt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4A4CE3CD-5869-E9CA-5EAC-0E3B5617D8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10-02-2026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84046CD8-641A-B7F6-059B-4A5791669E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F89D45A5-8A7D-B2A0-D65A-FDBD1BF04C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8044" y="1844824"/>
            <a:ext cx="2279812" cy="2044780"/>
          </a:xfrm>
          <a:prstGeom prst="rect">
            <a:avLst/>
          </a:prstGeom>
        </p:spPr>
      </p:pic>
      <p:pic>
        <p:nvPicPr>
          <p:cNvPr id="11" name="Billede 10">
            <a:extLst>
              <a:ext uri="{FF2B5EF4-FFF2-40B4-BE49-F238E27FC236}">
                <a16:creationId xmlns:a16="http://schemas.microsoft.com/office/drawing/2014/main" id="{2010459D-966F-974E-AB18-C398E51666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2533" y="3137129"/>
            <a:ext cx="2458242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044255"/>
      </p:ext>
    </p:extLst>
  </p:cSld>
  <p:clrMapOvr>
    <a:masterClrMapping/>
  </p:clrMapOvr>
</p:sld>
</file>

<file path=ppt/theme/theme1.xml><?xml version="1.0" encoding="utf-8"?>
<a:theme xmlns:a="http://schemas.openxmlformats.org/drawingml/2006/main" name="Martec v1.0">
  <a:themeElements>
    <a:clrScheme name="Shrpa farver">
      <a:dk1>
        <a:sysClr val="windowText" lastClr="000000"/>
      </a:dk1>
      <a:lt1>
        <a:sysClr val="window" lastClr="FFFFFF"/>
      </a:lt1>
      <a:dk2>
        <a:srgbClr val="0080DB"/>
      </a:dk2>
      <a:lt2>
        <a:srgbClr val="FFFFFF"/>
      </a:lt2>
      <a:accent1>
        <a:srgbClr val="BDCCD4"/>
      </a:accent1>
      <a:accent2>
        <a:srgbClr val="756A86"/>
      </a:accent2>
      <a:accent3>
        <a:srgbClr val="CCCCCC"/>
      </a:accent3>
      <a:accent4>
        <a:srgbClr val="727A8F"/>
      </a:accent4>
      <a:accent5>
        <a:srgbClr val="84C5CB"/>
      </a:accent5>
      <a:accent6>
        <a:srgbClr val="C8DFD8"/>
      </a:accent6>
      <a:hlink>
        <a:srgbClr val="0080DB"/>
      </a:hlink>
      <a:folHlink>
        <a:srgbClr val="808080"/>
      </a:folHlink>
    </a:clrScheme>
    <a:fontScheme name="Shrpa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90B86947F2F384791A43E453BD63C53" ma:contentTypeVersion="3" ma:contentTypeDescription="Opret et nyt dokument." ma:contentTypeScope="" ma:versionID="924b14b58be40a76b67bff0b65d02dc8">
  <xsd:schema xmlns:xsd="http://www.w3.org/2001/XMLSchema" xmlns:xs="http://www.w3.org/2001/XMLSchema" xmlns:p="http://schemas.microsoft.com/office/2006/metadata/properties" xmlns:ns2="b0b3f9a3-cc49-4c1b-8e77-4a04ffe98b8e" targetNamespace="http://schemas.microsoft.com/office/2006/metadata/properties" ma:root="true" ma:fieldsID="a7c221301ad9a472da9d5e0a356bdffd" ns2:_="">
    <xsd:import namespace="b0b3f9a3-cc49-4c1b-8e77-4a04ffe98b8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b3f9a3-cc49-4c1b-8e77-4a04ffe98b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22FA995-F3DD-4840-8535-9A6E162BF5D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2E6AF0E-7503-4526-A924-96A8DC5F2F27}"/>
</file>

<file path=customXml/itemProps3.xml><?xml version="1.0" encoding="utf-8"?>
<ds:datastoreItem xmlns:ds="http://schemas.openxmlformats.org/officeDocument/2006/customXml" ds:itemID="{E12765FB-6C98-40D1-A7E4-70E19B017E2E}">
  <ds:schemaRefs>
    <ds:schemaRef ds:uri="http://purl.org/dc/terms/"/>
    <ds:schemaRef ds:uri="e84b2ad9-dccb-4b64-b847-23f7e5fc5eba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720d51da-33b1-4235-8b17-e4d0b2ead310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Martec - powerpoint skabelon_v1</Template>
  <TotalTime>14488</TotalTime>
  <Words>746</Words>
  <Application>Microsoft Office PowerPoint</Application>
  <PresentationFormat>A4-papir (210 x 297 mm)</PresentationFormat>
  <Paragraphs>246</Paragraphs>
  <Slides>28</Slides>
  <Notes>11</Notes>
  <HiddenSlides>1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28</vt:i4>
      </vt:variant>
    </vt:vector>
  </HeadingPairs>
  <TitlesOfParts>
    <vt:vector size="32" baseType="lpstr">
      <vt:lpstr>Arial</vt:lpstr>
      <vt:lpstr>Calibri</vt:lpstr>
      <vt:lpstr>Cambria Math</vt:lpstr>
      <vt:lpstr>Martec v1.0</vt:lpstr>
      <vt:lpstr>Dagens program</vt:lpstr>
      <vt:lpstr>Dieselmotorens anvendelsesområder</vt:lpstr>
      <vt:lpstr>Dieselmotoren 2-takt VS 4-takt til søs</vt:lpstr>
      <vt:lpstr>Dieselmotorens funktion - Takter</vt:lpstr>
      <vt:lpstr>Dieselmotorens funktion og hoveddele</vt:lpstr>
      <vt:lpstr>Dieselmotorens konstruktion 2-takt</vt:lpstr>
      <vt:lpstr>Dieselmotorens konstruktion 2-takt Bundramme</vt:lpstr>
      <vt:lpstr>Dieselmotorens konstruktion 2-takt Krumtapaksel</vt:lpstr>
      <vt:lpstr>Dieselmotorens konstruktion 2-takt Krumtapaksel</vt:lpstr>
      <vt:lpstr>Dieselmotorens konstruktion 2-takt A-stativ</vt:lpstr>
      <vt:lpstr>Dieselmotorens konstruktion 2-takt A-stativ sprængdæksel</vt:lpstr>
      <vt:lpstr>Dieselmotorens konstruktion 2-takt Cylinderramme</vt:lpstr>
      <vt:lpstr>Dieselmotorens konstruktion 2-takt Cylinderramme</vt:lpstr>
      <vt:lpstr>Dieselmotorens konstruktion 2-takt Cylinderramme og Topdæksel</vt:lpstr>
      <vt:lpstr>Dieselmotorens konstruktion 2-takt Øvrige</vt:lpstr>
      <vt:lpstr>Dieselmotorens konstruktion 2-takt</vt:lpstr>
      <vt:lpstr>Dieselmotorens konstruktion 4-takt Stativet</vt:lpstr>
      <vt:lpstr>Dieselmotorens konstruktion 4-takt Cylinderdæksel og vippetøj</vt:lpstr>
      <vt:lpstr>Dieselmotorens konstruktion 4-takt Snit med vippetøj og stødstænger</vt:lpstr>
      <vt:lpstr>4-takts motoren</vt:lpstr>
      <vt:lpstr>Klassifikation af gas (SG og Dual-fuel (DF motorer))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Dieselmotoren 4-takt kredsproces</vt:lpstr>
      <vt:lpstr>V-p diagram og arbejde generelt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Niels Ilberg Jacobsen</dc:creator>
  <cp:lastModifiedBy>Anders Kirkegaard</cp:lastModifiedBy>
  <cp:revision>46</cp:revision>
  <cp:lastPrinted>2026-02-10T08:58:50Z</cp:lastPrinted>
  <dcterms:created xsi:type="dcterms:W3CDTF">2015-02-09T14:06:07Z</dcterms:created>
  <dcterms:modified xsi:type="dcterms:W3CDTF">2026-02-10T14:30:02Z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0x010100190B86947F2F384791A43E453BD63C53</vt:lpwstr>
  </property>
  <property fmtid="{D5CDD505-2E9C-101B-9397-08002B2CF9AE}" pid="3" name="Order">
    <vt:lpwstr>13700.0000000000</vt:lpwstr>
  </property>
  <property fmtid="{D5CDD505-2E9C-101B-9397-08002B2CF9AE}" pid="4" name="xd_ProgID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xd_Signature">
    <vt:lpwstr/>
  </property>
</Properties>
</file>