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712" r:id="rId4"/>
  </p:sldMasterIdLst>
  <p:notesMasterIdLst>
    <p:notesMasterId r:id="rId30"/>
  </p:notesMasterIdLst>
  <p:handoutMasterIdLst>
    <p:handoutMasterId r:id="rId31"/>
  </p:handoutMasterIdLst>
  <p:sldIdLst>
    <p:sldId id="308" r:id="rId5"/>
    <p:sldId id="309" r:id="rId6"/>
    <p:sldId id="338" r:id="rId7"/>
    <p:sldId id="336" r:id="rId8"/>
    <p:sldId id="344" r:id="rId9"/>
    <p:sldId id="337" r:id="rId10"/>
    <p:sldId id="340" r:id="rId11"/>
    <p:sldId id="339" r:id="rId12"/>
    <p:sldId id="342" r:id="rId13"/>
    <p:sldId id="343" r:id="rId14"/>
    <p:sldId id="345" r:id="rId15"/>
    <p:sldId id="346" r:id="rId16"/>
    <p:sldId id="347" r:id="rId17"/>
    <p:sldId id="348" r:id="rId18"/>
    <p:sldId id="349" r:id="rId19"/>
    <p:sldId id="350" r:id="rId20"/>
    <p:sldId id="351" r:id="rId21"/>
    <p:sldId id="352" r:id="rId22"/>
    <p:sldId id="353" r:id="rId23"/>
    <p:sldId id="354" r:id="rId24"/>
    <p:sldId id="357" r:id="rId25"/>
    <p:sldId id="358" r:id="rId26"/>
    <p:sldId id="359" r:id="rId27"/>
    <p:sldId id="356" r:id="rId28"/>
    <p:sldId id="360" r:id="rId29"/>
  </p:sldIdLst>
  <p:sldSz cx="9906000" cy="6858000" type="A4"/>
  <p:notesSz cx="9926638" cy="6797675"/>
  <p:embeddedFontLst>
    <p:embeddedFont>
      <p:font typeface="Cambria Math" panose="02040503050406030204" pitchFamily="18" charset="0"/>
      <p:regular r:id="rId32"/>
    </p:embeddedFont>
  </p:embeddedFontLst>
  <p:defaultTextStyle>
    <a:defPPr>
      <a:defRPr lang="da-DK"/>
    </a:defPPr>
    <a:lvl1pPr marL="0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sektion" id="{367A50A3-E1A1-411C-B60A-C790A055E8D1}">
          <p14:sldIdLst>
            <p14:sldId id="308"/>
            <p14:sldId id="309"/>
            <p14:sldId id="338"/>
            <p14:sldId id="336"/>
            <p14:sldId id="344"/>
            <p14:sldId id="337"/>
            <p14:sldId id="340"/>
            <p14:sldId id="339"/>
            <p14:sldId id="342"/>
            <p14:sldId id="343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7"/>
            <p14:sldId id="358"/>
            <p14:sldId id="359"/>
            <p14:sldId id="356"/>
            <p14:sldId id="36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1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273"/>
    <a:srgbClr val="76D2B6"/>
    <a:srgbClr val="008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B087F8-95B1-467C-9598-181847F98EA4}" v="2" dt="2026-02-05T10:46:06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7" autoAdjust="0"/>
    <p:restoredTop sz="52527" autoAdjust="0"/>
  </p:normalViewPr>
  <p:slideViewPr>
    <p:cSldViewPr snapToObjects="1">
      <p:cViewPr varScale="1">
        <p:scale>
          <a:sx n="50" d="100"/>
          <a:sy n="50" d="100"/>
        </p:scale>
        <p:origin x="2381" y="3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76" d="100"/>
          <a:sy n="76" d="100"/>
        </p:scale>
        <p:origin x="-1908" y="-90"/>
      </p:cViewPr>
      <p:guideLst>
        <p:guide orient="horz" pos="2141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1.fntdata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olm Nielsen" userId="7f6e59cd-4e17-4f4e-8cb8-d8c27ec9a1e7" providerId="ADAL" clId="{0FC4D70B-04FC-45FB-8D5C-EBB01ABE2253}"/>
    <pc:docChg chg="modSld">
      <pc:chgData name="Kristian Holm Nielsen" userId="7f6e59cd-4e17-4f4e-8cb8-d8c27ec9a1e7" providerId="ADAL" clId="{0FC4D70B-04FC-45FB-8D5C-EBB01ABE2253}" dt="2026-01-29T07:43:38.074" v="6" actId="20577"/>
      <pc:docMkLst>
        <pc:docMk/>
      </pc:docMkLst>
      <pc:sldChg chg="modSp mod">
        <pc:chgData name="Kristian Holm Nielsen" userId="7f6e59cd-4e17-4f4e-8cb8-d8c27ec9a1e7" providerId="ADAL" clId="{0FC4D70B-04FC-45FB-8D5C-EBB01ABE2253}" dt="2026-01-29T07:41:56.675" v="3" actId="20577"/>
        <pc:sldMkLst>
          <pc:docMk/>
          <pc:sldMk cId="2627809401" sldId="337"/>
        </pc:sldMkLst>
        <pc:spChg chg="mod">
          <ac:chgData name="Kristian Holm Nielsen" userId="7f6e59cd-4e17-4f4e-8cb8-d8c27ec9a1e7" providerId="ADAL" clId="{0FC4D70B-04FC-45FB-8D5C-EBB01ABE2253}" dt="2026-01-29T07:41:56.675" v="3" actId="20577"/>
          <ac:spMkLst>
            <pc:docMk/>
            <pc:sldMk cId="2627809401" sldId="337"/>
            <ac:spMk id="9" creationId="{17D67E3D-8853-2589-6FD6-7123C6B4E44D}"/>
          </ac:spMkLst>
        </pc:spChg>
      </pc:sldChg>
      <pc:sldChg chg="modSp mod">
        <pc:chgData name="Kristian Holm Nielsen" userId="7f6e59cd-4e17-4f4e-8cb8-d8c27ec9a1e7" providerId="ADAL" clId="{0FC4D70B-04FC-45FB-8D5C-EBB01ABE2253}" dt="2026-01-29T07:43:38.074" v="6" actId="20577"/>
        <pc:sldMkLst>
          <pc:docMk/>
          <pc:sldMk cId="1966308412" sldId="342"/>
        </pc:sldMkLst>
        <pc:spChg chg="mod">
          <ac:chgData name="Kristian Holm Nielsen" userId="7f6e59cd-4e17-4f4e-8cb8-d8c27ec9a1e7" providerId="ADAL" clId="{0FC4D70B-04FC-45FB-8D5C-EBB01ABE2253}" dt="2026-01-29T07:43:38.074" v="6" actId="20577"/>
          <ac:spMkLst>
            <pc:docMk/>
            <pc:sldMk cId="1966308412" sldId="342"/>
            <ac:spMk id="9" creationId="{D8CDA33C-377F-89B0-C684-BB49E79FC2C1}"/>
          </ac:spMkLst>
        </pc:spChg>
      </pc:sldChg>
    </pc:docChg>
  </pc:docChgLst>
  <pc:docChgLst>
    <pc:chgData name="Anders Kirkegaard" userId="4d5129ff-daee-434f-8316-c65cf7b9684f" providerId="ADAL" clId="{D1F5929C-7253-413A-9EB4-2CCDBC53EEC0}"/>
    <pc:docChg chg="custSel modSld">
      <pc:chgData name="Anders Kirkegaard" userId="4d5129ff-daee-434f-8316-c65cf7b9684f" providerId="ADAL" clId="{D1F5929C-7253-413A-9EB4-2CCDBC53EEC0}" dt="2026-02-17T10:48:10.065" v="554" actId="20577"/>
      <pc:docMkLst>
        <pc:docMk/>
      </pc:docMkLst>
      <pc:sldChg chg="modSp mod">
        <pc:chgData name="Anders Kirkegaard" userId="4d5129ff-daee-434f-8316-c65cf7b9684f" providerId="ADAL" clId="{D1F5929C-7253-413A-9EB4-2CCDBC53EEC0}" dt="2026-02-13T13:06:24.628" v="116" actId="20577"/>
        <pc:sldMkLst>
          <pc:docMk/>
          <pc:sldMk cId="2621221965" sldId="336"/>
        </pc:sldMkLst>
        <pc:spChg chg="mod">
          <ac:chgData name="Anders Kirkegaard" userId="4d5129ff-daee-434f-8316-c65cf7b9684f" providerId="ADAL" clId="{D1F5929C-7253-413A-9EB4-2CCDBC53EEC0}" dt="2026-02-13T13:06:24.628" v="116" actId="20577"/>
          <ac:spMkLst>
            <pc:docMk/>
            <pc:sldMk cId="2621221965" sldId="336"/>
            <ac:spMk id="9" creationId="{EC457B77-1827-EDAC-B7B7-E054DDBB18DA}"/>
          </ac:spMkLst>
        </pc:spChg>
      </pc:sldChg>
      <pc:sldChg chg="modSp mod">
        <pc:chgData name="Anders Kirkegaard" userId="4d5129ff-daee-434f-8316-c65cf7b9684f" providerId="ADAL" clId="{D1F5929C-7253-413A-9EB4-2CCDBC53EEC0}" dt="2026-02-13T13:07:55.541" v="140" actId="20577"/>
        <pc:sldMkLst>
          <pc:docMk/>
          <pc:sldMk cId="2027598425" sldId="339"/>
        </pc:sldMkLst>
        <pc:spChg chg="mod">
          <ac:chgData name="Anders Kirkegaard" userId="4d5129ff-daee-434f-8316-c65cf7b9684f" providerId="ADAL" clId="{D1F5929C-7253-413A-9EB4-2CCDBC53EEC0}" dt="2026-02-13T13:07:55.541" v="140" actId="20577"/>
          <ac:spMkLst>
            <pc:docMk/>
            <pc:sldMk cId="2027598425" sldId="339"/>
            <ac:spMk id="9" creationId="{522CA540-D7C7-D847-23C2-EA2343A32871}"/>
          </ac:spMkLst>
        </pc:spChg>
      </pc:sldChg>
      <pc:sldChg chg="modSp mod modNotesTx">
        <pc:chgData name="Anders Kirkegaard" userId="4d5129ff-daee-434f-8316-c65cf7b9684f" providerId="ADAL" clId="{D1F5929C-7253-413A-9EB4-2CCDBC53EEC0}" dt="2026-02-13T13:09:39.966" v="197" actId="20577"/>
        <pc:sldMkLst>
          <pc:docMk/>
          <pc:sldMk cId="1966308412" sldId="342"/>
        </pc:sldMkLst>
        <pc:spChg chg="mod">
          <ac:chgData name="Anders Kirkegaard" userId="4d5129ff-daee-434f-8316-c65cf7b9684f" providerId="ADAL" clId="{D1F5929C-7253-413A-9EB4-2CCDBC53EEC0}" dt="2026-02-13T13:08:13.496" v="141" actId="20577"/>
          <ac:spMkLst>
            <pc:docMk/>
            <pc:sldMk cId="1966308412" sldId="342"/>
            <ac:spMk id="8" creationId="{749EEE42-8B9C-D9A9-4F00-B261ECE1F261}"/>
          </ac:spMkLst>
        </pc:spChg>
      </pc:sldChg>
      <pc:sldChg chg="modSp mod modNotesTx">
        <pc:chgData name="Anders Kirkegaard" userId="4d5129ff-daee-434f-8316-c65cf7b9684f" providerId="ADAL" clId="{D1F5929C-7253-413A-9EB4-2CCDBC53EEC0}" dt="2026-02-13T13:06:03.886" v="114" actId="20577"/>
        <pc:sldMkLst>
          <pc:docMk/>
          <pc:sldMk cId="4213456652" sldId="344"/>
        </pc:sldMkLst>
        <pc:spChg chg="mod">
          <ac:chgData name="Anders Kirkegaard" userId="4d5129ff-daee-434f-8316-c65cf7b9684f" providerId="ADAL" clId="{D1F5929C-7253-413A-9EB4-2CCDBC53EEC0}" dt="2026-02-13T13:06:03.886" v="114" actId="20577"/>
          <ac:spMkLst>
            <pc:docMk/>
            <pc:sldMk cId="4213456652" sldId="344"/>
            <ac:spMk id="9" creationId="{20379AFA-2569-34C0-8818-4249BCF66E28}"/>
          </ac:spMkLst>
        </pc:spChg>
      </pc:sldChg>
      <pc:sldChg chg="modSp mod">
        <pc:chgData name="Anders Kirkegaard" userId="4d5129ff-daee-434f-8316-c65cf7b9684f" providerId="ADAL" clId="{D1F5929C-7253-413A-9EB4-2CCDBC53EEC0}" dt="2026-02-13T13:10:46.712" v="200" actId="6549"/>
        <pc:sldMkLst>
          <pc:docMk/>
          <pc:sldMk cId="2981805780" sldId="345"/>
        </pc:sldMkLst>
        <pc:spChg chg="mod">
          <ac:chgData name="Anders Kirkegaard" userId="4d5129ff-daee-434f-8316-c65cf7b9684f" providerId="ADAL" clId="{D1F5929C-7253-413A-9EB4-2CCDBC53EEC0}" dt="2026-02-13T13:10:46.712" v="200" actId="6549"/>
          <ac:spMkLst>
            <pc:docMk/>
            <pc:sldMk cId="2981805780" sldId="345"/>
            <ac:spMk id="9" creationId="{2125675A-2C18-2D0B-5738-ACDF8785F14F}"/>
          </ac:spMkLst>
        </pc:spChg>
      </pc:sldChg>
      <pc:sldChg chg="addSp modSp mod modAnim">
        <pc:chgData name="Anders Kirkegaard" userId="4d5129ff-daee-434f-8316-c65cf7b9684f" providerId="ADAL" clId="{D1F5929C-7253-413A-9EB4-2CCDBC53EEC0}" dt="2026-02-13T13:11:21.363" v="202" actId="166"/>
        <pc:sldMkLst>
          <pc:docMk/>
          <pc:sldMk cId="354965237" sldId="348"/>
        </pc:sldMkLst>
        <pc:picChg chg="ord">
          <ac:chgData name="Anders Kirkegaard" userId="4d5129ff-daee-434f-8316-c65cf7b9684f" providerId="ADAL" clId="{D1F5929C-7253-413A-9EB4-2CCDBC53EEC0}" dt="2026-02-13T13:11:21.363" v="202" actId="166"/>
          <ac:picMkLst>
            <pc:docMk/>
            <pc:sldMk cId="354965237" sldId="348"/>
            <ac:picMk id="12" creationId="{5146E9E4-964A-4A75-F47D-CD61F022C910}"/>
          </ac:picMkLst>
        </pc:picChg>
      </pc:sldChg>
      <pc:sldChg chg="modNotesTx">
        <pc:chgData name="Anders Kirkegaard" userId="4d5129ff-daee-434f-8316-c65cf7b9684f" providerId="ADAL" clId="{D1F5929C-7253-413A-9EB4-2CCDBC53EEC0}" dt="2026-02-17T08:34:13.803" v="431" actId="20577"/>
        <pc:sldMkLst>
          <pc:docMk/>
          <pc:sldMk cId="2282155659" sldId="358"/>
        </pc:sldMkLst>
      </pc:sldChg>
      <pc:sldChg chg="modNotesTx">
        <pc:chgData name="Anders Kirkegaard" userId="4d5129ff-daee-434f-8316-c65cf7b9684f" providerId="ADAL" clId="{D1F5929C-7253-413A-9EB4-2CCDBC53EEC0}" dt="2026-02-17T10:48:10.065" v="554" actId="20577"/>
        <pc:sldMkLst>
          <pc:docMk/>
          <pc:sldMk cId="1027742742" sldId="36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0AE49F00-0C9E-4AB3-AEF3-93A1138AB15A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3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2A938149-C147-4FB1-A460-A81341C0263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270111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5622797" y="0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>
              <a:defRPr sz="1200"/>
            </a:lvl1pPr>
          </a:lstStyle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4" name="Pladsholder til dias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3122613" y="509588"/>
            <a:ext cx="3681412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992664" y="3228896"/>
            <a:ext cx="7941310" cy="3058954"/>
          </a:xfrm>
          <a:prstGeom prst="rect">
            <a:avLst/>
          </a:prstGeom>
        </p:spPr>
        <p:txBody>
          <a:bodyPr vert="horz" lIns="91001" tIns="45501" rIns="91001" bIns="45501" rtlCol="0">
            <a:normAutofit/>
          </a:bodyPr>
          <a:lstStyle/>
          <a:p>
            <a:pPr lvl="0"/>
            <a:r>
              <a:rPr lang="da-DK"/>
              <a:t>Klik for at redigere typografi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diasnummer 6"/>
          <p:cNvSpPr>
            <a:spLocks noGrp="1"/>
          </p:cNvSpPr>
          <p:nvPr>
            <p:ph type="sldNum" sz="quarter" idx="5"/>
          </p:nvPr>
        </p:nvSpPr>
        <p:spPr>
          <a:xfrm>
            <a:off x="5622797" y="6456612"/>
            <a:ext cx="4301543" cy="339884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r">
              <a:defRPr sz="1200"/>
            </a:lvl1pPr>
          </a:lstStyle>
          <a:p>
            <a:fld id="{C0745616-2564-45CF-B293-4F9F1738F760}" type="slidenum">
              <a:rPr lang="da-DK" smtClean="0"/>
              <a:pPr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1919819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36433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72866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609298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145731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82164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107286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02107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Boyle-Mariottes lov: 	p*V = C (isoterm)</a:t>
            </a:r>
          </a:p>
          <a:p>
            <a:r>
              <a:rPr lang="da-DK" dirty="0"/>
              <a:t>Guy-</a:t>
            </a:r>
            <a:r>
              <a:rPr lang="da-DK" dirty="0" err="1"/>
              <a:t>Lussacs</a:t>
            </a:r>
            <a:r>
              <a:rPr lang="da-DK" dirty="0"/>
              <a:t> love: 	p/T = C (</a:t>
            </a:r>
            <a:r>
              <a:rPr lang="da-DK" dirty="0" err="1"/>
              <a:t>isokor</a:t>
            </a:r>
            <a:r>
              <a:rPr lang="da-DK" dirty="0"/>
              <a:t>)</a:t>
            </a:r>
          </a:p>
          <a:p>
            <a:r>
              <a:rPr lang="da-DK" dirty="0"/>
              <a:t>		V/T = C (isobar)</a:t>
            </a:r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0155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Tabeller kan angive M </a:t>
            </a:r>
            <a:r>
              <a:rPr lang="da-DK"/>
              <a:t>i [g</a:t>
            </a:r>
            <a:r>
              <a:rPr lang="da-DK" dirty="0"/>
              <a:t>/mol] eller [kg/kmol]</a:t>
            </a:r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38697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613556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37A7F-585A-8103-B92B-F7883A59A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>
            <a:extLst>
              <a:ext uri="{FF2B5EF4-FFF2-40B4-BE49-F238E27FC236}">
                <a16:creationId xmlns:a16="http://schemas.microsoft.com/office/drawing/2014/main" id="{A805370F-A8BD-84DE-E2D6-4A232A8DB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>
            <a:extLst>
              <a:ext uri="{FF2B5EF4-FFF2-40B4-BE49-F238E27FC236}">
                <a16:creationId xmlns:a16="http://schemas.microsoft.com/office/drawing/2014/main" id="{EFDF1582-5CB0-85D3-C943-D1F3210A31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>
            <a:extLst>
              <a:ext uri="{FF2B5EF4-FFF2-40B4-BE49-F238E27FC236}">
                <a16:creationId xmlns:a16="http://schemas.microsoft.com/office/drawing/2014/main" id="{D2918F0E-7AEE-6189-9A34-F5D9F57892E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D9C5E19B-4EB5-D245-2B7F-E86D1FC635E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A81C5E0E-4AC8-60B0-535C-C01684FE146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480D498-711A-174A-1E4D-2FA2BD54E9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45079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259087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dV</a:t>
            </a:r>
            <a:r>
              <a:rPr lang="da-DK" dirty="0"/>
              <a:t> &lt; 0, da p2 &lt; p1</a:t>
            </a:r>
          </a:p>
          <a:p>
            <a:endParaRPr lang="da-DK" dirty="0"/>
          </a:p>
          <a:p>
            <a:r>
              <a:rPr lang="da-DK" dirty="0"/>
              <a:t>Eksempel:</a:t>
            </a:r>
          </a:p>
          <a:p>
            <a:r>
              <a:rPr lang="da-DK" dirty="0"/>
              <a:t>Tegn graf med konstant V, konstant p, varierende p og V, </a:t>
            </a:r>
            <a:r>
              <a:rPr lang="da-DK" dirty="0" err="1"/>
              <a:t>adiabatisk</a:t>
            </a:r>
            <a:r>
              <a:rPr lang="da-DK" dirty="0"/>
              <a:t> stejlere hældning ved kompression fordi </a:t>
            </a:r>
            <a:r>
              <a:rPr lang="da-DK" dirty="0" err="1"/>
              <a:t>varmeudvekslingen</a:t>
            </a:r>
            <a:r>
              <a:rPr lang="da-DK" dirty="0"/>
              <a:t>, </a:t>
            </a:r>
            <a:r>
              <a:rPr lang="da-DK" dirty="0" err="1"/>
              <a:t>dQ</a:t>
            </a:r>
            <a:r>
              <a:rPr lang="da-DK" dirty="0"/>
              <a:t>, bliver 0</a:t>
            </a:r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8459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Eksempler:</a:t>
            </a:r>
          </a:p>
          <a:p>
            <a:r>
              <a:rPr lang="da-DK" dirty="0"/>
              <a:t>Fig. 9.19.3 (p. 218) – Gas i en beholder</a:t>
            </a:r>
          </a:p>
          <a:p>
            <a:r>
              <a:rPr lang="da-DK" dirty="0"/>
              <a:t>Fig. 9.19.4 (p. 219) – Varmt lod </a:t>
            </a:r>
            <a:r>
              <a:rPr lang="da-DK"/>
              <a:t>i vandbeholder</a:t>
            </a:r>
            <a:endParaRPr lang="da-DK" dirty="0"/>
          </a:p>
        </p:txBody>
      </p:sp>
      <p:sp>
        <p:nvSpPr>
          <p:cNvPr id="4" name="Pladsholder til sidehoved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dato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5666CCB-B7BD-45F2-9C52-503B2080BF50}" type="datetime1">
              <a:rPr lang="da-DK" smtClean="0"/>
              <a:pPr/>
              <a:t>03-09-2026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745616-2564-45CF-B293-4F9F1738F760}" type="slidenum">
              <a:rPr lang="da-DK" smtClean="0"/>
              <a:pPr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8993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led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59" b="14030"/>
          <a:stretch/>
        </p:blipFill>
        <p:spPr>
          <a:xfrm>
            <a:off x="0" y="-1"/>
            <a:ext cx="9906000" cy="5145207"/>
          </a:xfrm>
          <a:prstGeom prst="rect">
            <a:avLst/>
          </a:prstGeom>
        </p:spPr>
      </p:pic>
      <p:sp>
        <p:nvSpPr>
          <p:cNvPr id="7" name="Rektangel 6"/>
          <p:cNvSpPr/>
          <p:nvPr userDrawn="1"/>
        </p:nvSpPr>
        <p:spPr>
          <a:xfrm>
            <a:off x="0" y="5145206"/>
            <a:ext cx="9906000" cy="84034"/>
          </a:xfrm>
          <a:prstGeom prst="rect">
            <a:avLst/>
          </a:prstGeom>
          <a:solidFill>
            <a:srgbClr val="76D2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384" y="5739931"/>
            <a:ext cx="1537425" cy="560487"/>
          </a:xfrm>
          <a:prstGeom prst="rect">
            <a:avLst/>
          </a:prstGeom>
        </p:spPr>
      </p:pic>
      <p:sp>
        <p:nvSpPr>
          <p:cNvPr id="3" name="Pladsholder til tekst 2"/>
          <p:cNvSpPr>
            <a:spLocks noGrp="1"/>
          </p:cNvSpPr>
          <p:nvPr>
            <p:ph type="body" sz="quarter" idx="10" hasCustomPrompt="1"/>
          </p:nvPr>
        </p:nvSpPr>
        <p:spPr>
          <a:xfrm>
            <a:off x="273050" y="5499100"/>
            <a:ext cx="7200900" cy="521074"/>
          </a:xfrm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a-DK" dirty="0" err="1"/>
              <a:t>Præsentationtitel</a:t>
            </a:r>
            <a:endParaRPr lang="da-DK" dirty="0"/>
          </a:p>
        </p:txBody>
      </p:sp>
      <p:sp>
        <p:nvSpPr>
          <p:cNvPr id="4" name="Pladsholder til tekst 3"/>
          <p:cNvSpPr>
            <a:spLocks noGrp="1"/>
          </p:cNvSpPr>
          <p:nvPr>
            <p:ph type="body" sz="quarter" idx="11" hasCustomPrompt="1"/>
          </p:nvPr>
        </p:nvSpPr>
        <p:spPr>
          <a:xfrm>
            <a:off x="272582" y="6129338"/>
            <a:ext cx="5670550" cy="450850"/>
          </a:xfrm>
        </p:spPr>
        <p:txBody>
          <a:bodyPr/>
          <a:lstStyle>
            <a:lvl2pPr marL="39114" indent="0">
              <a:buNone/>
              <a:defRPr>
                <a:solidFill>
                  <a:schemeClr val="tx1"/>
                </a:solidFill>
              </a:defRPr>
            </a:lvl2pPr>
          </a:lstStyle>
          <a:p>
            <a:pPr lvl="1"/>
            <a:r>
              <a:rPr lang="da-DK" dirty="0"/>
              <a:t>[Dato, sted, forfatter]</a:t>
            </a:r>
          </a:p>
        </p:txBody>
      </p:sp>
    </p:spTree>
    <p:extLst>
      <p:ext uri="{BB962C8B-B14F-4D97-AF65-F5344CB8AC3E}">
        <p14:creationId xmlns:p14="http://schemas.microsoft.com/office/powerpoint/2010/main" val="1721833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ktion 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2352" y="2828920"/>
            <a:ext cx="9361300" cy="901179"/>
          </a:xfrm>
        </p:spPr>
        <p:txBody>
          <a:bodyPr>
            <a:normAutofit/>
          </a:bodyPr>
          <a:lstStyle>
            <a:lvl1pPr algn="ctr">
              <a:defRPr sz="2300" baseline="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SEKTIONS OVERSKRIFT</a:t>
            </a:r>
          </a:p>
        </p:txBody>
      </p:sp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9" name="Pladsholder til tekst 8"/>
          <p:cNvSpPr>
            <a:spLocks noGrp="1"/>
          </p:cNvSpPr>
          <p:nvPr>
            <p:ph type="body" sz="quarter" idx="13" hasCustomPrompt="1"/>
          </p:nvPr>
        </p:nvSpPr>
        <p:spPr>
          <a:xfrm>
            <a:off x="272353" y="1388728"/>
            <a:ext cx="9361921" cy="1151467"/>
          </a:xfrm>
        </p:spPr>
        <p:txBody>
          <a:bodyPr anchor="ctr">
            <a:noAutofit/>
          </a:bodyPr>
          <a:lstStyle>
            <a:lvl1pPr algn="ctr">
              <a:buNone/>
              <a:defRPr sz="700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da-DK" dirty="0" err="1"/>
              <a:t>Nr</a:t>
            </a:r>
            <a:endParaRPr lang="da-DK" dirty="0"/>
          </a:p>
        </p:txBody>
      </p:sp>
      <p:sp>
        <p:nvSpPr>
          <p:cNvPr id="11" name="Pladsholder til tekst 10"/>
          <p:cNvSpPr>
            <a:spLocks noGrp="1"/>
          </p:cNvSpPr>
          <p:nvPr>
            <p:ph type="body" sz="quarter" idx="14" hasCustomPrompt="1"/>
          </p:nvPr>
        </p:nvSpPr>
        <p:spPr>
          <a:xfrm>
            <a:off x="271727" y="3789050"/>
            <a:ext cx="9362546" cy="2038351"/>
          </a:xfrm>
        </p:spPr>
        <p:txBody>
          <a:bodyPr>
            <a:normAutofit/>
          </a:bodyPr>
          <a:lstStyle>
            <a:lvl1pPr algn="ctr">
              <a:buNone/>
              <a:defRPr lang="da-DK" sz="2100" b="0" i="0" baseline="0" dirty="0">
                <a:solidFill>
                  <a:schemeClr val="bg1">
                    <a:lumMod val="50000"/>
                  </a:schemeClr>
                </a:solidFill>
              </a:defRPr>
            </a:lvl1pPr>
            <a:lvl4pPr>
              <a:buNone/>
              <a:defRPr lang="da-DK" dirty="0"/>
            </a:lvl4pPr>
          </a:lstStyle>
          <a:p>
            <a:pPr lvl="0"/>
            <a:r>
              <a:rPr lang="da-DK" dirty="0"/>
              <a:t>Beskrivende tekst</a:t>
            </a:r>
          </a:p>
        </p:txBody>
      </p:sp>
      <p:sp>
        <p:nvSpPr>
          <p:cNvPr id="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8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10" name="Billed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308" y="258165"/>
            <a:ext cx="1537425" cy="56048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1157520" cy="366183"/>
          </a:xfrm>
        </p:spPr>
        <p:txBody>
          <a:bodyPr/>
          <a:lstStyle>
            <a:lvl1pPr>
              <a:defRPr sz="1000" b="1" baseline="0">
                <a:solidFill>
                  <a:srgbClr val="006273"/>
                </a:solidFill>
                <a:latin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8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020059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hold med text og tynd streg uden bundstreg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</a:defRPr>
            </a:lvl1pPr>
            <a:lvl2pPr marL="312919" indent="-281255">
              <a:defRPr sz="1400" baseline="0">
                <a:solidFill>
                  <a:srgbClr val="006273"/>
                </a:solidFill>
              </a:defRPr>
            </a:lvl2pPr>
            <a:lvl3pPr marL="528982" indent="-216063">
              <a:defRPr sz="1400" baseline="0">
                <a:solidFill>
                  <a:srgbClr val="006273"/>
                </a:solidFill>
              </a:defRPr>
            </a:lvl3pPr>
            <a:lvl4pPr marL="735733" indent="-206751">
              <a:defRPr sz="1400" baseline="0">
                <a:solidFill>
                  <a:srgbClr val="006273"/>
                </a:solidFill>
              </a:defRPr>
            </a:lvl4pPr>
            <a:lvl5pPr marL="944346" indent="-208613">
              <a:defRPr sz="1400" baseline="0">
                <a:solidFill>
                  <a:srgbClr val="006273"/>
                </a:solidFill>
              </a:defRPr>
            </a:lvl5pPr>
            <a:lvl6pPr>
              <a:defRPr sz="1400" baseline="0">
                <a:solidFill>
                  <a:srgbClr val="006273"/>
                </a:solidFill>
              </a:defRPr>
            </a:lvl6pPr>
            <a:lvl7pPr>
              <a:defRPr sz="1400" baseline="0">
                <a:solidFill>
                  <a:srgbClr val="006273"/>
                </a:solidFill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98528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11" name="Pladsholder til indhold 10"/>
          <p:cNvSpPr>
            <a:spLocks noGrp="1"/>
          </p:cNvSpPr>
          <p:nvPr>
            <p:ph sz="quarter" idx="13" hasCustomPrompt="1"/>
          </p:nvPr>
        </p:nvSpPr>
        <p:spPr>
          <a:xfrm>
            <a:off x="369891" y="2228840"/>
            <a:ext cx="9068709" cy="3960529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  <a:lvl2pPr marL="312919" indent="-281255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2pPr>
            <a:lvl3pPr marL="528982" indent="-21606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3pPr>
            <a:lvl4pPr marL="735733" indent="-206751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4pPr>
            <a:lvl5pPr marL="944346" indent="-208613"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6pPr>
            <a:lvl7pPr>
              <a:defRPr sz="1400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7pPr>
          </a:lstStyle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/>
              <a:t>6</a:t>
            </a:r>
          </a:p>
          <a:p>
            <a:pPr lvl="6"/>
            <a:r>
              <a:rPr lang="da-DK" dirty="0"/>
              <a:t>7</a:t>
            </a:r>
          </a:p>
        </p:txBody>
      </p:sp>
      <p:sp>
        <p:nvSpPr>
          <p:cNvPr id="14" name="Titel 5"/>
          <p:cNvSpPr>
            <a:spLocks noGrp="1"/>
          </p:cNvSpPr>
          <p:nvPr>
            <p:ph type="title" hasCustomPrompt="1"/>
          </p:nvPr>
        </p:nvSpPr>
        <p:spPr>
          <a:xfrm>
            <a:off x="347711" y="1628757"/>
            <a:ext cx="9090889" cy="480067"/>
          </a:xfrm>
        </p:spPr>
        <p:txBody>
          <a:bodyPr>
            <a:noAutofit/>
          </a:bodyPr>
          <a:lstStyle>
            <a:lvl1pPr>
              <a:defRPr sz="2300" b="1" baseline="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6199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985682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om: Indhold med tek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dsholder til diasnummer 4"/>
          <p:cNvSpPr>
            <a:spLocks noGrp="1"/>
          </p:cNvSpPr>
          <p:nvPr>
            <p:ph type="sldNum" sz="quarter" idx="12"/>
          </p:nvPr>
        </p:nvSpPr>
        <p:spPr>
          <a:xfrm>
            <a:off x="7000775" y="6309385"/>
            <a:ext cx="2534351" cy="366183"/>
          </a:xfrm>
        </p:spPr>
        <p:txBody>
          <a:bodyPr/>
          <a:lstStyle>
            <a:lvl1pPr>
              <a:defRPr sz="1000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6" name="Pladsholder til dato 7"/>
          <p:cNvSpPr>
            <a:spLocks noGrp="1"/>
          </p:cNvSpPr>
          <p:nvPr>
            <p:ph type="dt" sz="half" idx="11"/>
          </p:nvPr>
        </p:nvSpPr>
        <p:spPr>
          <a:xfrm>
            <a:off x="195000" y="6312001"/>
            <a:ext cx="877617" cy="366183"/>
          </a:xfrm>
        </p:spPr>
        <p:txBody>
          <a:bodyPr/>
          <a:lstStyle>
            <a:lvl1pPr>
              <a:defRPr sz="1000" b="1">
                <a:solidFill>
                  <a:srgbClr val="006273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8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09385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1000">
                <a:solidFill>
                  <a:schemeClr val="bg1">
                    <a:lumMod val="6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da-DK" dirty="0"/>
          </a:p>
        </p:txBody>
      </p:sp>
      <p:pic>
        <p:nvPicPr>
          <p:cNvPr id="9" name="Billed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420" y="258165"/>
            <a:ext cx="1537425" cy="560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880721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dsholder til titel 13"/>
          <p:cNvSpPr>
            <a:spLocks noGrp="1"/>
          </p:cNvSpPr>
          <p:nvPr>
            <p:ph type="title"/>
          </p:nvPr>
        </p:nvSpPr>
        <p:spPr>
          <a:xfrm>
            <a:off x="467404" y="275167"/>
            <a:ext cx="8971196" cy="1143000"/>
          </a:xfrm>
          <a:prstGeom prst="rect">
            <a:avLst/>
          </a:prstGeom>
        </p:spPr>
        <p:txBody>
          <a:bodyPr vert="horz" lIns="107287" tIns="53643" rIns="107287" bIns="53643" rtlCol="0" anchor="ctr">
            <a:normAutofit/>
          </a:bodyPr>
          <a:lstStyle/>
          <a:p>
            <a:r>
              <a:rPr lang="da-DK" dirty="0"/>
              <a:t>KLIK FOR AT REDIGERE TITELTYPOGRAFI I MASTEREN</a:t>
            </a:r>
          </a:p>
        </p:txBody>
      </p:sp>
      <p:sp>
        <p:nvSpPr>
          <p:cNvPr id="16" name="Pladsholder til dato 15"/>
          <p:cNvSpPr>
            <a:spLocks noGrp="1"/>
          </p:cNvSpPr>
          <p:nvPr>
            <p:ph type="dt" sz="half" idx="2"/>
          </p:nvPr>
        </p:nvSpPr>
        <p:spPr>
          <a:xfrm>
            <a:off x="370879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l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17" name="Pladsholder til sidefod 16"/>
          <p:cNvSpPr>
            <a:spLocks noGrp="1"/>
          </p:cNvSpPr>
          <p:nvPr>
            <p:ph type="ftr" sz="quarter" idx="3"/>
          </p:nvPr>
        </p:nvSpPr>
        <p:spPr>
          <a:xfrm>
            <a:off x="3384552" y="6356353"/>
            <a:ext cx="3136900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ct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18" name="Pladsholder til diasnummer 17"/>
          <p:cNvSpPr>
            <a:spLocks noGrp="1"/>
          </p:cNvSpPr>
          <p:nvPr>
            <p:ph type="sldNum" sz="quarter" idx="4"/>
          </p:nvPr>
        </p:nvSpPr>
        <p:spPr>
          <a:xfrm>
            <a:off x="7000775" y="6356353"/>
            <a:ext cx="2534351" cy="366183"/>
          </a:xfrm>
          <a:prstGeom prst="rect">
            <a:avLst/>
          </a:prstGeom>
        </p:spPr>
        <p:txBody>
          <a:bodyPr vert="horz" lIns="107287" tIns="53643" rIns="107287" bIns="53643" rtlCol="0" anchor="ctr"/>
          <a:lstStyle>
            <a:lvl1pPr algn="r"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027C91F-3113-4170-B0A7-EB36B47BBC64}" type="slidenum">
              <a:rPr lang="da-DK" smtClean="0"/>
              <a:pPr/>
              <a:t>‹nr.›</a:t>
            </a:fld>
            <a:endParaRPr lang="da-DK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idx="1"/>
          </p:nvPr>
        </p:nvSpPr>
        <p:spPr>
          <a:xfrm>
            <a:off x="467404" y="1600202"/>
            <a:ext cx="8971196" cy="4525433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/>
          <a:p>
            <a:pPr lvl="0"/>
            <a:r>
              <a:rPr lang="da-DK" dirty="0"/>
              <a:t>KLIK FOR AT REDIGERE TYPOGRAFI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  <a:p>
            <a:pPr lvl="5"/>
            <a:r>
              <a:rPr lang="da-DK" dirty="0" err="1"/>
              <a:t>Level</a:t>
            </a:r>
            <a:r>
              <a:rPr lang="da-DK" dirty="0"/>
              <a:t> 6</a:t>
            </a:r>
          </a:p>
          <a:p>
            <a:pPr lvl="6"/>
            <a:r>
              <a:rPr lang="da-DK" dirty="0" err="1"/>
              <a:t>Level</a:t>
            </a:r>
            <a:r>
              <a:rPr lang="da-DK" dirty="0"/>
              <a:t> 7</a:t>
            </a:r>
          </a:p>
          <a:p>
            <a:pPr lvl="5"/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20" r:id="rId2"/>
    <p:sldLayoutId id="2147483765" r:id="rId3"/>
    <p:sldLayoutId id="2147483768" r:id="rId4"/>
    <p:sldLayoutId id="2147483770" r:id="rId5"/>
    <p:sldLayoutId id="2147483771" r:id="rId6"/>
  </p:sldLayoutIdLst>
  <p:hf hdr="0"/>
  <p:txStyles>
    <p:titleStyle>
      <a:lvl1pPr marL="420951" indent="-420951" algn="l" defTabSz="1072866" rtl="0" eaLnBrk="1" latinLnBrk="0" hangingPunct="1">
        <a:spcBef>
          <a:spcPct val="0"/>
        </a:spcBef>
        <a:buClr>
          <a:schemeClr val="tx2"/>
        </a:buClr>
        <a:buFont typeface="+mj-lt"/>
        <a:buNone/>
        <a:defRPr sz="2800" b="1" kern="1200">
          <a:solidFill>
            <a:srgbClr val="006273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0" indent="0" algn="l" defTabSz="1072866" rtl="0" eaLnBrk="1" latinLnBrk="0" hangingPunct="1">
        <a:spcBef>
          <a:spcPct val="20000"/>
        </a:spcBef>
        <a:buSzPct val="25000"/>
        <a:buFontTx/>
        <a:buNone/>
        <a:defRPr sz="2100" b="1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1pPr>
      <a:lvl2pPr marL="312919" indent="-273805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9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2pPr>
      <a:lvl3pPr marL="52898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3pPr>
      <a:lvl4pPr marL="735733" indent="-206751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4pPr>
      <a:lvl5pPr marL="944346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5pPr>
      <a:lvl6pPr marL="1152958" indent="-20861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tabLst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6pPr>
      <a:lvl7pPr marL="1369022" indent="-216063" algn="l" defTabSz="1072866" rtl="0" eaLnBrk="1" latinLnBrk="0" hangingPunct="1">
        <a:spcBef>
          <a:spcPct val="20000"/>
        </a:spcBef>
        <a:buClr>
          <a:schemeClr val="bg1">
            <a:lumMod val="85000"/>
          </a:schemeClr>
        </a:buClr>
        <a:buFont typeface="Arial" pitchFamily="34" charset="0"/>
        <a:buChar char="•"/>
        <a:defRPr sz="1600" kern="1200">
          <a:solidFill>
            <a:srgbClr val="006273"/>
          </a:solidFill>
          <a:latin typeface="Arial" pitchFamily="34" charset="0"/>
          <a:ea typeface="+mn-ea"/>
          <a:cs typeface="Arial" pitchFamily="34" charset="0"/>
        </a:defRPr>
      </a:lvl7pPr>
      <a:lvl8pPr marL="4023246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59678" indent="-268216" algn="l" defTabSz="1072866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6433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72866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9298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45731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82164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18597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55029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91462" algn="l" defTabSz="107286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het.colorado.edu/sims/html/gases-intro/latest/gases-intro_all.html?locale=da" TargetMode="Externa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364F6B0-1E07-72EC-9C89-DDB049F12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DADD530-95D3-1180-7A82-446F48CA41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9" y="904308"/>
            <a:ext cx="9068709" cy="5049384"/>
          </a:xfrm>
        </p:spPr>
        <p:txBody>
          <a:bodyPr/>
          <a:lstStyle/>
          <a:p>
            <a:r>
              <a:rPr lang="da-DK" dirty="0"/>
              <a:t>Temperatur og Celsius og Kelvin skalaen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Skalaernes oprindelse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Omregning mellem skalaerne</a:t>
            </a:r>
          </a:p>
          <a:p>
            <a:r>
              <a:rPr lang="da-DK" dirty="0"/>
              <a:t>Absolut tryk</a:t>
            </a:r>
          </a:p>
          <a:p>
            <a:pPr marL="879333" lvl="1" indent="-342900"/>
            <a:r>
              <a:rPr lang="da-DK" dirty="0">
                <a:solidFill>
                  <a:schemeClr val="tx1"/>
                </a:solidFill>
              </a:rPr>
              <a:t>Atmosfæretryk, målertryk og absolut tryk</a:t>
            </a:r>
          </a:p>
          <a:p>
            <a:pPr marL="0" lvl="1" indent="0">
              <a:buNone/>
            </a:pPr>
            <a:r>
              <a:rPr lang="da-DK" sz="1800" b="1" dirty="0"/>
              <a:t>Ideale gasser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Hvad er er idealgas?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Idealgasligningen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Stofmængden n</a:t>
            </a:r>
          </a:p>
          <a:p>
            <a:pPr marL="879333" lvl="1" indent="-342900"/>
            <a:r>
              <a:rPr lang="da-DK" dirty="0">
                <a:solidFill>
                  <a:schemeClr val="tx1"/>
                </a:solidFill>
              </a:rPr>
              <a:t>Gaskonstanten R</a:t>
            </a:r>
          </a:p>
          <a:p>
            <a:pPr marL="0" lvl="1" indent="0">
              <a:buNone/>
              <a:tabLst>
                <a:tab pos="0" algn="l"/>
              </a:tabLst>
            </a:pPr>
            <a:r>
              <a:rPr lang="da-DK" sz="1800" b="1" dirty="0"/>
              <a:t>Tilstandsligningen (også idealgasligningen)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Konstant stofmængde (antal mol n)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Standardtilstanden (tryk og temperatur)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Gassers densitet (massefylde)</a:t>
            </a:r>
          </a:p>
          <a:p>
            <a:pPr marL="879333" lvl="1" indent="-342900"/>
            <a:r>
              <a:rPr lang="da-DK" dirty="0">
                <a:solidFill>
                  <a:schemeClr val="tx1"/>
                </a:solidFill>
              </a:rPr>
              <a:t>Opgave: Simulering af konstant temperatur, konstant volumen og konstant tryk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rgbClr val="FF0000"/>
                </a:solidFill>
              </a:rPr>
              <a:t> </a:t>
            </a:r>
            <a:r>
              <a:rPr lang="da-DK" dirty="0">
                <a:solidFill>
                  <a:schemeClr val="tx1"/>
                </a:solidFill>
              </a:rPr>
              <a:t>Boyle-Mariottes lov (Isoterm)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dirty="0">
                <a:solidFill>
                  <a:schemeClr val="tx1"/>
                </a:solidFill>
              </a:rPr>
              <a:t>Gay-</a:t>
            </a:r>
            <a:r>
              <a:rPr lang="da-DK" dirty="0" err="1">
                <a:solidFill>
                  <a:schemeClr val="tx1"/>
                </a:solidFill>
              </a:rPr>
              <a:t>Lussacs</a:t>
            </a:r>
            <a:r>
              <a:rPr lang="da-DK" dirty="0">
                <a:solidFill>
                  <a:schemeClr val="tx1"/>
                </a:solidFill>
              </a:rPr>
              <a:t> 1. lov (</a:t>
            </a:r>
            <a:r>
              <a:rPr lang="da-DK" dirty="0" err="1">
                <a:solidFill>
                  <a:schemeClr val="tx1"/>
                </a:solidFill>
              </a:rPr>
              <a:t>Isokor</a:t>
            </a:r>
            <a:r>
              <a:rPr lang="da-DK" dirty="0">
                <a:solidFill>
                  <a:schemeClr val="tx1"/>
                </a:solidFill>
              </a:rPr>
              <a:t>)</a:t>
            </a:r>
          </a:p>
          <a:p>
            <a:pPr marL="879333" lvl="1" indent="-342900"/>
            <a:r>
              <a:rPr lang="da-DK" dirty="0">
                <a:solidFill>
                  <a:schemeClr val="tx1"/>
                </a:solidFill>
              </a:rPr>
              <a:t>Gay-</a:t>
            </a:r>
            <a:r>
              <a:rPr lang="da-DK" dirty="0" err="1">
                <a:solidFill>
                  <a:schemeClr val="tx1"/>
                </a:solidFill>
              </a:rPr>
              <a:t>Lussacs</a:t>
            </a:r>
            <a:r>
              <a:rPr lang="da-DK" dirty="0">
                <a:solidFill>
                  <a:schemeClr val="tx1"/>
                </a:solidFill>
              </a:rPr>
              <a:t> 2. lov (Isobar)</a:t>
            </a:r>
          </a:p>
          <a:p>
            <a:pPr marL="879333" lvl="1" indent="-342900"/>
            <a:r>
              <a:rPr lang="da-DK" dirty="0">
                <a:solidFill>
                  <a:schemeClr val="tx1"/>
                </a:solidFill>
              </a:rPr>
              <a:t>Daltons lov (gasblandinger)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006793E-B127-4A92-293F-3CFF603B3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1" y="404664"/>
            <a:ext cx="9090889" cy="480067"/>
          </a:xfrm>
        </p:spPr>
        <p:txBody>
          <a:bodyPr/>
          <a:lstStyle/>
          <a:p>
            <a:r>
              <a:rPr lang="da-DK" dirty="0"/>
              <a:t>Dagens program 1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C6A99DA-CAFB-848A-6E9A-A029577AC7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E9FD94A-32F4-273E-CB83-0B00245DAF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6476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F25C7-92E0-49FF-42F5-86BF12148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CBD4A7B-F20A-F2FD-A59E-7433E22D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</a:t>
            </a:fld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E952219-B7E8-4CF1-13F5-255B6C27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Temperatur og Celsius og Kelvin skalaen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909EB59-A737-49CA-8E91-8D3553931C34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38E2D0B-0234-1E6B-D0C8-80F8029504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DEEE0FF5-4F2D-B53F-74B2-2757C7A2D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688" y="1633172"/>
            <a:ext cx="5440729" cy="448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5635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7917B-8AEE-F12C-693E-7DF27346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2F156D2-2800-CD65-2BDD-7DF9D2712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3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C71B5DEF-B090-CDCE-696A-134F9B4406D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939" y="1988840"/>
                <a:ext cx="7198357" cy="3052149"/>
              </a:xfrm>
            </p:spPr>
            <p:txBody>
              <a:bodyPr/>
              <a:lstStyle/>
              <a:p>
                <a:r>
                  <a:rPr lang="da-DK" dirty="0"/>
                  <a:t>Tryk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I bogen er alle værdier i bar absolut tryk med mindre andet er angivet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r>
                  <a:rPr lang="da-DK" sz="2000" dirty="0"/>
                  <a:t>Absolut tryk måles i forhold til et perfekt vakuum, altså et tryk på 0</a:t>
                </a:r>
              </a:p>
              <a:p>
                <a:pPr marL="879333" lvl="1" indent="-342900"/>
                <a:r>
                  <a:rPr lang="da-DK" sz="2000" dirty="0">
                    <a:solidFill>
                      <a:srgbClr val="006273"/>
                    </a:solidFill>
                  </a:rPr>
                  <a:t>Et manometer til måling af tryk i et bildæk angiver trykket dækket i forhold til atmosfæretrykket. Det absolutte tryk i dækket er derfor </a:t>
                </a:r>
              </a:p>
              <a:p>
                <a:pPr marL="536433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  <m:t>𝑎𝑏𝑠</m:t>
                          </m:r>
                        </m:sub>
                      </m:sSub>
                      <m:r>
                        <a:rPr lang="da-DK" sz="2000" b="0" i="0" smtClean="0">
                          <a:solidFill>
                            <a:srgbClr val="00627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  <m:t>𝑚𝑎𝑛</m:t>
                          </m:r>
                        </m:sub>
                      </m:sSub>
                      <m:r>
                        <a:rPr lang="da-DK" sz="2000" b="0" i="1" smtClean="0">
                          <a:solidFill>
                            <a:srgbClr val="00627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a-DK" sz="2000" i="1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a-DK" sz="2000" i="1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da-DK" sz="2000" b="0" i="1" smtClean="0">
                              <a:solidFill>
                                <a:srgbClr val="006273"/>
                              </a:solidFill>
                              <a:latin typeface="Cambria Math" panose="02040503050406030204" pitchFamily="18" charset="0"/>
                            </a:rPr>
                            <m:t>𝑎𝑡𝑚</m:t>
                          </m:r>
                        </m:sub>
                      </m:sSub>
                    </m:oMath>
                  </m:oMathPara>
                </a14:m>
                <a:endParaRPr lang="da-DK" sz="2000" dirty="0">
                  <a:solidFill>
                    <a:srgbClr val="006273"/>
                  </a:solidFill>
                </a:endParaRPr>
              </a:p>
              <a:p>
                <a:pPr marL="0" lvl="1" indent="534988">
                  <a:buNone/>
                </a:pPr>
                <a:endParaRPr lang="da-DK" dirty="0"/>
              </a:p>
              <a:p>
                <a:pPr marL="0" lvl="1" indent="0">
                  <a:buNone/>
                </a:pPr>
                <a:endParaRPr lang="da-DK" b="1" dirty="0"/>
              </a:p>
              <a:p>
                <a:pPr marL="0" lvl="1" indent="0">
                  <a:buNone/>
                </a:pPr>
                <a:endParaRPr lang="da-DK" sz="1800" b="1" dirty="0"/>
              </a:p>
              <a:p>
                <a:pPr marL="0" lvl="1" indent="0">
                  <a:buNone/>
                </a:pPr>
                <a:endParaRPr lang="da-DK" dirty="0"/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C71B5DEF-B090-CDCE-696A-134F9B4406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939" y="1988840"/>
                <a:ext cx="7198357" cy="3052149"/>
              </a:xfrm>
              <a:blipFill>
                <a:blip r:embed="rId2"/>
                <a:stretch>
                  <a:fillRect l="-508" t="-798" r="-101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BFC04837-4D19-2EC6-AAC9-632AC2E4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Ideale gasser – absolut tryk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EFF530F-1A4E-4CAE-A271-9FCB20BF48D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43A87A1-9261-4CA0-699E-98061C0D11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170" name="Picture 2" descr="absolute pressure">
            <a:extLst>
              <a:ext uri="{FF2B5EF4-FFF2-40B4-BE49-F238E27FC236}">
                <a16:creationId xmlns:a16="http://schemas.microsoft.com/office/drawing/2014/main" id="{A5A49D47-F87F-2768-04F3-6C65002B7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052" y="4562219"/>
            <a:ext cx="2985525" cy="2113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58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C17E7-C6B7-6194-36EB-497DCA93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23C75C4-1C37-7B58-7D3D-142CA9D4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4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EC457B77-1827-EDAC-B7B7-E054DDBB18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7126349" cy="4104456"/>
          </a:xfrm>
        </p:spPr>
        <p:txBody>
          <a:bodyPr/>
          <a:lstStyle/>
          <a:p>
            <a:r>
              <a:rPr lang="da-DK" b="0" dirty="0"/>
              <a:t>En ideal gas findes ikke men er en model der i visse tilfælde passer på reelle gasser, og som gør det let at regne på gassers tryk temperatur og volumen.</a:t>
            </a:r>
          </a:p>
          <a:p>
            <a:endParaRPr lang="da-DK" b="0" dirty="0"/>
          </a:p>
          <a:p>
            <a:r>
              <a:rPr lang="da-DK" b="0" dirty="0"/>
              <a:t>I hovedtræk kan en gas siges at være ideal når gassens molekyler (i </a:t>
            </a:r>
            <a:r>
              <a:rPr lang="da-DK" b="0" dirty="0" err="1"/>
              <a:t>idealgasmodellen</a:t>
            </a:r>
            <a:r>
              <a:rPr lang="da-DK" b="0" dirty="0"/>
              <a:t> modelleret som partikler) støder elastisk sammen både indbyrdes og med beholderen som gassen befinder sig i.</a:t>
            </a:r>
          </a:p>
          <a:p>
            <a:endParaRPr lang="da-DK" b="0" dirty="0"/>
          </a:p>
          <a:p>
            <a:r>
              <a:rPr lang="da-DK" b="0" dirty="0"/>
              <a:t>Der mistes ikke energi i sammenstødende og gassens indre energi påvirkes derfor ikke af sammenstødene.</a:t>
            </a:r>
          </a:p>
          <a:p>
            <a:endParaRPr lang="da-DK" b="0" dirty="0"/>
          </a:p>
          <a:p>
            <a:r>
              <a:rPr lang="da-DK" b="0" dirty="0"/>
              <a:t>Gassens molekyler påvirkes udelukkende af en kraft ved sammenstød indbyrdes eller med beholderens sider.</a:t>
            </a:r>
          </a:p>
          <a:p>
            <a:endParaRPr lang="da-DK" b="0" dirty="0"/>
          </a:p>
          <a:p>
            <a:endParaRPr lang="da-DK" dirty="0"/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35271FB-3325-056B-5529-515B5188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Ideale gasser – hvad er en idealgas?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8FB4FCD-0238-EE58-969F-85F0B8F715D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4C99A70E-12FE-1F45-74CE-E8845DD7AC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2F62E10D-FE55-F583-5574-A414CFFD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288" y="2132856"/>
            <a:ext cx="217170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221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34FCB-7C3F-29CC-6017-0851DF81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D8A592BA-53B9-AE61-9251-BB374EB31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5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20379AFA-2569-34C0-8818-4249BCF66E2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939" y="1988840"/>
                <a:ext cx="6068643" cy="4104456"/>
              </a:xfrm>
            </p:spPr>
            <p:txBody>
              <a:bodyPr/>
              <a:lstStyle/>
              <a:p>
                <a:r>
                  <a:rPr lang="da-DK" dirty="0"/>
                  <a:t>Kobler tryk, volumen, temperatur og stofmængde</a:t>
                </a:r>
              </a:p>
              <a:p>
                <a:endParaRPr lang="da-DK" sz="1800" dirty="0"/>
              </a:p>
              <a:p>
                <a:r>
                  <a:rPr lang="da-DK" sz="1800" dirty="0"/>
                  <a:t>Bygger på Boyle-Mariotte og Gay-</a:t>
                </a:r>
                <a:r>
                  <a:rPr lang="da-DK" sz="1800" dirty="0" err="1"/>
                  <a:t>Lussacs</a:t>
                </a:r>
                <a:r>
                  <a:rPr lang="da-DK" sz="1800" dirty="0"/>
                  <a:t> love</a:t>
                </a:r>
                <a:endParaRPr lang="da-DK" dirty="0"/>
              </a:p>
              <a:p>
                <a:endParaRPr lang="da-DK" sz="1800" dirty="0"/>
              </a:p>
              <a:p>
                <a:r>
                  <a:rPr lang="da-DK" sz="1800" dirty="0"/>
                  <a:t>Vi kan udlede disse love ud fra idealgasligningen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 = tryk [Pa]</a:t>
                </a:r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 = </a:t>
                </a:r>
                <a:r>
                  <a:rPr lang="da-DK" sz="1800" dirty="0"/>
                  <a:t>Volumen</a:t>
                </a:r>
                <a:r>
                  <a:rPr lang="da-DK" sz="1800" dirty="0">
                    <a:solidFill>
                      <a:srgbClr val="006273"/>
                    </a:solidFill>
                  </a:rPr>
                  <a:t> 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]</a:t>
                </a:r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 = </a:t>
                </a:r>
                <a:r>
                  <a:rPr lang="da-DK" sz="1800" dirty="0"/>
                  <a:t>stofmængde</a:t>
                </a:r>
                <a:r>
                  <a:rPr lang="da-DK" sz="1800" dirty="0">
                    <a:solidFill>
                      <a:srgbClr val="006273"/>
                    </a:solidFill>
                  </a:rPr>
                  <a:t> [mol]</a:t>
                </a:r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 = gaskonstanten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𝑃𝑎</m:t>
                        </m:r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da-DK" sz="1800" b="0" i="1" smtClean="0">
                                <a:solidFill>
                                  <a:srgbClr val="00627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a-DK" sz="1800" b="0" i="1" smtClean="0">
                                <a:solidFill>
                                  <a:srgbClr val="00627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da-DK" sz="1800" b="0" i="1" smtClean="0">
                                <a:solidFill>
                                  <a:srgbClr val="00627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𝑛𝑜𝑙</m:t>
                        </m:r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den>
                    </m:f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]</a:t>
                </a:r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= temperatur [K]</a:t>
                </a:r>
              </a:p>
              <a:p>
                <a:pPr marL="879333" lvl="1" indent="-342900"/>
                <a:endParaRPr lang="da-DK" dirty="0">
                  <a:solidFill>
                    <a:srgbClr val="006273"/>
                  </a:solidFill>
                </a:endParaRPr>
              </a:p>
              <a:p>
                <a:pPr marL="879333" lvl="1" indent="-342900"/>
                <a:endParaRPr lang="da-DK" dirty="0">
                  <a:solidFill>
                    <a:srgbClr val="006273"/>
                  </a:solidFill>
                </a:endParaRP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>
                  <a:solidFill>
                    <a:srgbClr val="FF0000"/>
                  </a:solidFill>
                </a:endParaRPr>
              </a:p>
              <a:p>
                <a:pPr marL="0" lvl="1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20379AFA-2569-34C0-8818-4249BCF66E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939" y="1988840"/>
                <a:ext cx="6068643" cy="4104456"/>
              </a:xfrm>
              <a:blipFill>
                <a:blip r:embed="rId3"/>
                <a:stretch>
                  <a:fillRect l="-603" t="-59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8328E45C-FAE3-C1CF-13E0-BB8CA5C3D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Ideale gasser – idealgasligningen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B9506AC-64E1-573F-5B9C-586E6BECE9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E546B013-645B-6BED-2BE0-C500EF8414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A94D8C7A-235B-460F-DEAF-260BCB150A3E}"/>
                  </a:ext>
                </a:extLst>
              </p:cNvPr>
              <p:cNvSpPr txBox="1"/>
              <p:nvPr/>
            </p:nvSpPr>
            <p:spPr>
              <a:xfrm>
                <a:off x="5118271" y="4149080"/>
                <a:ext cx="4416855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da-DK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4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sz="4000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A94D8C7A-235B-460F-DEAF-260BCB150A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8271" y="4149080"/>
                <a:ext cx="4416855" cy="6155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456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4583-FD5F-705A-AE47-A0876B50E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C61890B-FB09-DD69-8EF1-3C908B4B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6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17D67E3D-8853-2589-6FD6-7123C6B4E44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939" y="1988840"/>
                <a:ext cx="8782533" cy="4536504"/>
              </a:xfrm>
            </p:spPr>
            <p:txBody>
              <a:bodyPr/>
              <a:lstStyle/>
              <a:p>
                <a:r>
                  <a:rPr lang="da-DK" dirty="0"/>
                  <a:t>Stofmængden n kan opfattes som et styktal.</a:t>
                </a:r>
              </a:p>
              <a:p>
                <a:endParaRPr lang="da-DK" dirty="0"/>
              </a:p>
              <a:p>
                <a:r>
                  <a:rPr lang="da-DK" dirty="0"/>
                  <a:t>Enheden er [mol] og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𝟏</m:t>
                    </m:r>
                    <m:d>
                      <m:dPr>
                        <m:begChr m:val="["/>
                        <m:endChr m:val="]"/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𝒎𝒐𝒍</m:t>
                        </m:r>
                      </m:e>
                    </m:d>
                    <m:r>
                      <a:rPr lang="da-DK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da-DK" b="0" i="0"/>
                      <m:t>6,02214076</m:t>
                    </m:r>
                    <m:r>
                      <a:rPr lang="da-DK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nor/>
                      </m:rPr>
                      <a:rPr lang="da-DK" b="0" i="0"/>
                      <m:t>10</m:t>
                    </m:r>
                    <m:r>
                      <m:rPr>
                        <m:nor/>
                      </m:rPr>
                      <a:rPr lang="da-DK" b="0" i="0" baseline="30000"/>
                      <m:t>23</m:t>
                    </m:r>
                  </m:oMath>
                </a14:m>
                <a:r>
                  <a:rPr lang="da-DK" dirty="0"/>
                  <a:t> (Avogadros konstant)</a:t>
                </a:r>
              </a:p>
              <a:p>
                <a:endParaRPr lang="da-DK" sz="1800" dirty="0"/>
              </a:p>
              <a:p>
                <a:r>
                  <a:rPr lang="da-DK" dirty="0"/>
                  <a:t>Er stofmængden n ikke oplyst kan den findes ud fra idealgasligningen eller ud fra formlen:</a:t>
                </a:r>
              </a:p>
              <a:p>
                <a:endParaRPr lang="da-DK" sz="1800" dirty="0"/>
              </a:p>
              <a:p>
                <a:endParaRPr lang="da-DK" sz="1800" dirty="0"/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 = </a:t>
                </a:r>
                <a:r>
                  <a:rPr lang="da-DK" sz="1800" dirty="0"/>
                  <a:t>stofmængde</a:t>
                </a:r>
                <a:r>
                  <a:rPr lang="da-DK" sz="1800" dirty="0">
                    <a:solidFill>
                      <a:srgbClr val="006273"/>
                    </a:solidFill>
                  </a:rPr>
                  <a:t> [mol]</a:t>
                </a:r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da-DK" sz="1800" dirty="0"/>
                  <a:t> = masse [kg]</a:t>
                </a:r>
                <a:endParaRPr lang="da-DK" sz="1800" dirty="0">
                  <a:solidFill>
                    <a:srgbClr val="006273"/>
                  </a:solidFill>
                </a:endParaRPr>
              </a:p>
              <a:p>
                <a:pPr marL="879333" lvl="1" indent="-342900"/>
                <a14:m>
                  <m:oMath xmlns:m="http://schemas.openxmlformats.org/officeDocument/2006/math">
                    <m:r>
                      <a:rPr lang="da-DK" sz="1800" b="0" i="1" smtClean="0">
                        <a:solidFill>
                          <a:srgbClr val="006273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 = </a:t>
                </a:r>
                <a:r>
                  <a:rPr lang="da-DK" sz="1800" dirty="0"/>
                  <a:t>molmassen</a:t>
                </a:r>
                <a:r>
                  <a:rPr lang="da-DK" sz="1800" dirty="0">
                    <a:solidFill>
                      <a:srgbClr val="006273"/>
                    </a:solidFill>
                  </a:rPr>
                  <a:t>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</a:rPr>
                          <m:t>𝑘𝑔</m:t>
                        </m:r>
                      </m:num>
                      <m:den>
                        <m:r>
                          <a:rPr lang="da-DK" sz="1800" b="0" i="1" smtClean="0">
                            <a:solidFill>
                              <a:srgbClr val="00627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𝑚𝑜𝑙</m:t>
                        </m:r>
                      </m:den>
                    </m:f>
                  </m:oMath>
                </a14:m>
                <a:r>
                  <a:rPr lang="da-DK" sz="1800" dirty="0">
                    <a:solidFill>
                      <a:srgbClr val="006273"/>
                    </a:solidFill>
                  </a:rPr>
                  <a:t>] (findes i det periodiske system under hensyntagen til molekylestruktur)</a:t>
                </a:r>
              </a:p>
              <a:p>
                <a:pPr marL="879333" lvl="1" indent="-342900"/>
                <a:endParaRPr lang="da-DK" dirty="0">
                  <a:solidFill>
                    <a:srgbClr val="006273"/>
                  </a:solidFill>
                </a:endParaRPr>
              </a:p>
              <a:p>
                <a:pPr marL="879333" lvl="1" indent="-342900"/>
                <a:endParaRPr lang="da-DK" dirty="0">
                  <a:solidFill>
                    <a:srgbClr val="006273"/>
                  </a:solidFill>
                </a:endParaRP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>
                  <a:solidFill>
                    <a:srgbClr val="FF0000"/>
                  </a:solidFill>
                </a:endParaRPr>
              </a:p>
              <a:p>
                <a:pPr marL="0" lvl="1" indent="0">
                  <a:buNone/>
                </a:pPr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17D67E3D-8853-2589-6FD6-7123C6B4E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939" y="1988840"/>
                <a:ext cx="8782533" cy="4536504"/>
              </a:xfrm>
              <a:blipFill>
                <a:blip r:embed="rId2"/>
                <a:stretch>
                  <a:fillRect l="-417" t="-538" r="-347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EF8AF9AA-360D-F5EB-5700-5BCCD43F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000" dirty="0"/>
              <a:t>Idealgasligningen – stofmængden n</a:t>
            </a:r>
            <a:br>
              <a:rPr lang="da-DK" sz="2000" dirty="0"/>
            </a:b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CFED380-0AE0-087F-556E-F9632F1F5ED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3062575-E338-F585-8B16-6CEDA6992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FCF53DED-45CC-DC65-DDF6-1AC36DA78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624" y="4005064"/>
            <a:ext cx="11334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809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C4E78-B13F-A01C-25B9-298BA3DB3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427A1F19-478F-7A2C-4CCA-3A90F9CD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7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4F58BA53-3D2D-BE0A-AA78-BCDBF55A95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581836" cy="4104456"/>
          </a:xfrm>
        </p:spPr>
        <p:txBody>
          <a:bodyPr/>
          <a:lstStyle/>
          <a:p>
            <a:pPr marL="0" lvl="1" indent="534988">
              <a:buNone/>
            </a:pPr>
            <a:r>
              <a:rPr lang="da-DK" sz="1800" dirty="0"/>
              <a:t>Gaskonstanten R kan findes ud fra idealgasligningen</a:t>
            </a: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r>
              <a:rPr lang="da-DK" b="0" dirty="0"/>
              <a:t>Her indsættes standardbetingelserne for tryk og temperatur 273,15K og 1atm (101,325kPa). Volumen for 1 mol gas ved standardbetingelserne er 22,4136L, og dette indsættes ligeledes:</a:t>
            </a:r>
          </a:p>
          <a:p>
            <a:endParaRPr lang="da-DK" b="0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5934AAA0-BE36-E2E5-E8A4-8E118131B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400" b="1" dirty="0"/>
              <a:t>Idealgasligningen – gaskonstanten R</a:t>
            </a:r>
            <a:br>
              <a:rPr lang="da-DK" sz="2400" b="1" dirty="0"/>
            </a:b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C760D0AA-D7AC-BA14-9B28-7CA09CC318F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3997AB8-E354-FAB0-F992-B0410410E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FCAC7FBB-D5FA-6733-A366-BE43FF1F5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6696" y="2464749"/>
            <a:ext cx="1962150" cy="1076325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D307F0AF-D7EE-E6DE-809E-90BC24E73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62" y="4869160"/>
            <a:ext cx="6543675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75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A87D5-7DF4-1E2B-0204-57ED28012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0E31518-C068-D634-E2C0-80A3FA1E6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8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522CA540-D7C7-D847-23C2-EA2343A328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068643" cy="3052149"/>
          </a:xfrm>
        </p:spPr>
        <p:txBody>
          <a:bodyPr/>
          <a:lstStyle/>
          <a:p>
            <a:r>
              <a:rPr lang="da-DK" dirty="0"/>
              <a:t>Tilstandsligningen er bare idealgasligningen hvor stofmængden er konstant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sz="2000" dirty="0"/>
              <a:t>Med tilstande forstås tilstande en gas kan befinde sig i mht. tryk, temperatur og volumen. Der er ikke tale om forskellige faser!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sz="2000" dirty="0"/>
              <a:t>Holdes stofmængden konstant kan følgende udtryk opstille ud fra idealgasligningen:</a:t>
            </a:r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4B4CEA03-21B4-29AF-3DC9-A4C0D7323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400" b="1" dirty="0"/>
              <a:t>Tilstandsligningen – konstant stofmængde (n)</a:t>
            </a:r>
            <a:br>
              <a:rPr lang="da-DK" sz="2400" b="1" dirty="0"/>
            </a:b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F533065-E781-2839-0A77-7B85CCB9417C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63BC48F-CF18-ED77-2216-82DB32F3F4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31800C3A-4655-0311-0BA3-481B5549C4B3}"/>
                  </a:ext>
                </a:extLst>
              </p:cNvPr>
              <p:cNvSpPr txBox="1"/>
              <p:nvPr/>
            </p:nvSpPr>
            <p:spPr>
              <a:xfrm>
                <a:off x="2144688" y="5117160"/>
                <a:ext cx="4856087" cy="8961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a-DK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8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a-DK" sz="2800" i="0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da-DK" sz="2800" i="1">
                              <a:latin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da-DK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da-DK" sz="28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a-DK" sz="2800" i="1">
                          <a:latin typeface="Cambria Math" panose="02040503050406030204" pitchFamily="18" charset="0"/>
                        </a:rPr>
                        <m:t>𝑘𝑜𝑛𝑠𝑡𝑎𝑛𝑡</m:t>
                      </m:r>
                    </m:oMath>
                  </m:oMathPara>
                </a14:m>
                <a:endParaRPr lang="da-DK" sz="2800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31800C3A-4655-0311-0BA3-481B5549C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4688" y="5117160"/>
                <a:ext cx="4856087" cy="8961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7598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A7E5-A6B0-1C30-1BC6-381F26FA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2F9AB346-2110-C815-0762-199D1E3D8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9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8CDA33C-377F-89B0-C684-BB49E79FC2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6068643" cy="3052149"/>
          </a:xfrm>
        </p:spPr>
        <p:txBody>
          <a:bodyPr/>
          <a:lstStyle/>
          <a:p>
            <a:endParaRPr lang="da-DK" dirty="0">
              <a:solidFill>
                <a:srgbClr val="FF0000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sz="2000" dirty="0"/>
              <a:t>Densiteten for en gas er modsat væsker stærkt afhængig af tryk og temperatur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sz="2000" dirty="0"/>
              <a:t>Definition på densitet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sz="2000" dirty="0"/>
              <a:t>Beregning af stofmængden n</a:t>
            </a:r>
          </a:p>
          <a:p>
            <a:pPr marL="0" lvl="1" indent="0">
              <a:buNone/>
            </a:pPr>
            <a:endParaRPr lang="da-DK" sz="1800" b="1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da-DK" sz="1800" b="1" dirty="0">
              <a:solidFill>
                <a:srgbClr val="FF0000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sz="2000" dirty="0"/>
              <a:t>Med udgangspunkt i idealgasligningen kan en formel for gassers densitet udledes</a:t>
            </a:r>
          </a:p>
          <a:p>
            <a:pPr marL="0" lvl="1" indent="534988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49EEE42-8B9C-D9A9-4F00-B261ECE1F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400" b="1" dirty="0"/>
              <a:t>Tilstandsligningen – gassers densitet (massefylde)</a:t>
            </a:r>
            <a:br>
              <a:rPr lang="da-DK" sz="2400" b="1" dirty="0"/>
            </a:b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45D5498E-6358-88EA-EFB7-3FA3AE0D1ED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8AC4B92-9269-C4D6-E3B1-756801D88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7B20ED4E-E9AC-8593-F7E5-B2D66F694118}"/>
                  </a:ext>
                </a:extLst>
              </p:cNvPr>
              <p:cNvSpPr txBox="1"/>
              <p:nvPr/>
            </p:nvSpPr>
            <p:spPr>
              <a:xfrm>
                <a:off x="7000775" y="2854109"/>
                <a:ext cx="895951" cy="6325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l-GR" sz="2400" i="1" smtClean="0">
                          <a:latin typeface="Cambria Math" panose="02040503050406030204" pitchFamily="18" charset="0"/>
                        </a:rPr>
                        <m:t>ρ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a-DK" sz="24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den>
                      </m:f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5" name="Tekstfelt 4">
                <a:extLst>
                  <a:ext uri="{FF2B5EF4-FFF2-40B4-BE49-F238E27FC236}">
                    <a16:creationId xmlns:a16="http://schemas.microsoft.com/office/drawing/2014/main" id="{7B20ED4E-E9AC-8593-F7E5-B2D66F694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775" y="2854109"/>
                <a:ext cx="895951" cy="6325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737C1EC6-5E44-7786-A02A-C129E4E21EF7}"/>
                  </a:ext>
                </a:extLst>
              </p:cNvPr>
              <p:cNvSpPr txBox="1"/>
              <p:nvPr/>
            </p:nvSpPr>
            <p:spPr>
              <a:xfrm>
                <a:off x="7000775" y="5861455"/>
                <a:ext cx="1024319" cy="522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</a:rPr>
                      <m:t>ρ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sz="24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400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da-DK" sz="24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den>
                    </m:f>
                    <m:r>
                      <a:rPr lang="da-DK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>
                      <m:fPr>
                        <m:ctrlPr>
                          <a:rPr lang="da-DK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da-DK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da-DK" sz="2400" dirty="0"/>
              </a:p>
            </p:txBody>
          </p:sp>
        </mc:Choice>
        <mc:Fallback xmlns="">
          <p:sp>
            <p:nvSpPr>
              <p:cNvPr id="6" name="Tekstfelt 5">
                <a:extLst>
                  <a:ext uri="{FF2B5EF4-FFF2-40B4-BE49-F238E27FC236}">
                    <a16:creationId xmlns:a16="http://schemas.microsoft.com/office/drawing/2014/main" id="{737C1EC6-5E44-7786-A02A-C129E4E21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0775" y="5861455"/>
                <a:ext cx="1024319" cy="522515"/>
              </a:xfrm>
              <a:prstGeom prst="rect">
                <a:avLst/>
              </a:prstGeom>
              <a:blipFill>
                <a:blip r:embed="rId4"/>
                <a:stretch>
                  <a:fillRect t="-3529" b="-2117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5723640A-0184-36CE-4D9F-34A06FFEF952}"/>
                  </a:ext>
                </a:extLst>
              </p:cNvPr>
              <p:cNvSpPr txBox="1"/>
              <p:nvPr/>
            </p:nvSpPr>
            <p:spPr>
              <a:xfrm>
                <a:off x="6976946" y="3631496"/>
                <a:ext cx="896656" cy="5230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da-DK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a-DK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a-DK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da-DK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da-DK" dirty="0"/>
              </a:p>
            </p:txBody>
          </p:sp>
        </mc:Choice>
        <mc:Fallback xmlns="">
          <p:sp>
            <p:nvSpPr>
              <p:cNvPr id="10" name="Tekstfelt 9">
                <a:extLst>
                  <a:ext uri="{FF2B5EF4-FFF2-40B4-BE49-F238E27FC236}">
                    <a16:creationId xmlns:a16="http://schemas.microsoft.com/office/drawing/2014/main" id="{5723640A-0184-36CE-4D9F-34A06FFEF9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946" y="3631496"/>
                <a:ext cx="896656" cy="523028"/>
              </a:xfrm>
              <a:prstGeom prst="rect">
                <a:avLst/>
              </a:prstGeom>
              <a:blipFill>
                <a:blip r:embed="rId5"/>
                <a:stretch>
                  <a:fillRect b="-930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90968927-7743-22D2-2C5E-C35E838FCBE7}"/>
                  </a:ext>
                </a:extLst>
              </p:cNvPr>
              <p:cNvSpPr txBox="1"/>
              <p:nvPr/>
            </p:nvSpPr>
            <p:spPr>
              <a:xfrm>
                <a:off x="5588182" y="4439013"/>
                <a:ext cx="495378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da-DK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12" name="Tekstfelt 11">
                <a:extLst>
                  <a:ext uri="{FF2B5EF4-FFF2-40B4-BE49-F238E27FC236}">
                    <a16:creationId xmlns:a16="http://schemas.microsoft.com/office/drawing/2014/main" id="{90968927-7743-22D2-2C5E-C35E838FC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182" y="4439013"/>
                <a:ext cx="4953784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2D13A01A-6E36-CF2A-78B0-FA94F1E96FA0}"/>
                  </a:ext>
                </a:extLst>
              </p:cNvPr>
              <p:cNvSpPr txBox="1"/>
              <p:nvPr/>
            </p:nvSpPr>
            <p:spPr>
              <a:xfrm>
                <a:off x="5588182" y="5022900"/>
                <a:ext cx="4953784" cy="7224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da-DK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da-DK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a-DK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sz="24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</m:num>
                        <m:den>
                          <m:r>
                            <a:rPr lang="da-DK" sz="2400" i="1" dirty="0"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da-DK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da-DK" sz="2400" dirty="0"/>
              </a:p>
            </p:txBody>
          </p:sp>
        </mc:Choice>
        <mc:Fallback xmlns="">
          <p:sp>
            <p:nvSpPr>
              <p:cNvPr id="13" name="Tekstfelt 12">
                <a:extLst>
                  <a:ext uri="{FF2B5EF4-FFF2-40B4-BE49-F238E27FC236}">
                    <a16:creationId xmlns:a16="http://schemas.microsoft.com/office/drawing/2014/main" id="{2D13A01A-6E36-CF2A-78B0-FA94F1E96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8182" y="5022900"/>
                <a:ext cx="4953784" cy="7224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308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A9CF4-76BF-E226-7894-CB91476CE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9FCA974-A602-2667-34D2-AD20C4FD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10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8EB1050-6A4A-50C7-4593-968D0B68530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9090889" cy="3052149"/>
          </a:xfrm>
        </p:spPr>
        <p:txBody>
          <a:bodyPr/>
          <a:lstStyle/>
          <a:p>
            <a:r>
              <a:rPr lang="da-DK" dirty="0"/>
              <a:t>Simulering af konstant temperatur, konstant volumen og konstant tryk  (10 min.)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b="1" dirty="0"/>
              <a:t>I jeres faste makkerpar skal konstant temperatur, volumen og tryk simuleres vha. nedenstående link. Når I har klikket på linket vælges love.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r>
              <a:rPr lang="da-DK" b="1" dirty="0"/>
              <a:t>Iagttag hvad der sker i forhold til idealgasligningen…. Jeres observationer skulle gerne stemme med ligningen.</a:t>
            </a:r>
          </a:p>
          <a:p>
            <a:pPr marL="0" lvl="1" indent="0">
              <a:buNone/>
            </a:pPr>
            <a:r>
              <a:rPr lang="da-DK" sz="1800" b="1" dirty="0">
                <a:solidFill>
                  <a:srgbClr val="FF0000"/>
                </a:solidFill>
                <a:hlinkClick r:id="rId2"/>
              </a:rPr>
              <a:t>Simulering gaslove</a:t>
            </a:r>
            <a:endParaRPr lang="da-DK" sz="1800" b="1" dirty="0">
              <a:solidFill>
                <a:srgbClr val="FF0000"/>
              </a:solidFill>
            </a:endParaRPr>
          </a:p>
          <a:p>
            <a:pPr marL="0" lvl="1" indent="534988">
              <a:buNone/>
            </a:pPr>
            <a:endParaRPr lang="da-DK" dirty="0"/>
          </a:p>
          <a:p>
            <a:pPr marL="0" lvl="1" indent="534988">
              <a:buNone/>
            </a:pPr>
            <a:endParaRPr lang="da-DK" dirty="0"/>
          </a:p>
          <a:p>
            <a:pPr marL="0" lvl="1" indent="534988">
              <a:buNone/>
            </a:pPr>
            <a:r>
              <a:rPr lang="da-DK" b="1" dirty="0"/>
              <a:t>Vi snakker om jeres observationer efterfølgende</a:t>
            </a: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16D2719-4F97-0D7C-BA9B-B2320DD11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400" b="1" dirty="0"/>
              <a:t>Tilstandsligningen – opgave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79E5768-F4FF-8147-C578-3B56BA4791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73A7AA6F-D2DE-A831-6D90-DA37704C0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36320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7E59-B887-EE12-59F5-7EF1CD707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D346DBA-E33E-589F-8170-2485E4FA8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11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2125675A-2C18-2D0B-5738-ACDF8785F1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40"/>
            <a:ext cx="9090889" cy="3052149"/>
          </a:xfrm>
        </p:spPr>
        <p:txBody>
          <a:bodyPr/>
          <a:lstStyle/>
          <a:p>
            <a:r>
              <a:rPr lang="da-DK" dirty="0"/>
              <a:t>En isoterm proces (tilstandsændring) er kendetegnet ved at temperaturen</a:t>
            </a:r>
          </a:p>
          <a:p>
            <a:r>
              <a:rPr lang="da-DK" dirty="0"/>
              <a:t>er konstant over hele processen, eller sagt på en anden måde at der finder</a:t>
            </a:r>
          </a:p>
          <a:p>
            <a:r>
              <a:rPr lang="da-DK" dirty="0"/>
              <a:t>en tilstandsændring sted under konstant temperatur.</a:t>
            </a:r>
            <a:endParaRPr lang="da-DK" dirty="0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r>
              <a:rPr lang="da-DK" dirty="0"/>
              <a:t>Dette må nødvendigvis betyde at: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387C3E0C-5FD5-B6C0-A7C4-E8B27334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Boyle-Mariottes lov (isoterm tilstandsændring)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05EBCBEF-3403-6BC7-7959-8275CB167C1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20546ADC-DFCC-472A-8D0D-804D87F6D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E4534E66-2975-FD3C-009D-171A349FC4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322" y="3428999"/>
            <a:ext cx="2181225" cy="790575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3C385392-70DB-8EF3-C4F8-F659CEEEB4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621" y="4732902"/>
            <a:ext cx="195262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805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25E25-38B0-C15F-FF5C-143D0539D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B1E5FA15-241F-FF2A-5E1D-C89A3AAF5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12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8840AE3-656D-31D0-C873-FEB31DE1F9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Holdes volumen konstant under en tilstandsændring kaldes det en </a:t>
            </a:r>
            <a:r>
              <a:rPr lang="da-DK" dirty="0" err="1"/>
              <a:t>isokor</a:t>
            </a:r>
            <a:endParaRPr lang="da-DK" dirty="0"/>
          </a:p>
          <a:p>
            <a:r>
              <a:rPr lang="da-DK" dirty="0"/>
              <a:t>proces</a:t>
            </a:r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Hvilket betyder at vi kan skrive: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22DA364-C219-8207-6896-22C90229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Gay-</a:t>
            </a:r>
            <a:r>
              <a:rPr lang="da-DK" dirty="0" err="1"/>
              <a:t>Lussacs</a:t>
            </a:r>
            <a:r>
              <a:rPr lang="da-DK" dirty="0"/>
              <a:t> 1. lov (</a:t>
            </a:r>
            <a:r>
              <a:rPr lang="da-DK" dirty="0" err="1"/>
              <a:t>isokor</a:t>
            </a:r>
            <a:r>
              <a:rPr lang="da-DK" dirty="0"/>
              <a:t> tilstandsændring)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8EE311E-8D32-E30F-135E-51C3A06A6A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0FEAA667-D71C-8FB7-AA90-D2F04FBD7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6F49858E-B71A-7AA4-A1EE-E23B5FA6C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937" y="2552700"/>
            <a:ext cx="2524125" cy="175260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C9C031A2-6E26-21E0-AA4B-B8F728A59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928" y="5284023"/>
            <a:ext cx="113347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850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4ED81-0333-A4A0-AB19-0E4D7BC27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282D0F6-B950-7F65-DD02-B1A4E178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13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B876AA64-28E4-2B47-90DC-E232EE4D8C6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I det sidste tilfælde ses der på en tilstandsændring med konstant tryk, og</a:t>
            </a:r>
          </a:p>
          <a:p>
            <a:r>
              <a:rPr lang="da-DK" dirty="0"/>
              <a:t>som i tidligere tilfælde tages der udgangspunkt i idealgasligningen</a:t>
            </a:r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Og vi kan derfor skrive: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927ECC5-85EC-88EC-98B8-8B992B63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Gay-</a:t>
            </a:r>
            <a:r>
              <a:rPr lang="da-DK" dirty="0" err="1"/>
              <a:t>Lussacs</a:t>
            </a:r>
            <a:r>
              <a:rPr lang="da-DK" dirty="0"/>
              <a:t> 2. lov (isobar tilstandsændring)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D8267794-A42B-187F-A3DA-DB3124939E3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0E51D03-3EF1-55F6-BD22-AF49BDD15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8C4D79C5-FB22-539E-57FA-A67D0031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196" y="2852936"/>
            <a:ext cx="2019300" cy="1695450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DE3952E6-0821-AC2B-9ACC-885F88530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633" y="5150869"/>
            <a:ext cx="111442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212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0DE92-06F1-05BF-81EE-27B35841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7D93EF5-867F-FA46-3CA2-ABC4F8E9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14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1FB110E7-B7C7-0C5D-4140-5F3AF1F547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Til tider har man ikke en ren gas, men en blanding af flere forskellige gasser.</a:t>
            </a:r>
          </a:p>
          <a:p>
            <a:r>
              <a:rPr lang="da-DK" dirty="0"/>
              <a:t>Her kan en gasblandings tilstandsværdier findes såfremt de to andre er kendte</a:t>
            </a:r>
          </a:p>
          <a:p>
            <a:r>
              <a:rPr lang="da-DK" dirty="0"/>
              <a:t>og tilstandsværdierne for gasserne inden blanding ligeledes er kendte.</a:t>
            </a:r>
          </a:p>
          <a:p>
            <a:endParaRPr lang="da-DK" sz="1800" dirty="0"/>
          </a:p>
          <a:p>
            <a:r>
              <a:rPr lang="da-DK" dirty="0"/>
              <a:t>Gasserne skal stadig kunne regnes som idealgasser og gasserne der blandes må ikke reagere kemisk med hinanden.</a:t>
            </a:r>
          </a:p>
          <a:p>
            <a:endParaRPr lang="da-DK" sz="1800" dirty="0"/>
          </a:p>
          <a:p>
            <a:r>
              <a:rPr lang="da-DK" dirty="0"/>
              <a:t>Daltons lov siger at gasblandingens tryk er lig summen af de enkelte</a:t>
            </a:r>
          </a:p>
          <a:p>
            <a:r>
              <a:rPr lang="da-DK" dirty="0"/>
              <a:t>gassers tryk ved samme temperatur og volumen som gasblandingen.</a:t>
            </a:r>
            <a:endParaRPr lang="da-DK" sz="1800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536433" lvl="1" indent="0">
              <a:buNone/>
            </a:pP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5F995C5-40A8-3FA5-0388-50472B96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Daltons lov (</a:t>
            </a:r>
            <a:r>
              <a:rPr lang="da-DK" dirty="0" err="1"/>
              <a:t>partialtryk</a:t>
            </a:r>
            <a:r>
              <a:rPr lang="da-DK" dirty="0"/>
              <a:t> for gasblandinger) 1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59A85B04-0F0F-5610-A678-98069D339F2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AC4E978D-CF8E-344B-B78B-0A74A94434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B93D7BDF-5D1A-263D-4527-B66C6F200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848" y="5229200"/>
            <a:ext cx="1857375" cy="561975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5146E9E4-964A-4A75-F47D-CD61F022C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6696" y="1113680"/>
            <a:ext cx="5848350" cy="478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65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D7F87-9797-D0E8-8AEF-CCBC6441D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A512F1E-F04B-601E-698C-85358F27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15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7EF6D7F6-0783-49DB-ABFC-5EFBFFF20E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Man kan forestille sig at man har den enkelte gas i samme beholder som</a:t>
            </a:r>
          </a:p>
          <a:p>
            <a:r>
              <a:rPr lang="da-DK" dirty="0"/>
              <a:t>man om lidt skal have gasblandingen i. Man måler nu gassens tryk og kalder</a:t>
            </a:r>
          </a:p>
          <a:p>
            <a:r>
              <a:rPr lang="da-DK" dirty="0"/>
              <a:t>dette </a:t>
            </a:r>
            <a:r>
              <a:rPr lang="da-DK" dirty="0" err="1"/>
              <a:t>partialtrykket</a:t>
            </a:r>
            <a:r>
              <a:rPr lang="da-DK" dirty="0"/>
              <a:t> for gassen. Man gør det samme ved alle gasserne der</a:t>
            </a:r>
          </a:p>
          <a:p>
            <a:r>
              <a:rPr lang="da-DK" dirty="0"/>
              <a:t>indgår i blandingen. Til sidst lægges alle </a:t>
            </a:r>
            <a:r>
              <a:rPr lang="da-DK" dirty="0" err="1"/>
              <a:t>partialtrykkene</a:t>
            </a:r>
            <a:r>
              <a:rPr lang="da-DK" dirty="0"/>
              <a:t> sammen og man</a:t>
            </a:r>
          </a:p>
          <a:p>
            <a:r>
              <a:rPr lang="da-DK" dirty="0"/>
              <a:t>har nu det samlede tryk for gasblandingen.</a:t>
            </a:r>
          </a:p>
          <a:p>
            <a:endParaRPr lang="da-DK" sz="1800" dirty="0"/>
          </a:p>
          <a:p>
            <a:r>
              <a:rPr lang="da-DK" dirty="0"/>
              <a:t>For at beregne </a:t>
            </a:r>
            <a:r>
              <a:rPr lang="da-DK" dirty="0" err="1"/>
              <a:t>partialtrykkene</a:t>
            </a:r>
            <a:r>
              <a:rPr lang="da-DK" dirty="0"/>
              <a:t> for gasserne anvender vi tilstandsligningen:</a:t>
            </a:r>
            <a:endParaRPr lang="da-DK" sz="1800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536433" lvl="1" indent="0">
              <a:buNone/>
            </a:pPr>
            <a:endParaRPr lang="da-DK" dirty="0"/>
          </a:p>
          <a:p>
            <a:endParaRPr lang="da-DK" dirty="0"/>
          </a:p>
          <a:p>
            <a:r>
              <a:rPr lang="da-DK" dirty="0"/>
              <a:t>Her indsættes værdier for gassen før og efter overførsel til beholderen hvor</a:t>
            </a:r>
          </a:p>
          <a:p>
            <a:r>
              <a:rPr lang="da-DK" dirty="0"/>
              <a:t>gasserne skal blandes:</a:t>
            </a:r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A6C292F6-5520-8AD1-E5FA-8C9406768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Daltons lov (</a:t>
            </a:r>
            <a:r>
              <a:rPr lang="da-DK" dirty="0" err="1"/>
              <a:t>partialtryk</a:t>
            </a:r>
            <a:r>
              <a:rPr lang="da-DK" dirty="0"/>
              <a:t> for gasblandinger) 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F5382F1B-12DD-E3E3-A957-427AF3F8B87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476446F6-0B11-34AC-3E99-FADD122BC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816" y="4437112"/>
            <a:ext cx="2181225" cy="771525"/>
          </a:xfrm>
          <a:prstGeom prst="rect">
            <a:avLst/>
          </a:prstGeom>
        </p:spPr>
      </p:pic>
      <p:pic>
        <p:nvPicPr>
          <p:cNvPr id="11" name="Billede 10">
            <a:extLst>
              <a:ext uri="{FF2B5EF4-FFF2-40B4-BE49-F238E27FC236}">
                <a16:creationId xmlns:a16="http://schemas.microsoft.com/office/drawing/2014/main" id="{45B24C62-254C-76B3-E325-D3A1DD487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91" y="5940526"/>
            <a:ext cx="2076450" cy="74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565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D501-C0EB-5C97-09E3-93897F7F2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67ACDC1D-3031-1447-9729-F4B3BF52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16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B397B649-9923-7A2B-DEE6-074251BB176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939" y="1988839"/>
                <a:ext cx="9116187" cy="4320545"/>
              </a:xfrm>
            </p:spPr>
            <p:txBody>
              <a:bodyPr/>
              <a:lstStyle/>
              <a:p>
                <a:r>
                  <a:rPr lang="da-DK" dirty="0"/>
                  <a:t>Partialtrykket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´</m:t>
                        </m:r>
                      </m:e>
                      <m:sub>
                        <m:r>
                          <a:rPr lang="da-DK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a-DK" dirty="0"/>
                  <a:t> isoleres og vi får:</a:t>
                </a:r>
              </a:p>
              <a:p>
                <a:endParaRPr lang="da-DK" sz="1800" dirty="0"/>
              </a:p>
              <a:p>
                <a:endParaRPr lang="da-DK" dirty="0"/>
              </a:p>
              <a:p>
                <a:endParaRPr lang="da-DK" sz="1800" dirty="0"/>
              </a:p>
              <a:p>
                <a:endParaRPr lang="da-DK" sz="1800" dirty="0"/>
              </a:p>
              <a:p>
                <a:pPr marL="0" lvl="1" indent="0">
                  <a:buNone/>
                </a:pPr>
                <a:r>
                  <a:rPr lang="da-DK" sz="1800" b="1" dirty="0"/>
                  <a:t>Partialtrykket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a-DK" sz="1800" b="1" i="1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da-DK" sz="1800" b="1" i="1">
                            <a:latin typeface="Cambria Math" panose="02040503050406030204" pitchFamily="18" charset="0"/>
                          </a:rPr>
                          <m:t>´</m:t>
                        </m:r>
                      </m:e>
                      <m:sub>
                        <m:r>
                          <a:rPr lang="da-DK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a-DK" sz="1800" b="1" dirty="0"/>
                  <a:t> isoleres og vi får:</a:t>
                </a:r>
              </a:p>
              <a:p>
                <a:pPr marL="0" lvl="1" indent="0">
                  <a:buNone/>
                </a:pPr>
                <a:endParaRPr lang="da-DK" dirty="0"/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pPr marL="536433" lvl="1" indent="0">
                  <a:buNone/>
                </a:pPr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Herefter indsættes </a:t>
                </a:r>
                <a:r>
                  <a:rPr lang="da-DK" dirty="0" err="1"/>
                  <a:t>partialtrykkene</a:t>
                </a:r>
                <a:r>
                  <a:rPr lang="da-DK" dirty="0"/>
                  <a:t> i formlen for Daltons lov og gasblandingens</a:t>
                </a:r>
              </a:p>
              <a:p>
                <a:r>
                  <a:rPr lang="da-DK" dirty="0"/>
                  <a:t>tryk findes:</a:t>
                </a:r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B397B649-9923-7A2B-DEE6-074251BB17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939" y="1988839"/>
                <a:ext cx="9116187" cy="4320545"/>
              </a:xfrm>
              <a:blipFill>
                <a:blip r:embed="rId2"/>
                <a:stretch>
                  <a:fillRect l="-401" t="-56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D1028B9D-4B0C-3C6D-E4B3-5388B49C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Daltons lov (</a:t>
            </a:r>
            <a:r>
              <a:rPr lang="da-DK" dirty="0" err="1"/>
              <a:t>partialtryk</a:t>
            </a:r>
            <a:r>
              <a:rPr lang="da-DK" dirty="0"/>
              <a:t> for gasblandinger) 3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C59481D-60F2-75B3-EFA5-FAA681ED51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F2B0A86-4C22-7BCD-5E15-B4DABE33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864" y="2441450"/>
            <a:ext cx="1866900" cy="771525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92A45F8F-7DEC-6797-583E-A88BDF4512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158" y="4157310"/>
            <a:ext cx="1819275" cy="695325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3A887E7D-59C7-9956-114E-07A91E7ED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050" y="5756382"/>
            <a:ext cx="4581525" cy="904875"/>
          </a:xfrm>
          <a:prstGeom prst="rect">
            <a:avLst/>
          </a:prstGeom>
        </p:spPr>
      </p:pic>
      <p:pic>
        <p:nvPicPr>
          <p:cNvPr id="15" name="Billede 14">
            <a:extLst>
              <a:ext uri="{FF2B5EF4-FFF2-40B4-BE49-F238E27FC236}">
                <a16:creationId xmlns:a16="http://schemas.microsoft.com/office/drawing/2014/main" id="{6630272C-B79D-205D-7875-40768BD885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7096" y="-9879"/>
            <a:ext cx="3971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647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34C7F-0D29-CC7F-25C2-BBF7EF8D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8668CA13-217B-0059-EFD7-4A96D0AA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17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314BD245-589A-0639-9E43-20649B81474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Regn opgave:</a:t>
            </a:r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9.14.1, 9.14.2, 9.14.3, 9.14.4</a:t>
            </a:r>
          </a:p>
          <a:p>
            <a:endParaRPr lang="da-DK" dirty="0"/>
          </a:p>
          <a:p>
            <a:r>
              <a:rPr lang="da-DK" dirty="0"/>
              <a:t>Og følgende opgaver i opgavehæftet (</a:t>
            </a:r>
            <a:r>
              <a:rPr lang="da-DK" dirty="0" err="1"/>
              <a:t>ebog</a:t>
            </a:r>
            <a:r>
              <a:rPr lang="da-DK" dirty="0"/>
              <a:t>):</a:t>
            </a:r>
          </a:p>
          <a:p>
            <a:endParaRPr lang="da-DK" dirty="0"/>
          </a:p>
          <a:p>
            <a:r>
              <a:rPr lang="da-DK" dirty="0"/>
              <a:t>9.47, 9.48, 9.50, 9.51 og 9.58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pPr marL="536433" lvl="1" indent="0">
              <a:buNone/>
            </a:pPr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6570F343-9D06-7EEB-518B-73178C50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Opgaveregning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187B7C1-177F-7290-2788-EFA6A61CF49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76342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E178-787D-019F-BEA9-C04F584BE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76DE8A09-EFD9-1E11-3843-5F73698D3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18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6CB11215-22DD-B0F4-EEC4-48890047CC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6129" y="904308"/>
            <a:ext cx="9068709" cy="5049384"/>
          </a:xfrm>
        </p:spPr>
        <p:txBody>
          <a:bodyPr/>
          <a:lstStyle/>
          <a:p>
            <a:r>
              <a:rPr lang="da-DK" dirty="0"/>
              <a:t>En gasarts indre energi</a:t>
            </a:r>
          </a:p>
          <a:p>
            <a:endParaRPr lang="da-DK" dirty="0"/>
          </a:p>
          <a:p>
            <a:r>
              <a:rPr lang="da-DK" dirty="0"/>
              <a:t>Varmeteoriens 1. hovedsætning</a:t>
            </a:r>
          </a:p>
          <a:p>
            <a:endParaRPr lang="da-DK" dirty="0"/>
          </a:p>
          <a:p>
            <a:pPr marL="0" lvl="1" indent="0">
              <a:buNone/>
            </a:pPr>
            <a:r>
              <a:rPr lang="da-DK" sz="1800" b="1" dirty="0"/>
              <a:t>Varmeteoriens 2. hovedsætning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>
              <a:solidFill>
                <a:srgbClr val="FF0000"/>
              </a:solidFill>
            </a:endParaRPr>
          </a:p>
          <a:p>
            <a:pPr marL="536433" lvl="1" indent="0">
              <a:buNone/>
            </a:pPr>
            <a:endParaRPr lang="da-DK" dirty="0"/>
          </a:p>
          <a:p>
            <a:pPr marL="0" lvl="1" indent="0">
              <a:buNone/>
            </a:pPr>
            <a:endParaRPr lang="da-DK" b="1" dirty="0"/>
          </a:p>
          <a:p>
            <a:pPr marL="0" lvl="1" indent="0">
              <a:buNone/>
            </a:pPr>
            <a:endParaRPr lang="da-DK" sz="1800" b="1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D554D401-C637-562E-B828-19699EFB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521" y="404664"/>
            <a:ext cx="9090889" cy="480067"/>
          </a:xfrm>
        </p:spPr>
        <p:txBody>
          <a:bodyPr/>
          <a:lstStyle/>
          <a:p>
            <a:r>
              <a:rPr lang="da-DK" dirty="0"/>
              <a:t>Dagens program 2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1292F2A9-90A9-DFD5-D073-7ECAF546F4B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553BA000-40D2-6146-094D-2AE6F322C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17464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0E248-7018-09C1-21D4-95AF7AB78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A92AD966-5272-317A-918B-D526FE886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19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E6025917-C242-7689-FBE8-ECD4CD6C4E7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18939" y="1988839"/>
                <a:ext cx="9116187" cy="4320545"/>
              </a:xfrm>
            </p:spPr>
            <p:txBody>
              <a:bodyPr/>
              <a:lstStyle/>
              <a:p>
                <a:r>
                  <a:rPr lang="da-DK" dirty="0"/>
                  <a:t>Indre energi og temperatur hænger for en idealgas sammen da en stigning i</a:t>
                </a:r>
              </a:p>
              <a:p>
                <a:r>
                  <a:rPr lang="da-DK" dirty="0"/>
                  <a:t>temperatur medfører en stigning i gassens samlede kinetiske energi.</a:t>
                </a:r>
              </a:p>
              <a:p>
                <a:endParaRPr lang="da-DK" dirty="0"/>
              </a:p>
              <a:p>
                <a:r>
                  <a:rPr lang="da-DK" dirty="0"/>
                  <a:t> Kelvinskalaen er defineret ud fra det absolutte nulpunkt. Her er den kinetiske</a:t>
                </a:r>
              </a:p>
              <a:p>
                <a:r>
                  <a:rPr lang="da-DK" dirty="0"/>
                  <a:t>energi for en gas lig 0, hvilket vil sige at der ikke er bevægelse i gassens</a:t>
                </a:r>
              </a:p>
              <a:p>
                <a:r>
                  <a:rPr lang="da-DK" dirty="0"/>
                  <a:t>molekyler. </a:t>
                </a:r>
              </a:p>
              <a:p>
                <a:endParaRPr lang="da-DK" dirty="0"/>
              </a:p>
              <a:p>
                <a:r>
                  <a:rPr lang="da-DK" dirty="0"/>
                  <a:t>Den indre energi for en gas benævnes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da-DK" dirty="0"/>
                  <a:t> og da denne som nævnt</a:t>
                </a:r>
              </a:p>
              <a:p>
                <a:r>
                  <a:rPr lang="da-DK" dirty="0"/>
                  <a:t>afhænger af temperaturen kan den indre energi udtrykkes som en funktion</a:t>
                </a:r>
              </a:p>
              <a:p>
                <a:r>
                  <a:rPr lang="da-DK" dirty="0"/>
                  <a:t>af temperaturen:</a:t>
                </a:r>
              </a:p>
              <a:p>
                <a:endParaRPr lang="da-DK" dirty="0"/>
              </a:p>
              <a:p>
                <a:pPr marL="0" lvl="1" indent="0">
                  <a:buNone/>
                </a:pPr>
                <a:endParaRPr lang="da-DK" sz="1800" b="1" dirty="0"/>
              </a:p>
              <a:p>
                <a:pPr marL="0" lvl="1" indent="0">
                  <a:buNone/>
                </a:pPr>
                <a:endParaRPr lang="da-DK" dirty="0"/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r>
                  <a:rPr lang="da-DK" dirty="0" err="1"/>
                  <a:t>bla</a:t>
                </a: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E6025917-C242-7689-FBE8-ECD4CD6C4E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18939" y="1988839"/>
                <a:ext cx="9116187" cy="4320545"/>
              </a:xfrm>
              <a:blipFill>
                <a:blip r:embed="rId3"/>
                <a:stretch>
                  <a:fillRect l="-401" t="-564" b="-37094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C0429813-CD90-AA09-036F-A3A180E97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En gasarts indre energi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37439886-7D06-1BB3-487B-AE915E71E92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BE9E8E5F-56C5-41E6-C6DF-A15360330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8CA60D94-EE7C-5298-A832-0009F6E2A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856" y="5373216"/>
            <a:ext cx="10763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1872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D9A02-7BC6-E0BB-4EB7-F9B494C49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C114E71B-4273-F28F-3C5C-B0B26E2E5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20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629D3B1B-4822-4209-0668-584C3A3E4F7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7" y="1787846"/>
                <a:ext cx="5470165" cy="3600401"/>
              </a:xfrm>
            </p:spPr>
            <p:txBody>
              <a:bodyPr/>
              <a:lstStyle/>
              <a:p>
                <a:r>
                  <a:rPr lang="da-DK" dirty="0"/>
                  <a:t>Som vi lige har set hænger temperaturen for en gas sammen med gassens indre energi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da-DK" dirty="0"/>
                  <a:t>. For at hæve eller sænke gassens </a:t>
                </a:r>
                <a:r>
                  <a:rPr lang="da-DK" dirty="0" err="1"/>
                  <a:t>gassens</a:t>
                </a:r>
                <a:r>
                  <a:rPr lang="da-DK" dirty="0"/>
                  <a:t> indre energi skal der tilføres eller fjernes energi fra gassen.</a:t>
                </a:r>
              </a:p>
              <a:p>
                <a:endParaRPr lang="da-DK" dirty="0"/>
              </a:p>
              <a:p>
                <a:r>
                  <a:rPr lang="da-DK" dirty="0"/>
                  <a:t>Kan gøres ved at tilføre eller fjerne energi i form af varme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𝑸</m:t>
                    </m:r>
                  </m:oMath>
                </a14:m>
                <a:r>
                  <a:rPr lang="da-DK" dirty="0"/>
                  <a:t>.</a:t>
                </a:r>
              </a:p>
              <a:p>
                <a:endParaRPr lang="da-DK" dirty="0"/>
              </a:p>
              <a:p>
                <a:r>
                  <a:rPr lang="da-DK" dirty="0"/>
                  <a:t>Kan også gøres ved at udføre et arbejde på gassen eller lade gassen udføre et arbejde på omgivelserne.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endParaRPr lang="da-DK" sz="1800" b="1" dirty="0"/>
              </a:p>
              <a:p>
                <a:endParaRPr lang="da-DK" sz="1800" b="1" dirty="0"/>
              </a:p>
              <a:p>
                <a:pPr marL="0" lvl="1" indent="0">
                  <a:buNone/>
                </a:pPr>
                <a:endParaRPr lang="da-DK" dirty="0"/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r>
                  <a:rPr lang="da-DK" dirty="0" err="1"/>
                  <a:t>bla</a:t>
                </a:r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629D3B1B-4822-4209-0668-584C3A3E4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7" y="1787846"/>
                <a:ext cx="5470165" cy="3600401"/>
              </a:xfrm>
              <a:blipFill>
                <a:blip r:embed="rId2"/>
                <a:stretch>
                  <a:fillRect l="-669" t="-677" r="-1003" b="-90355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E9D56104-00F7-398E-879A-3A52D2179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Varmeteoriens 1. hovedsætning 1/4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D4ADD62-A5D7-FE21-C7E9-DC865006E88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347B4B31-B513-CEAB-BC35-AE9D40953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043" y="2276872"/>
            <a:ext cx="3641301" cy="3024336"/>
          </a:xfrm>
          <a:prstGeom prst="rect">
            <a:avLst/>
          </a:prstGeom>
        </p:spPr>
      </p:pic>
      <p:sp>
        <p:nvSpPr>
          <p:cNvPr id="10" name="Pladsholder til indhold 8">
            <a:extLst>
              <a:ext uri="{FF2B5EF4-FFF2-40B4-BE49-F238E27FC236}">
                <a16:creationId xmlns:a16="http://schemas.microsoft.com/office/drawing/2014/main" id="{AF3DDCC4-8971-4294-0CC3-9FE9BFB9BB98}"/>
              </a:ext>
            </a:extLst>
          </p:cNvPr>
          <p:cNvSpPr txBox="1">
            <a:spLocks/>
          </p:cNvSpPr>
          <p:nvPr/>
        </p:nvSpPr>
        <p:spPr>
          <a:xfrm>
            <a:off x="418939" y="5733256"/>
            <a:ext cx="9116187" cy="576128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Tilvæksten i indre energi som følge af opvarmning og arbejde kan skrives som:</a:t>
            </a:r>
          </a:p>
          <a:p>
            <a:pPr marL="0" lvl="1" indent="0">
              <a:buFont typeface="Arial" pitchFamily="34" charset="0"/>
              <a:buNone/>
            </a:pPr>
            <a:endParaRPr lang="da-DK" sz="1800" b="1" dirty="0"/>
          </a:p>
          <a:p>
            <a:pPr marL="0" lvl="1" indent="0">
              <a:buFont typeface="Arial" pitchFamily="34" charset="0"/>
              <a:buNone/>
            </a:pPr>
            <a:endParaRPr lang="da-DK" dirty="0"/>
          </a:p>
          <a:p>
            <a:pPr marL="879333" lvl="1" indent="-342900"/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 err="1"/>
              <a:t>bla</a:t>
            </a:r>
            <a:endParaRPr lang="da-DK" dirty="0"/>
          </a:p>
          <a:p>
            <a:endParaRPr lang="da-DK" dirty="0"/>
          </a:p>
        </p:txBody>
      </p:sp>
      <p:pic>
        <p:nvPicPr>
          <p:cNvPr id="13" name="Billede 12">
            <a:extLst>
              <a:ext uri="{FF2B5EF4-FFF2-40B4-BE49-F238E27FC236}">
                <a16:creationId xmlns:a16="http://schemas.microsoft.com/office/drawing/2014/main" id="{E3DDDCE8-598E-6DDF-A5DC-F89BEE0AFB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872" y="6216243"/>
            <a:ext cx="18764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14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03A5-F3D1-EF6D-EC5D-A6613917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53ABAA8B-EE26-A6EA-6ADA-2A30D38B6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21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F546E29E-8BB8-02FF-9F2E-B5A05ABA2C5B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7" y="2131244"/>
                <a:ext cx="5470165" cy="3600401"/>
              </a:xfrm>
            </p:spPr>
            <p:txBody>
              <a:bodyPr/>
              <a:lstStyle/>
              <a:p>
                <a:r>
                  <a:rPr lang="da-DK" dirty="0"/>
                  <a:t>Kaldes varmeteoriens 1. hovedsætning.</a:t>
                </a:r>
              </a:p>
              <a:p>
                <a:endParaRPr lang="da-DK" dirty="0"/>
              </a:p>
              <a:p>
                <a:r>
                  <a:rPr lang="da-DK" dirty="0"/>
                  <a:t>Varme og arbejde regnes med fortegns således at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𝒅𝑸</m:t>
                    </m:r>
                  </m:oMath>
                </a14:m>
                <a:r>
                  <a:rPr lang="da-DK" b="0" dirty="0"/>
                  <a:t> </a:t>
                </a:r>
                <a:r>
                  <a:rPr lang="da-DK" dirty="0"/>
                  <a:t>er positiv når der tilføres varme til gassen og negativ når der afgives varme fra gassen.</a:t>
                </a:r>
              </a:p>
              <a:p>
                <a:endParaRPr lang="da-DK" dirty="0"/>
              </a:p>
              <a:p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𝒅𝑾</m:t>
                    </m:r>
                  </m:oMath>
                </a14:m>
                <a:r>
                  <a:rPr lang="da-DK" dirty="0"/>
                  <a:t> er positiv når omgivelserne udfører et</a:t>
                </a:r>
              </a:p>
              <a:p>
                <a:r>
                  <a:rPr lang="da-DK" dirty="0"/>
                  <a:t>arbejde på gassen (kompression) og negativt når gassen udfører et arbejde på omgivelserne (ekspansion).</a:t>
                </a:r>
              </a:p>
              <a:p>
                <a:pPr marL="879333" lvl="1" indent="-342900">
                  <a:buFont typeface="Arial" panose="020B0604020202020204" pitchFamily="34" charset="0"/>
                  <a:buChar char="•"/>
                </a:pPr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F546E29E-8BB8-02FF-9F2E-B5A05ABA2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7" y="2131244"/>
                <a:ext cx="5470165" cy="3600401"/>
              </a:xfrm>
              <a:blipFill>
                <a:blip r:embed="rId2"/>
                <a:stretch>
                  <a:fillRect l="-669" t="-847" r="-44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424155BC-FCA6-2DB6-F31B-FDDBF4D02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Varmeteoriens 1. hovedsætning 2/4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62CDE4C1-3510-64F0-4D50-A16B8E62009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9633C0A1-9688-03FD-EB10-E6B5CCB4F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043" y="2276872"/>
            <a:ext cx="3641301" cy="3024336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1AD4DC6D-58F7-AA43-5E80-10F834E8F2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765" y="1655810"/>
            <a:ext cx="1876425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2943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37BA4-704A-D8A7-8F21-6105F7A0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30CFB89C-740E-48F2-7816-0E4614720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22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0F70B043-8D6D-31BD-14A1-6BE42037E29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7" y="2131244"/>
                <a:ext cx="5470165" cy="4394100"/>
              </a:xfrm>
            </p:spPr>
            <p:txBody>
              <a:bodyPr/>
              <a:lstStyle/>
              <a:p>
                <a:r>
                  <a:rPr lang="da-DK" dirty="0"/>
                  <a:t>Da arbejdet skal være positivt ved kompression må der ved beregning af arbejdet introduceres et negativt fortegn da volumenændringen</a:t>
                </a:r>
              </a:p>
              <a:p>
                <a:r>
                  <a:rPr lang="da-DK" dirty="0"/>
                  <a:t>bliver negativ ved kompression. </a:t>
                </a:r>
              </a:p>
              <a:p>
                <a:endParaRPr lang="da-DK" dirty="0"/>
              </a:p>
              <a:p>
                <a:r>
                  <a:rPr lang="da-DK" dirty="0"/>
                  <a:t>Ændringen i arbejdet kan derfor skrives som:</a:t>
                </a:r>
              </a:p>
              <a:p>
                <a:endParaRPr lang="da-DK" dirty="0"/>
              </a:p>
              <a:p>
                <a:r>
                  <a:rPr lang="da-DK" dirty="0"/>
                  <a:t>Her regnes trykket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da-DK" dirty="0"/>
                  <a:t> konstant under den lille volumenændring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𝒅𝑽</m:t>
                    </m:r>
                  </m:oMath>
                </a14:m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Er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da-DK" dirty="0"/>
                  <a:t> konstant gennem hele processen (isobar proces) kan udtrykket skrives som:</a:t>
                </a:r>
              </a:p>
              <a:p>
                <a:endParaRPr lang="da-DK" dirty="0"/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0F70B043-8D6D-31BD-14A1-6BE42037E2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7" y="2131244"/>
                <a:ext cx="5470165" cy="4394100"/>
              </a:xfrm>
              <a:blipFill>
                <a:blip r:embed="rId3"/>
                <a:stretch>
                  <a:fillRect l="-669" t="-694" r="-44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5A32E6CF-AC0F-9CE4-FDF1-95125CD58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Varmeteoriens 1. hovedsætning 3/4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7EB5CDB-E2E2-F340-90C0-6F160D7ECE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7" name="Billede 6">
            <a:extLst>
              <a:ext uri="{FF2B5EF4-FFF2-40B4-BE49-F238E27FC236}">
                <a16:creationId xmlns:a16="http://schemas.microsoft.com/office/drawing/2014/main" id="{AD538169-F1CD-EB6E-96E9-0B5C2FD056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043" y="2276872"/>
            <a:ext cx="3641301" cy="3024336"/>
          </a:xfrm>
          <a:prstGeom prst="rect">
            <a:avLst/>
          </a:prstGeom>
        </p:spPr>
      </p:pic>
      <p:pic>
        <p:nvPicPr>
          <p:cNvPr id="13" name="Billede 12">
            <a:extLst>
              <a:ext uri="{FF2B5EF4-FFF2-40B4-BE49-F238E27FC236}">
                <a16:creationId xmlns:a16="http://schemas.microsoft.com/office/drawing/2014/main" id="{5F4AD235-C7B2-55A4-30AD-322017BBC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1340" y="1684707"/>
            <a:ext cx="1876425" cy="438150"/>
          </a:xfrm>
          <a:prstGeom prst="rect">
            <a:avLst/>
          </a:prstGeom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AD34E40C-501B-7E75-BE39-41F2C46297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2680" y="3980710"/>
            <a:ext cx="1704975" cy="381000"/>
          </a:xfrm>
          <a:prstGeom prst="rect">
            <a:avLst/>
          </a:prstGeom>
        </p:spPr>
      </p:pic>
      <p:pic>
        <p:nvPicPr>
          <p:cNvPr id="10" name="Billede 9">
            <a:extLst>
              <a:ext uri="{FF2B5EF4-FFF2-40B4-BE49-F238E27FC236}">
                <a16:creationId xmlns:a16="http://schemas.microsoft.com/office/drawing/2014/main" id="{399035AC-2607-717E-997D-378CB2DA2B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8990" y="6006504"/>
            <a:ext cx="16287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155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88FD2-630D-7443-529F-93796B5A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05A9B009-EE46-5739-6CD5-B48E8EDAB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23</a:t>
            </a:fld>
            <a:endParaRPr lang="da-D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2503436E-3C32-9BA7-0868-36790A5ACD7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444237" y="1527620"/>
                <a:ext cx="6399725" cy="5069732"/>
              </a:xfrm>
            </p:spPr>
            <p:txBody>
              <a:bodyPr/>
              <a:lstStyle/>
              <a:p>
                <a:r>
                  <a:rPr lang="da-DK" dirty="0"/>
                  <a:t>Er der ikke tale om en isobar proces udtrykkes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da-DK" dirty="0"/>
                  <a:t> som funktion af volumen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da-DK" dirty="0"/>
                  <a:t> og nedenstående udtryk kan opstilles: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Det ses her at arbejdet </a:t>
                </a:r>
                <a14:m>
                  <m:oMath xmlns:m="http://schemas.openxmlformats.org/officeDocument/2006/math">
                    <m:r>
                      <a:rPr lang="da-DK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da-DK" dirty="0"/>
                  <a:t> vil være lig arealet under V, p-grafen. </a:t>
                </a:r>
              </a:p>
              <a:p>
                <a:endParaRPr lang="da-DK" dirty="0"/>
              </a:p>
              <a:p>
                <a:r>
                  <a:rPr lang="da-DK" dirty="0"/>
                  <a:t>Det er også værd at bemærke at varmeteoriens 1. hovedsætning nu kan skrives som:</a:t>
                </a:r>
              </a:p>
              <a:p>
                <a:endParaRPr lang="da-DK" dirty="0"/>
              </a:p>
              <a:p>
                <a:endParaRPr lang="da-DK" dirty="0"/>
              </a:p>
              <a:p>
                <a:endParaRPr lang="da-DK" dirty="0"/>
              </a:p>
              <a:p>
                <a:r>
                  <a:rPr lang="da-DK" dirty="0"/>
                  <a:t>Med ord kan man skrive varmeteoriens 1. hovedsætning som:</a:t>
                </a:r>
              </a:p>
            </p:txBody>
          </p:sp>
        </mc:Choice>
        <mc:Fallback xmlns="">
          <p:sp>
            <p:nvSpPr>
              <p:cNvPr id="9" name="Pladsholder til indhold 8">
                <a:extLst>
                  <a:ext uri="{FF2B5EF4-FFF2-40B4-BE49-F238E27FC236}">
                    <a16:creationId xmlns:a16="http://schemas.microsoft.com/office/drawing/2014/main" id="{2503436E-3C32-9BA7-0868-36790A5ACD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444237" y="1527620"/>
                <a:ext cx="6399725" cy="5069732"/>
              </a:xfrm>
              <a:blipFill>
                <a:blip r:embed="rId2"/>
                <a:stretch>
                  <a:fillRect l="-571" t="-60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el 7">
            <a:extLst>
              <a:ext uri="{FF2B5EF4-FFF2-40B4-BE49-F238E27FC236}">
                <a16:creationId xmlns:a16="http://schemas.microsoft.com/office/drawing/2014/main" id="{40B27A5F-2A34-AEFD-9FFB-609486179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dirty="0"/>
              <a:t>Varmeteoriens 1. hovedsætning 4/4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269B2A98-3DDC-BEB0-910A-9B6AD41F0A0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3BC55EDC-F34E-AC65-A136-3A57A5EAD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298" y="2316428"/>
            <a:ext cx="2533650" cy="857250"/>
          </a:xfrm>
          <a:prstGeom prst="rect">
            <a:avLst/>
          </a:prstGeom>
        </p:spPr>
      </p:pic>
      <p:pic>
        <p:nvPicPr>
          <p:cNvPr id="12" name="Billede 11">
            <a:extLst>
              <a:ext uri="{FF2B5EF4-FFF2-40B4-BE49-F238E27FC236}">
                <a16:creationId xmlns:a16="http://schemas.microsoft.com/office/drawing/2014/main" id="{294A3C0A-DA1F-1653-2089-3AB620533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648" y="4653136"/>
            <a:ext cx="3028950" cy="781050"/>
          </a:xfrm>
          <a:prstGeom prst="rect">
            <a:avLst/>
          </a:prstGeom>
        </p:spPr>
      </p:pic>
      <p:sp>
        <p:nvSpPr>
          <p:cNvPr id="16" name="Pladsholder til indhold 8">
            <a:extLst>
              <a:ext uri="{FF2B5EF4-FFF2-40B4-BE49-F238E27FC236}">
                <a16:creationId xmlns:a16="http://schemas.microsoft.com/office/drawing/2014/main" id="{1357914B-DD32-59AD-AF7C-A317EE5326BC}"/>
              </a:ext>
            </a:extLst>
          </p:cNvPr>
          <p:cNvSpPr txBox="1">
            <a:spLocks/>
          </p:cNvSpPr>
          <p:nvPr/>
        </p:nvSpPr>
        <p:spPr>
          <a:xfrm>
            <a:off x="1223222" y="6011130"/>
            <a:ext cx="6934358" cy="576128"/>
          </a:xfrm>
          <a:prstGeom prst="rect">
            <a:avLst/>
          </a:prstGeom>
        </p:spPr>
        <p:txBody>
          <a:bodyPr vert="horz" lIns="107287" tIns="53643" rIns="107287" bIns="53643" rtlCol="0">
            <a:noAutofit/>
          </a:bodyPr>
          <a:lstStyle>
            <a:lvl1pPr marL="0" indent="0" algn="l" defTabSz="1072866" rtl="0" eaLnBrk="1" latinLnBrk="0" hangingPunct="1">
              <a:spcBef>
                <a:spcPct val="20000"/>
              </a:spcBef>
              <a:buSzPct val="25000"/>
              <a:buFontTx/>
              <a:buNone/>
              <a:defRPr sz="1800" b="1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312919" indent="-281255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52898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735733" indent="-206751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944346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52958" indent="-20861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tabLst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69022" indent="-216063" algn="l" defTabSz="1072866" rtl="0" eaLnBrk="1" latinLnBrk="0" hangingPunct="1">
              <a:spcBef>
                <a:spcPct val="20000"/>
              </a:spcBef>
              <a:buClr>
                <a:schemeClr val="bg1">
                  <a:lumMod val="85000"/>
                </a:schemeClr>
              </a:buClr>
              <a:buFont typeface="Arial" pitchFamily="34" charset="0"/>
              <a:buChar char="•"/>
              <a:defRPr sz="1400" kern="1200" baseline="0">
                <a:solidFill>
                  <a:srgbClr val="006273"/>
                </a:solidFill>
                <a:latin typeface="Arial" pitchFamily="34" charset="0"/>
                <a:ea typeface="+mn-ea"/>
                <a:cs typeface="Arial" pitchFamily="34" charset="0"/>
              </a:defRPr>
            </a:lvl7pPr>
            <a:lvl8pPr marL="4023246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59678" indent="-268216" algn="l" defTabSz="107286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b="0" dirty="0"/>
              <a:t>”Energi kan ikke opstå eller forsvinde, men kan udelukkende overgå fra en form til en anden.”</a:t>
            </a:r>
            <a:endParaRPr lang="da-DK" dirty="0"/>
          </a:p>
          <a:p>
            <a:pPr marL="0" lvl="1" indent="0">
              <a:buFont typeface="Arial" pitchFamily="34" charset="0"/>
              <a:buNone/>
            </a:pPr>
            <a:endParaRPr lang="da-DK" dirty="0"/>
          </a:p>
          <a:p>
            <a:pPr marL="879333" lvl="1" indent="-342900"/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7C5D702C-AF60-255C-2F30-27A63D6555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948" y="1298150"/>
            <a:ext cx="3028950" cy="4773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792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67222-4279-CDAB-E944-A966478B3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193ECA4A-2467-A491-0B01-9242500DA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24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DCC7B98C-AEAF-BC9F-933C-61AC55F6AC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6982333" cy="4320545"/>
          </a:xfrm>
        </p:spPr>
        <p:txBody>
          <a:bodyPr/>
          <a:lstStyle/>
          <a:p>
            <a:r>
              <a:rPr lang="da-DK" dirty="0"/>
              <a:t>Varmeteoriens 1. hovedsætning siger ikke noget om hvilken retning en proces vil forløbe, og at 1. hovedsætning er overholdt er ikke ensbetydende med at processen overhovedet kan forløbe.</a:t>
            </a:r>
          </a:p>
          <a:p>
            <a:endParaRPr lang="da-DK" sz="1800" dirty="0"/>
          </a:p>
          <a:p>
            <a:r>
              <a:rPr lang="da-DK" dirty="0"/>
              <a:t>Intuitivt ved man godt at en varm kop kaffe ikke bliver varmere af at stå på bordet, men koldere. Vi siger at sådan en proces er irreversibel.</a:t>
            </a:r>
          </a:p>
          <a:p>
            <a:endParaRPr lang="da-DK" sz="1800" dirty="0"/>
          </a:p>
          <a:p>
            <a:r>
              <a:rPr lang="da-DK" dirty="0"/>
              <a:t>Alle virkelige processer er irreversible. Reversible processer er kun tænkte processer og alle processer vi gennemgik i forbindelse med gaslovene er reversible processer. </a:t>
            </a:r>
            <a:endParaRPr lang="da-DK" sz="1800" dirty="0"/>
          </a:p>
          <a:p>
            <a:pPr marL="0" lvl="1" indent="0">
              <a:buNone/>
            </a:pPr>
            <a:endParaRPr lang="da-DK" dirty="0"/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0D09AAD3-2074-9A18-BAF3-F4F0EA97D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400" dirty="0"/>
              <a:t>Varmeteoriens 2. hovedsætning 1/2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B9CFEDA4-CDA3-3FB1-BFE1-07B2319B296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36E4E4B-8ED6-D0C0-F2BB-EFBBACB72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38C9BC2D-C52C-2DF6-43FC-2C9A591F8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57" y="2672910"/>
            <a:ext cx="2176259" cy="2406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0214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9ED9-1287-5F0D-8E42-3587A5B76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nummer 1">
            <a:extLst>
              <a:ext uri="{FF2B5EF4-FFF2-40B4-BE49-F238E27FC236}">
                <a16:creationId xmlns:a16="http://schemas.microsoft.com/office/drawing/2014/main" id="{EA8A7C68-3EF6-9BE4-63D3-5CACDA014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7C91F-3113-4170-B0A7-EB36B47BBC64}" type="slidenum">
              <a:rPr lang="da-DK" smtClean="0"/>
              <a:pPr/>
              <a:t>25</a:t>
            </a:fld>
            <a:endParaRPr lang="da-DK" dirty="0"/>
          </a:p>
        </p:txBody>
      </p:sp>
      <p:sp>
        <p:nvSpPr>
          <p:cNvPr id="9" name="Pladsholder til indhold 8">
            <a:extLst>
              <a:ext uri="{FF2B5EF4-FFF2-40B4-BE49-F238E27FC236}">
                <a16:creationId xmlns:a16="http://schemas.microsoft.com/office/drawing/2014/main" id="{18126430-3938-7ECC-D7A5-090656C778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8939" y="1988839"/>
            <a:ext cx="9116187" cy="4320545"/>
          </a:xfrm>
        </p:spPr>
        <p:txBody>
          <a:bodyPr/>
          <a:lstStyle/>
          <a:p>
            <a:r>
              <a:rPr lang="da-DK" dirty="0"/>
              <a:t>Varmeteoriens 2. hovedsætning siger at en proces altid kun vil kunne</a:t>
            </a:r>
          </a:p>
          <a:p>
            <a:r>
              <a:rPr lang="da-DK" dirty="0"/>
              <a:t>forløbe i en retning, og ser vi på varmelæren betyder det at varme kun kan overføres fra et varmt område til et koldt område og aldrig modsat.</a:t>
            </a:r>
          </a:p>
          <a:p>
            <a:endParaRPr lang="da-DK" dirty="0"/>
          </a:p>
          <a:p>
            <a:r>
              <a:rPr lang="da-DK" dirty="0"/>
              <a:t>Varmelærens 2. lov kan med ord skrives som:</a:t>
            </a:r>
          </a:p>
          <a:p>
            <a:pPr marL="879333" lvl="1" indent="-342900">
              <a:buFont typeface="Arial" panose="020B0604020202020204" pitchFamily="34" charset="0"/>
              <a:buChar char="•"/>
            </a:pPr>
            <a:endParaRPr lang="da-DK" dirty="0"/>
          </a:p>
          <a:p>
            <a:r>
              <a:rPr lang="da-DK" b="0" i="1" dirty="0"/>
              <a:t>”Varme kan ikke overføres fra et koldt område til et varmt om-</a:t>
            </a:r>
          </a:p>
          <a:p>
            <a:r>
              <a:rPr lang="da-DK" b="0" i="1" dirty="0"/>
              <a:t>råde uden tilførsel af energi udefra.”</a:t>
            </a:r>
          </a:p>
          <a:p>
            <a:endParaRPr lang="da-DK" dirty="0"/>
          </a:p>
          <a:p>
            <a:r>
              <a:rPr lang="da-DK" dirty="0"/>
              <a:t>For alle virkelige processer skal både 1. og 2. hovedsætning være opfyldt før processen kan finde sted.</a:t>
            </a:r>
          </a:p>
          <a:p>
            <a:endParaRPr lang="da-DK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B3696604-786D-7DD1-691D-1F9C5977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237" y="962770"/>
            <a:ext cx="9090889" cy="480067"/>
          </a:xfrm>
        </p:spPr>
        <p:txBody>
          <a:bodyPr/>
          <a:lstStyle/>
          <a:p>
            <a:r>
              <a:rPr lang="da-DK" sz="2400" dirty="0"/>
              <a:t>Varmeteoriens 2. hovedsætning 2/2</a:t>
            </a:r>
            <a:endParaRPr lang="da-DK" dirty="0"/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9A68A5D3-2835-38E4-E500-138FB0E692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708341F-0F0E-47FB-8512-CCC8C3F1C977}" type="datetime1">
              <a:rPr lang="da-DK" smtClean="0"/>
              <a:pPr/>
              <a:t>03-09-2026</a:t>
            </a:fld>
            <a:endParaRPr lang="da-DK" dirty="0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9F8CAA05-943C-66CD-8C1E-07DA92A9BB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27742742"/>
      </p:ext>
    </p:extLst>
  </p:cSld>
  <p:clrMapOvr>
    <a:masterClrMapping/>
  </p:clrMapOvr>
</p:sld>
</file>

<file path=ppt/theme/theme1.xml><?xml version="1.0" encoding="utf-8"?>
<a:theme xmlns:a="http://schemas.openxmlformats.org/drawingml/2006/main" name="Martec v1.0">
  <a:themeElements>
    <a:clrScheme name="Shrpa farver">
      <a:dk1>
        <a:sysClr val="windowText" lastClr="000000"/>
      </a:dk1>
      <a:lt1>
        <a:sysClr val="window" lastClr="FFFFFF"/>
      </a:lt1>
      <a:dk2>
        <a:srgbClr val="0080DB"/>
      </a:dk2>
      <a:lt2>
        <a:srgbClr val="FFFFFF"/>
      </a:lt2>
      <a:accent1>
        <a:srgbClr val="BDCCD4"/>
      </a:accent1>
      <a:accent2>
        <a:srgbClr val="756A86"/>
      </a:accent2>
      <a:accent3>
        <a:srgbClr val="CCCCCC"/>
      </a:accent3>
      <a:accent4>
        <a:srgbClr val="727A8F"/>
      </a:accent4>
      <a:accent5>
        <a:srgbClr val="84C5CB"/>
      </a:accent5>
      <a:accent6>
        <a:srgbClr val="C8DFD8"/>
      </a:accent6>
      <a:hlink>
        <a:srgbClr val="0080DB"/>
      </a:hlink>
      <a:folHlink>
        <a:srgbClr val="808080"/>
      </a:folHlink>
    </a:clrScheme>
    <a:fontScheme name="Shrp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ontortema">
  <a:themeElements>
    <a:clrScheme name="Kon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ont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90B86947F2F384791A43E453BD63C53" ma:contentTypeVersion="3" ma:contentTypeDescription="Opret et nyt dokument." ma:contentTypeScope="" ma:versionID="924b14b58be40a76b67bff0b65d02dc8">
  <xsd:schema xmlns:xsd="http://www.w3.org/2001/XMLSchema" xmlns:xs="http://www.w3.org/2001/XMLSchema" xmlns:p="http://schemas.microsoft.com/office/2006/metadata/properties" xmlns:ns2="b0b3f9a3-cc49-4c1b-8e77-4a04ffe98b8e" targetNamespace="http://schemas.microsoft.com/office/2006/metadata/properties" ma:root="true" ma:fieldsID="a7c221301ad9a472da9d5e0a356bdffd" ns2:_="">
    <xsd:import namespace="b0b3f9a3-cc49-4c1b-8e77-4a04ffe98b8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b3f9a3-cc49-4c1b-8e77-4a04ffe98b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dhol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FC49BC7-C143-465E-B630-B43A98FC58D3}"/>
</file>

<file path=customXml/itemProps2.xml><?xml version="1.0" encoding="utf-8"?>
<ds:datastoreItem xmlns:ds="http://schemas.openxmlformats.org/officeDocument/2006/customXml" ds:itemID="{7634AB23-3E4C-4006-AFFA-F6D9CE03D5EB}">
  <ds:schemaRefs>
    <ds:schemaRef ds:uri="http://purl.org/dc/dcmitype/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0be61fce-68b2-4a0e-80ea-205159f95b8a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A5587E0-1E1F-487C-87AA-2FD65DF18E4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Martec - powerpoint skabelon_v1</Template>
  <TotalTime>21330</TotalTime>
  <Words>1764</Words>
  <Application>Microsoft Office PowerPoint</Application>
  <PresentationFormat>A4-papir (210 x 297 mm)</PresentationFormat>
  <Paragraphs>392</Paragraphs>
  <Slides>25</Slides>
  <Notes>8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25</vt:i4>
      </vt:variant>
    </vt:vector>
  </HeadingPairs>
  <TitlesOfParts>
    <vt:vector size="29" baseType="lpstr">
      <vt:lpstr>Arial</vt:lpstr>
      <vt:lpstr>Cambria Math</vt:lpstr>
      <vt:lpstr>Calibri</vt:lpstr>
      <vt:lpstr>Martec v1.0</vt:lpstr>
      <vt:lpstr>Dagens program 1</vt:lpstr>
      <vt:lpstr>Temperatur og Celsius og Kelvin skalaen</vt:lpstr>
      <vt:lpstr>Ideale gasser – absolut tryk</vt:lpstr>
      <vt:lpstr>Ideale gasser – hvad er en idealgas?</vt:lpstr>
      <vt:lpstr>Ideale gasser – idealgasligningen</vt:lpstr>
      <vt:lpstr>Idealgasligningen – stofmængden n </vt:lpstr>
      <vt:lpstr>Idealgasligningen – gaskonstanten R </vt:lpstr>
      <vt:lpstr>Tilstandsligningen – konstant stofmængde (n) </vt:lpstr>
      <vt:lpstr>Tilstandsligningen – gassers densitet (massefylde) </vt:lpstr>
      <vt:lpstr>Tilstandsligningen – opgave</vt:lpstr>
      <vt:lpstr>Boyle-Mariottes lov (isoterm tilstandsændring)</vt:lpstr>
      <vt:lpstr>Gay-Lussacs 1. lov (isokor tilstandsændring)</vt:lpstr>
      <vt:lpstr>Gay-Lussacs 2. lov (isobar tilstandsændring)</vt:lpstr>
      <vt:lpstr>Daltons lov (partialtryk for gasblandinger) 1</vt:lpstr>
      <vt:lpstr>Daltons lov (partialtryk for gasblandinger) 2</vt:lpstr>
      <vt:lpstr>Daltons lov (partialtryk for gasblandinger) 3</vt:lpstr>
      <vt:lpstr>Opgaveregning</vt:lpstr>
      <vt:lpstr>Dagens program 2</vt:lpstr>
      <vt:lpstr>En gasarts indre energi</vt:lpstr>
      <vt:lpstr>Varmeteoriens 1. hovedsætning 1/4</vt:lpstr>
      <vt:lpstr>Varmeteoriens 1. hovedsætning 2/4</vt:lpstr>
      <vt:lpstr>Varmeteoriens 1. hovedsætning 3/4</vt:lpstr>
      <vt:lpstr>Varmeteoriens 1. hovedsætning 4/4</vt:lpstr>
      <vt:lpstr>Varmeteoriens 2. hovedsætning 1/2</vt:lpstr>
      <vt:lpstr>Varmeteoriens 2. hovedsætning 2/2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Niels Ilberg Jacobsen</dc:creator>
  <cp:lastModifiedBy>Anders Kirkegaard</cp:lastModifiedBy>
  <cp:revision>51</cp:revision>
  <cp:lastPrinted>2025-01-28T07:28:24Z</cp:lastPrinted>
  <dcterms:created xsi:type="dcterms:W3CDTF">2015-02-09T14:06:07Z</dcterms:created>
  <dcterms:modified xsi:type="dcterms:W3CDTF">2026-09-03T08:23:19Z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0x010100190B86947F2F384791A43E453BD63C53</vt:lpwstr>
  </property>
</Properties>
</file>